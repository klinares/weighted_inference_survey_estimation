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6" r:id="rId27"/>
    <p:sldId id="257" r:id="rId3"/>
    <p:sldId id="278" r:id="rId29"/>
    <p:sldId id="263" r:id="rId9"/>
    <p:sldId id="277" r:id="rId28"/>
    <p:sldId id="267" r:id="rId13"/>
    <p:sldId id="275" r:id="rId26"/>
    <p:sldId id="258" r:id="rId4"/>
    <p:sldId id="279" r:id="rId30"/>
    <p:sldId id="264" r:id="rId10"/>
    <p:sldId id="268" r:id="rId14"/>
    <p:sldId id="259" r:id="rId5"/>
    <p:sldId id="261" r:id="rId7"/>
    <p:sldId id="269" r:id="rId15"/>
    <p:sldId id="265" r:id="rId11"/>
    <p:sldId id="266" r:id="rId12"/>
    <p:sldId id="270" r:id="rId16"/>
    <p:sldId id="271" r:id="rId17"/>
    <p:sldId id="272" r:id="rId18"/>
    <p:sldId id="273" r:id="rId19"/>
    <p:sldId id="260" r:id="rId6"/>
    <p:sldId id="262" r:id="rId8"/>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  <Relationship Id="rId26" Type="http://schemas.openxmlformats.org/officeDocument/2006/relationships/slide" Target="slides/slide20.xml"/>
  <Relationship Id="rId27" Type="http://schemas.openxmlformats.org/officeDocument/2006/relationships/slide" Target="slides/slide21.xml"/>
  <Relationship Id="rId28" Type="http://schemas.openxmlformats.org/officeDocument/2006/relationships/slide" Target="slides/slide22.xml"/>
  <Relationship Id="rId29" Type="http://schemas.openxmlformats.org/officeDocument/2006/relationships/slide" Target="slides/slide23.xml"/>
  <Relationship Id="rId30" Type="http://schemas.openxmlformats.org/officeDocument/2006/relationships/slide" Target="slides/slide24.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minutes. The goal is not to teach latent class analysis. It is to get a battery sent to you afterward.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No preamble, no credentials, no framework. Point at the crossing and let the room see it before you say anything. Then the line: everyone in this room has summed a battery, and this is what it hides. The specific values are schematic; the pattern is real and appears in the profiles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The TSE reference is one line and you move on; the full framework diagram is in backup if anyone wants it. The third cost is the one that matters to this room: segmentation exists to target, and a mean cannot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and the most important slide in the deck. Question one is where clustering gets set aside: a partition has nothing to put a standard error on. If the room raises Pew's typology, concede it fully. Their method is a weighted medoid partition, it is defensible, their sample dwarfs mine. The difference is what you can say afterward. Do not widen the claim. Question two is a promise: you must pay it off at the profiles.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Sixty seconds. Do not put the likelihood on screen; it is in backup if a methodologist wants it. The single point to land: nobody is relabelled. Everyone keeps a probability, which is what makes the classification-error check possible later and is exactly what a hard partition throws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Sixty seconds, two beats. Left: the icons are different sizes because the sample is not self-weighting, and a distance-based method treats every one of them the same. Right: run a finger along one whisker. Geometry here is schematic; real numbers arrive in three slides. If asked how the interval is built: the whole model is refit on 130 jackknife replicates from the real strata and clusters, because a weighted likelihood gives no usable information matrix. Detail slide is in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 seconds. Say plainly that an automated choice here is the first thing a reviewer attacks, and that the flat region is reported rather than hidden. The choice lives in a config file under version control, not in someone's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pays off the promise from slide 4. Trace the crossing with a finger. Then state the level-to-pattern diagnostic value out loud. FILL THAT NUMBER IN BEFORE PRESENTING: it is printed by the item-discrimination chunk in survey_lca_report.qmd. Without it, slide 4 made a promise this slide does not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weighting correction was small here before anyone asks. Then the recovery: you cannot know it is small until you compute it, and the variance correction was never small. This is also where you note that the classification-error correction was run and agreed closely, which is a robustness finding, not a reason to skip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Composition by presidential job approval. Strongly ordered, and the intervals tell you which contrasts are real. The correction here is the BCH three-step; on this battery it agreed closely with the uncorrected estimates because separation is good. Mechanics are in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This generalizes past the project into a policy the room can apply to their own work, which is often what they remember. The naming step, the prompt as a versioned instrument, and the certification harness are all in backup if there is appetite.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offer, not the method. Then stop talking. This is where the room decides whether to send you work, and silence does more than another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Groves and colleagues. Both arms converge on the survey statistic. Use if someone wants the framework rather than the one-line reference on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three is the expensive one. Move four is the one most analysts have never heard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Pew answer. Concede first: their 2026 typology uses weighted clustering around medoids, it is defensible, and their sample dwarfs ours. Then the narrow claim, which comes from their own Appendix B: they say the solution moves with the algorithm, the coding, and the sort order, and they report nine group sizes with no interval. Our jackknife refits the whole model per replicate, so that instability lands in the interval. Do not widen the claim. If asked whether we could run this on their thirty items and nine groups, say no, not as specified: over a thousand parameters, an almost empty contingency table, and local independence violated by their within-battery item pairs. Their method scales where ours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to the alternatives. baysc is an excellent Bayesian counterpart.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missing data: the model is estimated on 1430 item-complete cases and scoring extends above an evidence floor. Pew imputes at their scale, which is a defensible different choice, so do not attack them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conditional response probabilities behind every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up during questions if the room is academic.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40154"/>
        </a:solidFill>
      </p:bgPr>
    </p:bg>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1005840" y="1828800"/>
            <a:ext cx="10149840" cy="1737360"/>
          </a:xfrm>
          <a:prstGeom prst="rect">
            <a:avLst/>
          </a:prstGeom>
          <a:noFill/>
          <a:ln/>
        </p:spPr>
        <p:txBody>
          <a:bodyPr wrap="square" lIns="0" tIns="0" rIns="0" bIns="0" rtlCol="0" anchor="ctr"/>
          <a:lstStyle/>
          <a:p>
            <a:pPr indent="0" marL="0">
              <a:lnSpc>
                <a:spcPct val="106000"/>
              </a:lnSpc>
              <a:buNone/>
            </a:pPr>
            <a:r>
              <a:rPr lang="en-US" sz="3800" b="1" dirty="0">
                <a:solidFill>
                  <a:srgbClr val="FFFFFF"/>
                </a:solidFill>
                <a:latin typeface="Cambria" pitchFamily="34" charset="0"/>
                <a:ea typeface="Cambria" pitchFamily="34" charset="-122"/>
                <a:cs typeface="Cambria" pitchFamily="34" charset="-120"/>
              </a:rPr>
              <a:t>The publics</a:t>
            </a:r>
            <a:endParaRPr lang="en-US" sz="3800" dirty="0"/>
          </a:p>
          <a:p>
            <a:pPr indent="0" marL="0">
              <a:lnSpc>
                <a:spcPct val="106000"/>
              </a:lnSpc>
              <a:buNone/>
            </a:pPr>
            <a:r>
              <a:rPr lang="en-US" sz="3800" b="1" dirty="0">
                <a:solidFill>
                  <a:srgbClr val="FFFFFF"/>
                </a:solidFill>
                <a:latin typeface="Cambria" pitchFamily="34" charset="0"/>
                <a:ea typeface="Cambria" pitchFamily="34" charset="-122"/>
                <a:cs typeface="Cambria" pitchFamily="34" charset="-120"/>
              </a:rPr>
              <a:t>our averages hide</a:t>
            </a:r>
            <a:endParaRPr lang="en-US" sz="3800" dirty="0"/>
          </a:p>
        </p:txBody>
      </p:sp>
      <p:sp>
        <p:nvSpPr>
          <p:cNvPr id="7" name="Text 5"/>
          <p:cNvSpPr/>
          <p:nvPr/>
        </p:nvSpPr>
        <p:spPr>
          <a:xfrm>
            <a:off x="1005840" y="3657600"/>
            <a:ext cx="10149840" cy="457200"/>
          </a:xfrm>
          <a:prstGeom prst="rect">
            <a:avLst/>
          </a:prstGeom>
          <a:noFill/>
          <a:ln/>
        </p:spPr>
        <p:txBody>
          <a:bodyPr wrap="square" lIns="0" tIns="0" rIns="0" bIns="0" rtlCol="0" anchor="ctr"/>
          <a:lstStyle/>
          <a:p>
            <a:pPr indent="0" marL="0">
              <a:buNone/>
            </a:pPr>
            <a:r>
              <a:rPr lang="en-US" sz="1700" dirty="0">
                <a:solidFill>
                  <a:srgbClr val="CBB6D8"/>
                </a:solidFill>
                <a:latin typeface="Calibri" pitchFamily="34" charset="0"/>
                <a:ea typeface="Calibri" pitchFamily="34" charset="-122"/>
                <a:cs typeface="Calibri" pitchFamily="34" charset="-120"/>
              </a:rPr>
              <a:t>A capability briefing: what it finds, and what putting it to work looks like</a:t>
            </a:r>
            <a:endParaRPr lang="en-US" sz="1700" dirty="0"/>
          </a:p>
        </p:txBody>
      </p:sp>
      <p:sp>
        <p:nvSpPr>
          <p:cNvPr id="8" name="Text 6"/>
          <p:cNvSpPr/>
          <p:nvPr/>
        </p:nvSpPr>
        <p:spPr>
          <a:xfrm>
            <a:off x="1005840" y="5029200"/>
            <a:ext cx="10149840" cy="365760"/>
          </a:xfrm>
          <a:prstGeom prst="rect">
            <a:avLst/>
          </a:prstGeom>
          <a:noFill/>
          <a:ln/>
        </p:spPr>
        <p:txBody>
          <a:bodyPr wrap="square" lIns="0" tIns="0" rIns="0" bIns="0" rtlCol="0" anchor="ctr"/>
          <a:lstStyle/>
          <a:p>
            <a:pPr indent="0" marL="0">
              <a:buNone/>
            </a:pPr>
            <a:r>
              <a:rPr lang="en-US" sz="1400" dirty="0">
                <a:solidFill>
                  <a:srgbClr val="8FD4CD"/>
                </a:solidFill>
                <a:latin typeface="Calibri" pitchFamily="34" charset="0"/>
                <a:ea typeface="Calibri" pitchFamily="34" charset="-122"/>
                <a:cs typeface="Calibri" pitchFamily="34" charset="-120"/>
              </a:rPr>
              <a:t>Kevin Linares   ·   MS Survey and Data Science, JPSM   ·   22 September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The number you're relying on already hides two different people</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THE COST OF ONE NUMBER</a:t>
            </a:r>
            <a:endParaRPr lang="en-US" sz="1000" dirty="0"/>
          </a:p>
        </p:txBody>
      </p:sp>
      <p:sp>
        <p:nvSpPr>
          <p:cNvPr id="9" name="Shape 7"/>
          <p:cNvSpPr/>
          <p:nvPr/>
        </p:nvSpPr>
        <p:spPr>
          <a:xfrm>
            <a:off x="3200400" y="1618488"/>
            <a:ext cx="10973" cy="3438144"/>
          </a:xfrm>
          <a:prstGeom prst="rect">
            <a:avLst/>
          </a:prstGeom>
          <a:solidFill>
            <a:srgbClr val="EFEFEF"/>
          </a:solidFill>
          <a:ln w="12700">
            <a:solidFill>
              <a:srgbClr val="EFEFEF"/>
            </a:solidFill>
            <a:prstDash val="solid"/>
          </a:ln>
        </p:spPr>
      </p:sp>
      <p:sp>
        <p:nvSpPr>
          <p:cNvPr id="10" name="Text 8"/>
          <p:cNvSpPr/>
          <p:nvPr/>
        </p:nvSpPr>
        <p:spPr>
          <a:xfrm>
            <a:off x="3017520" y="5175504"/>
            <a:ext cx="365760" cy="274320"/>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1</a:t>
            </a:r>
            <a:endParaRPr lang="en-US" sz="1100" dirty="0"/>
          </a:p>
        </p:txBody>
      </p:sp>
      <p:sp>
        <p:nvSpPr>
          <p:cNvPr id="11" name="Shape 9"/>
          <p:cNvSpPr/>
          <p:nvPr/>
        </p:nvSpPr>
        <p:spPr>
          <a:xfrm>
            <a:off x="4358640" y="1618488"/>
            <a:ext cx="10973" cy="3438144"/>
          </a:xfrm>
          <a:prstGeom prst="rect">
            <a:avLst/>
          </a:prstGeom>
          <a:solidFill>
            <a:srgbClr val="EFEFEF"/>
          </a:solidFill>
          <a:ln w="12700">
            <a:solidFill>
              <a:srgbClr val="EFEFEF"/>
            </a:solidFill>
            <a:prstDash val="solid"/>
          </a:ln>
        </p:spPr>
      </p:sp>
      <p:sp>
        <p:nvSpPr>
          <p:cNvPr id="12" name="Text 10"/>
          <p:cNvSpPr/>
          <p:nvPr/>
        </p:nvSpPr>
        <p:spPr>
          <a:xfrm>
            <a:off x="4175760" y="5175504"/>
            <a:ext cx="365760" cy="274320"/>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2</a:t>
            </a:r>
            <a:endParaRPr lang="en-US" sz="1100" dirty="0"/>
          </a:p>
        </p:txBody>
      </p:sp>
      <p:sp>
        <p:nvSpPr>
          <p:cNvPr id="13" name="Shape 11"/>
          <p:cNvSpPr/>
          <p:nvPr/>
        </p:nvSpPr>
        <p:spPr>
          <a:xfrm>
            <a:off x="5516880" y="1618488"/>
            <a:ext cx="10973" cy="3438144"/>
          </a:xfrm>
          <a:prstGeom prst="rect">
            <a:avLst/>
          </a:prstGeom>
          <a:solidFill>
            <a:srgbClr val="EFEFEF"/>
          </a:solidFill>
          <a:ln w="12700">
            <a:solidFill>
              <a:srgbClr val="EFEFEF"/>
            </a:solidFill>
            <a:prstDash val="solid"/>
          </a:ln>
        </p:spPr>
      </p:sp>
      <p:sp>
        <p:nvSpPr>
          <p:cNvPr id="14" name="Text 12"/>
          <p:cNvSpPr/>
          <p:nvPr/>
        </p:nvSpPr>
        <p:spPr>
          <a:xfrm>
            <a:off x="5334000" y="5175504"/>
            <a:ext cx="365760" cy="274320"/>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3</a:t>
            </a:r>
            <a:endParaRPr lang="en-US" sz="1100" dirty="0"/>
          </a:p>
        </p:txBody>
      </p:sp>
      <p:sp>
        <p:nvSpPr>
          <p:cNvPr id="15" name="Shape 13"/>
          <p:cNvSpPr/>
          <p:nvPr/>
        </p:nvSpPr>
        <p:spPr>
          <a:xfrm>
            <a:off x="6675120" y="1618488"/>
            <a:ext cx="10973" cy="3438144"/>
          </a:xfrm>
          <a:prstGeom prst="rect">
            <a:avLst/>
          </a:prstGeom>
          <a:solidFill>
            <a:srgbClr val="D0D0D0"/>
          </a:solidFill>
          <a:ln w="12700">
            <a:solidFill>
              <a:srgbClr val="D0D0D0"/>
            </a:solidFill>
            <a:prstDash val="solid"/>
          </a:ln>
        </p:spPr>
      </p:sp>
      <p:sp>
        <p:nvSpPr>
          <p:cNvPr id="16" name="Text 14"/>
          <p:cNvSpPr/>
          <p:nvPr/>
        </p:nvSpPr>
        <p:spPr>
          <a:xfrm>
            <a:off x="6492240" y="5175504"/>
            <a:ext cx="365760" cy="274320"/>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4</a:t>
            </a:r>
            <a:endParaRPr lang="en-US" sz="1100" dirty="0"/>
          </a:p>
        </p:txBody>
      </p:sp>
      <p:sp>
        <p:nvSpPr>
          <p:cNvPr id="17" name="Shape 15"/>
          <p:cNvSpPr/>
          <p:nvPr/>
        </p:nvSpPr>
        <p:spPr>
          <a:xfrm>
            <a:off x="7833360" y="1618488"/>
            <a:ext cx="10973" cy="3438144"/>
          </a:xfrm>
          <a:prstGeom prst="rect">
            <a:avLst/>
          </a:prstGeom>
          <a:solidFill>
            <a:srgbClr val="EFEFEF"/>
          </a:solidFill>
          <a:ln w="12700">
            <a:solidFill>
              <a:srgbClr val="EFEFEF"/>
            </a:solidFill>
            <a:prstDash val="solid"/>
          </a:ln>
        </p:spPr>
      </p:sp>
      <p:sp>
        <p:nvSpPr>
          <p:cNvPr id="18" name="Text 16"/>
          <p:cNvSpPr/>
          <p:nvPr/>
        </p:nvSpPr>
        <p:spPr>
          <a:xfrm>
            <a:off x="7650480" y="5175504"/>
            <a:ext cx="365760" cy="274320"/>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5</a:t>
            </a:r>
            <a:endParaRPr lang="en-US" sz="1100" dirty="0"/>
          </a:p>
        </p:txBody>
      </p:sp>
      <p:sp>
        <p:nvSpPr>
          <p:cNvPr id="19" name="Shape 17"/>
          <p:cNvSpPr/>
          <p:nvPr/>
        </p:nvSpPr>
        <p:spPr>
          <a:xfrm>
            <a:off x="8991600" y="1618488"/>
            <a:ext cx="10973" cy="3438144"/>
          </a:xfrm>
          <a:prstGeom prst="rect">
            <a:avLst/>
          </a:prstGeom>
          <a:solidFill>
            <a:srgbClr val="EFEFEF"/>
          </a:solidFill>
          <a:ln w="12700">
            <a:solidFill>
              <a:srgbClr val="EFEFEF"/>
            </a:solidFill>
            <a:prstDash val="solid"/>
          </a:ln>
        </p:spPr>
      </p:sp>
      <p:sp>
        <p:nvSpPr>
          <p:cNvPr id="20" name="Text 18"/>
          <p:cNvSpPr/>
          <p:nvPr/>
        </p:nvSpPr>
        <p:spPr>
          <a:xfrm>
            <a:off x="8808720" y="5175504"/>
            <a:ext cx="365760" cy="274320"/>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6</a:t>
            </a:r>
            <a:endParaRPr lang="en-US" sz="1100" dirty="0"/>
          </a:p>
        </p:txBody>
      </p:sp>
      <p:sp>
        <p:nvSpPr>
          <p:cNvPr id="21" name="Shape 19"/>
          <p:cNvSpPr/>
          <p:nvPr/>
        </p:nvSpPr>
        <p:spPr>
          <a:xfrm>
            <a:off x="10149840" y="1618488"/>
            <a:ext cx="10973" cy="3438144"/>
          </a:xfrm>
          <a:prstGeom prst="rect">
            <a:avLst/>
          </a:prstGeom>
          <a:solidFill>
            <a:srgbClr val="EFEFEF"/>
          </a:solidFill>
          <a:ln w="12700">
            <a:solidFill>
              <a:srgbClr val="EFEFEF"/>
            </a:solidFill>
            <a:prstDash val="solid"/>
          </a:ln>
        </p:spPr>
      </p:sp>
      <p:sp>
        <p:nvSpPr>
          <p:cNvPr id="22" name="Text 20"/>
          <p:cNvSpPr/>
          <p:nvPr/>
        </p:nvSpPr>
        <p:spPr>
          <a:xfrm>
            <a:off x="9966960" y="5175504"/>
            <a:ext cx="365760" cy="274320"/>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7</a:t>
            </a:r>
            <a:endParaRPr lang="en-US" sz="1100" dirty="0"/>
          </a:p>
        </p:txBody>
      </p:sp>
      <p:sp>
        <p:nvSpPr>
          <p:cNvPr id="23" name="Text 21"/>
          <p:cNvSpPr/>
          <p:nvPr/>
        </p:nvSpPr>
        <p:spPr>
          <a:xfrm>
            <a:off x="914400" y="1737360"/>
            <a:ext cx="2103120" cy="274320"/>
          </a:xfrm>
          <a:prstGeom prst="rect">
            <a:avLst/>
          </a:prstGeom>
          <a:noFill/>
          <a:ln/>
        </p:spPr>
        <p:txBody>
          <a:bodyPr wrap="square" lIns="0" tIns="0" rIns="0" bIns="0" rtlCol="0" anchor="ctr"/>
          <a:lstStyle/>
          <a:p>
            <a:pPr algn="r" indent="0" marL="0">
              <a:buNone/>
            </a:pPr>
            <a:r>
              <a:rPr lang="en-US" sz="1300" dirty="0">
                <a:solidFill>
                  <a:srgbClr val="1F1F1F"/>
                </a:solidFill>
                <a:latin typeface="Calibri" pitchFamily="34" charset="0"/>
                <a:ea typeface="Calibri" pitchFamily="34" charset="-122"/>
                <a:cs typeface="Calibri" pitchFamily="34" charset="-120"/>
              </a:rPr>
              <a:t>Courts</a:t>
            </a:r>
            <a:endParaRPr lang="en-US" sz="1300" dirty="0"/>
          </a:p>
        </p:txBody>
      </p:sp>
      <p:sp>
        <p:nvSpPr>
          <p:cNvPr id="24" name="Shape 22"/>
          <p:cNvSpPr/>
          <p:nvPr/>
        </p:nvSpPr>
        <p:spPr>
          <a:xfrm>
            <a:off x="3200400" y="1874520"/>
            <a:ext cx="6949440" cy="10973"/>
          </a:xfrm>
          <a:prstGeom prst="rect">
            <a:avLst/>
          </a:prstGeom>
          <a:solidFill>
            <a:srgbClr val="F2F2F2"/>
          </a:solidFill>
          <a:ln w="12700">
            <a:solidFill>
              <a:srgbClr val="F2F2F2"/>
            </a:solidFill>
            <a:prstDash val="solid"/>
          </a:ln>
        </p:spPr>
      </p:sp>
      <p:sp>
        <p:nvSpPr>
          <p:cNvPr id="25" name="Shape 23"/>
          <p:cNvSpPr/>
          <p:nvPr/>
        </p:nvSpPr>
        <p:spPr>
          <a:xfrm>
            <a:off x="8891016" y="1773936"/>
            <a:ext cx="201168" cy="201168"/>
          </a:xfrm>
          <a:prstGeom prst="ellipse">
            <a:avLst/>
          </a:prstGeom>
          <a:solidFill>
            <a:srgbClr val="440154"/>
          </a:solidFill>
          <a:ln/>
        </p:spPr>
      </p:sp>
      <p:sp>
        <p:nvSpPr>
          <p:cNvPr id="26" name="Shape 24"/>
          <p:cNvSpPr/>
          <p:nvPr/>
        </p:nvSpPr>
        <p:spPr>
          <a:xfrm>
            <a:off x="4258056" y="1773936"/>
            <a:ext cx="201168" cy="201168"/>
          </a:xfrm>
          <a:prstGeom prst="ellipse">
            <a:avLst/>
          </a:prstGeom>
          <a:solidFill>
            <a:srgbClr val="21918C"/>
          </a:solidFill>
          <a:ln/>
        </p:spPr>
      </p:sp>
      <p:sp>
        <p:nvSpPr>
          <p:cNvPr id="27" name="Text 25"/>
          <p:cNvSpPr/>
          <p:nvPr/>
        </p:nvSpPr>
        <p:spPr>
          <a:xfrm>
            <a:off x="914400" y="2295144"/>
            <a:ext cx="2103120" cy="274320"/>
          </a:xfrm>
          <a:prstGeom prst="rect">
            <a:avLst/>
          </a:prstGeom>
          <a:noFill/>
          <a:ln/>
        </p:spPr>
        <p:txBody>
          <a:bodyPr wrap="square" lIns="0" tIns="0" rIns="0" bIns="0" rtlCol="0" anchor="ctr"/>
          <a:lstStyle/>
          <a:p>
            <a:pPr algn="r" indent="0" marL="0">
              <a:buNone/>
            </a:pPr>
            <a:r>
              <a:rPr lang="en-US" sz="1300" dirty="0">
                <a:solidFill>
                  <a:srgbClr val="1F1F1F"/>
                </a:solidFill>
                <a:latin typeface="Calibri" pitchFamily="34" charset="0"/>
                <a:ea typeface="Calibri" pitchFamily="34" charset="-122"/>
                <a:cs typeface="Calibri" pitchFamily="34" charset="-120"/>
              </a:rPr>
              <a:t>Auditor</a:t>
            </a:r>
            <a:endParaRPr lang="en-US" sz="1300" dirty="0"/>
          </a:p>
        </p:txBody>
      </p:sp>
      <p:sp>
        <p:nvSpPr>
          <p:cNvPr id="28" name="Shape 26"/>
          <p:cNvSpPr/>
          <p:nvPr/>
        </p:nvSpPr>
        <p:spPr>
          <a:xfrm>
            <a:off x="3200400" y="2432304"/>
            <a:ext cx="6949440" cy="10973"/>
          </a:xfrm>
          <a:prstGeom prst="rect">
            <a:avLst/>
          </a:prstGeom>
          <a:solidFill>
            <a:srgbClr val="F2F2F2"/>
          </a:solidFill>
          <a:ln w="12700">
            <a:solidFill>
              <a:srgbClr val="F2F2F2"/>
            </a:solidFill>
            <a:prstDash val="solid"/>
          </a:ln>
        </p:spPr>
      </p:sp>
      <p:sp>
        <p:nvSpPr>
          <p:cNvPr id="29" name="Shape 27"/>
          <p:cNvSpPr/>
          <p:nvPr/>
        </p:nvSpPr>
        <p:spPr>
          <a:xfrm>
            <a:off x="8891016" y="2331720"/>
            <a:ext cx="201168" cy="201168"/>
          </a:xfrm>
          <a:prstGeom prst="ellipse">
            <a:avLst/>
          </a:prstGeom>
          <a:solidFill>
            <a:srgbClr val="440154"/>
          </a:solidFill>
          <a:ln/>
        </p:spPr>
      </p:sp>
      <p:sp>
        <p:nvSpPr>
          <p:cNvPr id="30" name="Shape 28"/>
          <p:cNvSpPr/>
          <p:nvPr/>
        </p:nvSpPr>
        <p:spPr>
          <a:xfrm>
            <a:off x="4258056" y="2331720"/>
            <a:ext cx="201168" cy="201168"/>
          </a:xfrm>
          <a:prstGeom prst="ellipse">
            <a:avLst/>
          </a:prstGeom>
          <a:solidFill>
            <a:srgbClr val="21918C"/>
          </a:solidFill>
          <a:ln/>
        </p:spPr>
      </p:sp>
      <p:sp>
        <p:nvSpPr>
          <p:cNvPr id="31" name="Text 29"/>
          <p:cNvSpPr/>
          <p:nvPr/>
        </p:nvSpPr>
        <p:spPr>
          <a:xfrm>
            <a:off x="914400" y="2852928"/>
            <a:ext cx="2103120" cy="274320"/>
          </a:xfrm>
          <a:prstGeom prst="rect">
            <a:avLst/>
          </a:prstGeom>
          <a:noFill/>
          <a:ln/>
        </p:spPr>
        <p:txBody>
          <a:bodyPr wrap="square" lIns="0" tIns="0" rIns="0" bIns="0" rtlCol="0" anchor="ctr"/>
          <a:lstStyle/>
          <a:p>
            <a:pPr algn="r" indent="0" marL="0">
              <a:buNone/>
            </a:pPr>
            <a:r>
              <a:rPr lang="en-US" sz="1300" dirty="0">
                <a:solidFill>
                  <a:srgbClr val="1F1F1F"/>
                </a:solidFill>
                <a:latin typeface="Calibri" pitchFamily="34" charset="0"/>
                <a:ea typeface="Calibri" pitchFamily="34" charset="-122"/>
                <a:cs typeface="Calibri" pitchFamily="34" charset="-120"/>
              </a:rPr>
              <a:t>Elections</a:t>
            </a:r>
            <a:endParaRPr lang="en-US" sz="1300" dirty="0"/>
          </a:p>
        </p:txBody>
      </p:sp>
      <p:sp>
        <p:nvSpPr>
          <p:cNvPr id="32" name="Shape 30"/>
          <p:cNvSpPr/>
          <p:nvPr/>
        </p:nvSpPr>
        <p:spPr>
          <a:xfrm>
            <a:off x="3200400" y="2990088"/>
            <a:ext cx="6949440" cy="10973"/>
          </a:xfrm>
          <a:prstGeom prst="rect">
            <a:avLst/>
          </a:prstGeom>
          <a:solidFill>
            <a:srgbClr val="F2F2F2"/>
          </a:solidFill>
          <a:ln w="12700">
            <a:solidFill>
              <a:srgbClr val="F2F2F2"/>
            </a:solidFill>
            <a:prstDash val="solid"/>
          </a:ln>
        </p:spPr>
      </p:sp>
      <p:sp>
        <p:nvSpPr>
          <p:cNvPr id="33" name="Shape 31"/>
          <p:cNvSpPr/>
          <p:nvPr/>
        </p:nvSpPr>
        <p:spPr>
          <a:xfrm>
            <a:off x="7732776" y="2889504"/>
            <a:ext cx="201168" cy="201168"/>
          </a:xfrm>
          <a:prstGeom prst="ellipse">
            <a:avLst/>
          </a:prstGeom>
          <a:solidFill>
            <a:srgbClr val="440154"/>
          </a:solidFill>
          <a:ln/>
        </p:spPr>
      </p:sp>
      <p:sp>
        <p:nvSpPr>
          <p:cNvPr id="34" name="Shape 32"/>
          <p:cNvSpPr/>
          <p:nvPr/>
        </p:nvSpPr>
        <p:spPr>
          <a:xfrm>
            <a:off x="5416296" y="2889504"/>
            <a:ext cx="201168" cy="201168"/>
          </a:xfrm>
          <a:prstGeom prst="ellipse">
            <a:avLst/>
          </a:prstGeom>
          <a:solidFill>
            <a:srgbClr val="21918C"/>
          </a:solidFill>
          <a:ln/>
        </p:spPr>
      </p:sp>
      <p:sp>
        <p:nvSpPr>
          <p:cNvPr id="35" name="Text 33"/>
          <p:cNvSpPr/>
          <p:nvPr/>
        </p:nvSpPr>
        <p:spPr>
          <a:xfrm>
            <a:off x="914400" y="3410712"/>
            <a:ext cx="2103120" cy="274320"/>
          </a:xfrm>
          <a:prstGeom prst="rect">
            <a:avLst/>
          </a:prstGeom>
          <a:noFill/>
          <a:ln/>
        </p:spPr>
        <p:txBody>
          <a:bodyPr wrap="square" lIns="0" tIns="0" rIns="0" bIns="0" rtlCol="0" anchor="ctr"/>
          <a:lstStyle/>
          <a:p>
            <a:pPr algn="r" indent="0" marL="0">
              <a:buNone/>
            </a:pPr>
            <a:r>
              <a:rPr lang="en-US" sz="1300" dirty="0">
                <a:solidFill>
                  <a:srgbClr val="1F1F1F"/>
                </a:solidFill>
                <a:latin typeface="Calibri" pitchFamily="34" charset="0"/>
                <a:ea typeface="Calibri" pitchFamily="34" charset="-122"/>
                <a:cs typeface="Calibri" pitchFamily="34" charset="-120"/>
              </a:rPr>
              <a:t>Police</a:t>
            </a:r>
            <a:endParaRPr lang="en-US" sz="1300" dirty="0"/>
          </a:p>
        </p:txBody>
      </p:sp>
      <p:sp>
        <p:nvSpPr>
          <p:cNvPr id="36" name="Shape 34"/>
          <p:cNvSpPr/>
          <p:nvPr/>
        </p:nvSpPr>
        <p:spPr>
          <a:xfrm>
            <a:off x="3200400" y="3547872"/>
            <a:ext cx="6949440" cy="10973"/>
          </a:xfrm>
          <a:prstGeom prst="rect">
            <a:avLst/>
          </a:prstGeom>
          <a:solidFill>
            <a:srgbClr val="F2F2F2"/>
          </a:solidFill>
          <a:ln w="12700">
            <a:solidFill>
              <a:srgbClr val="F2F2F2"/>
            </a:solidFill>
            <a:prstDash val="solid"/>
          </a:ln>
        </p:spPr>
      </p:sp>
      <p:sp>
        <p:nvSpPr>
          <p:cNvPr id="37" name="Shape 35"/>
          <p:cNvSpPr/>
          <p:nvPr/>
        </p:nvSpPr>
        <p:spPr>
          <a:xfrm>
            <a:off x="5416296" y="3447288"/>
            <a:ext cx="201168" cy="201168"/>
          </a:xfrm>
          <a:prstGeom prst="ellipse">
            <a:avLst/>
          </a:prstGeom>
          <a:solidFill>
            <a:srgbClr val="440154"/>
          </a:solidFill>
          <a:ln/>
        </p:spPr>
      </p:sp>
      <p:sp>
        <p:nvSpPr>
          <p:cNvPr id="38" name="Shape 36"/>
          <p:cNvSpPr/>
          <p:nvPr/>
        </p:nvSpPr>
        <p:spPr>
          <a:xfrm>
            <a:off x="7732776" y="3447288"/>
            <a:ext cx="201168" cy="201168"/>
          </a:xfrm>
          <a:prstGeom prst="ellipse">
            <a:avLst/>
          </a:prstGeom>
          <a:solidFill>
            <a:srgbClr val="21918C"/>
          </a:solidFill>
          <a:ln/>
        </p:spPr>
      </p:sp>
      <p:sp>
        <p:nvSpPr>
          <p:cNvPr id="39" name="Text 37"/>
          <p:cNvSpPr/>
          <p:nvPr/>
        </p:nvSpPr>
        <p:spPr>
          <a:xfrm>
            <a:off x="914400" y="3968496"/>
            <a:ext cx="2103120" cy="274320"/>
          </a:xfrm>
          <a:prstGeom prst="rect">
            <a:avLst/>
          </a:prstGeom>
          <a:noFill/>
          <a:ln/>
        </p:spPr>
        <p:txBody>
          <a:bodyPr wrap="square" lIns="0" tIns="0" rIns="0" bIns="0" rtlCol="0" anchor="ctr"/>
          <a:lstStyle/>
          <a:p>
            <a:pPr algn="r" indent="0" marL="0">
              <a:buNone/>
            </a:pPr>
            <a:r>
              <a:rPr lang="en-US" sz="1300" dirty="0">
                <a:solidFill>
                  <a:srgbClr val="1F1F1F"/>
                </a:solidFill>
                <a:latin typeface="Calibri" pitchFamily="34" charset="0"/>
                <a:ea typeface="Calibri" pitchFamily="34" charset="-122"/>
                <a:cs typeface="Calibri" pitchFamily="34" charset="-120"/>
              </a:rPr>
              <a:t>President</a:t>
            </a:r>
            <a:endParaRPr lang="en-US" sz="1300" dirty="0"/>
          </a:p>
        </p:txBody>
      </p:sp>
      <p:sp>
        <p:nvSpPr>
          <p:cNvPr id="40" name="Shape 38"/>
          <p:cNvSpPr/>
          <p:nvPr/>
        </p:nvSpPr>
        <p:spPr>
          <a:xfrm>
            <a:off x="3200400" y="4105656"/>
            <a:ext cx="6949440" cy="10973"/>
          </a:xfrm>
          <a:prstGeom prst="rect">
            <a:avLst/>
          </a:prstGeom>
          <a:solidFill>
            <a:srgbClr val="F2F2F2"/>
          </a:solidFill>
          <a:ln w="12700">
            <a:solidFill>
              <a:srgbClr val="F2F2F2"/>
            </a:solidFill>
            <a:prstDash val="solid"/>
          </a:ln>
        </p:spPr>
      </p:sp>
      <p:sp>
        <p:nvSpPr>
          <p:cNvPr id="41" name="Shape 39"/>
          <p:cNvSpPr/>
          <p:nvPr/>
        </p:nvSpPr>
        <p:spPr>
          <a:xfrm>
            <a:off x="4258056" y="4005072"/>
            <a:ext cx="201168" cy="201168"/>
          </a:xfrm>
          <a:prstGeom prst="ellipse">
            <a:avLst/>
          </a:prstGeom>
          <a:solidFill>
            <a:srgbClr val="440154"/>
          </a:solidFill>
          <a:ln/>
        </p:spPr>
      </p:sp>
      <p:sp>
        <p:nvSpPr>
          <p:cNvPr id="42" name="Shape 40"/>
          <p:cNvSpPr/>
          <p:nvPr/>
        </p:nvSpPr>
        <p:spPr>
          <a:xfrm>
            <a:off x="8891016" y="4005072"/>
            <a:ext cx="201168" cy="201168"/>
          </a:xfrm>
          <a:prstGeom prst="ellipse">
            <a:avLst/>
          </a:prstGeom>
          <a:solidFill>
            <a:srgbClr val="21918C"/>
          </a:solidFill>
          <a:ln/>
        </p:spPr>
      </p:sp>
      <p:sp>
        <p:nvSpPr>
          <p:cNvPr id="43" name="Text 41"/>
          <p:cNvSpPr/>
          <p:nvPr/>
        </p:nvSpPr>
        <p:spPr>
          <a:xfrm>
            <a:off x="914400" y="4526280"/>
            <a:ext cx="2103120" cy="274320"/>
          </a:xfrm>
          <a:prstGeom prst="rect">
            <a:avLst/>
          </a:prstGeom>
          <a:noFill/>
          <a:ln/>
        </p:spPr>
        <p:txBody>
          <a:bodyPr wrap="square" lIns="0" tIns="0" rIns="0" bIns="0" rtlCol="0" anchor="ctr"/>
          <a:lstStyle/>
          <a:p>
            <a:pPr algn="r" indent="0" marL="0">
              <a:buNone/>
            </a:pPr>
            <a:r>
              <a:rPr lang="en-US" sz="1300" dirty="0">
                <a:solidFill>
                  <a:srgbClr val="1F1F1F"/>
                </a:solidFill>
                <a:latin typeface="Calibri" pitchFamily="34" charset="0"/>
                <a:ea typeface="Calibri" pitchFamily="34" charset="-122"/>
                <a:cs typeface="Calibri" pitchFamily="34" charset="-120"/>
              </a:rPr>
              <a:t>Military</a:t>
            </a:r>
            <a:endParaRPr lang="en-US" sz="1300" dirty="0"/>
          </a:p>
        </p:txBody>
      </p:sp>
      <p:sp>
        <p:nvSpPr>
          <p:cNvPr id="44" name="Shape 42"/>
          <p:cNvSpPr/>
          <p:nvPr/>
        </p:nvSpPr>
        <p:spPr>
          <a:xfrm>
            <a:off x="3200400" y="4663440"/>
            <a:ext cx="6949440" cy="10973"/>
          </a:xfrm>
          <a:prstGeom prst="rect">
            <a:avLst/>
          </a:prstGeom>
          <a:solidFill>
            <a:srgbClr val="F2F2F2"/>
          </a:solidFill>
          <a:ln w="12700">
            <a:solidFill>
              <a:srgbClr val="F2F2F2"/>
            </a:solidFill>
            <a:prstDash val="solid"/>
          </a:ln>
        </p:spPr>
      </p:sp>
      <p:sp>
        <p:nvSpPr>
          <p:cNvPr id="45" name="Shape 43"/>
          <p:cNvSpPr/>
          <p:nvPr/>
        </p:nvSpPr>
        <p:spPr>
          <a:xfrm>
            <a:off x="4258056" y="4562856"/>
            <a:ext cx="201168" cy="201168"/>
          </a:xfrm>
          <a:prstGeom prst="ellipse">
            <a:avLst/>
          </a:prstGeom>
          <a:solidFill>
            <a:srgbClr val="440154"/>
          </a:solidFill>
          <a:ln/>
        </p:spPr>
      </p:sp>
      <p:sp>
        <p:nvSpPr>
          <p:cNvPr id="46" name="Shape 44"/>
          <p:cNvSpPr/>
          <p:nvPr/>
        </p:nvSpPr>
        <p:spPr>
          <a:xfrm>
            <a:off x="8891016" y="4562856"/>
            <a:ext cx="201168" cy="201168"/>
          </a:xfrm>
          <a:prstGeom prst="ellipse">
            <a:avLst/>
          </a:prstGeom>
          <a:solidFill>
            <a:srgbClr val="21918C"/>
          </a:solidFill>
          <a:ln/>
        </p:spPr>
      </p:sp>
      <p:sp>
        <p:nvSpPr>
          <p:cNvPr id="47" name="Text 45"/>
          <p:cNvSpPr/>
          <p:nvPr/>
        </p:nvSpPr>
        <p:spPr>
          <a:xfrm>
            <a:off x="3200400" y="5458968"/>
            <a:ext cx="6949440" cy="274320"/>
          </a:xfrm>
          <a:prstGeom prst="rect">
            <a:avLst/>
          </a:prstGeom>
          <a:noFill/>
          <a:ln/>
        </p:spPr>
        <p:txBody>
          <a:bodyPr wrap="square" lIns="0" tIns="0" rIns="0" bIns="0" rtlCol="0" anchor="ctr"/>
          <a:lstStyle/>
          <a:p>
            <a:pPr algn="ctr" indent="0" marL="0">
              <a:buNone/>
            </a:pPr>
            <a:r>
              <a:rPr lang="en-US" sz="1200" dirty="0">
                <a:solidFill>
                  <a:srgbClr val="6B6B6B"/>
                </a:solidFill>
                <a:latin typeface="Calibri" pitchFamily="34" charset="0"/>
                <a:ea typeface="Calibri" pitchFamily="34" charset="-122"/>
                <a:cs typeface="Calibri" pitchFamily="34" charset="-120"/>
              </a:rPr>
              <a:t>1 = no trust        7 = high trust</a:t>
            </a:r>
            <a:endParaRPr lang="en-US" sz="1200" dirty="0"/>
          </a:p>
        </p:txBody>
      </p:sp>
      <p:sp>
        <p:nvSpPr>
          <p:cNvPr id="48" name="Shape 46"/>
          <p:cNvSpPr/>
          <p:nvPr/>
        </p:nvSpPr>
        <p:spPr>
          <a:xfrm>
            <a:off x="914400" y="1481328"/>
            <a:ext cx="182880" cy="182880"/>
          </a:xfrm>
          <a:prstGeom prst="ellipse">
            <a:avLst/>
          </a:prstGeom>
          <a:solidFill>
            <a:srgbClr val="440154"/>
          </a:solidFill>
          <a:ln/>
        </p:spPr>
      </p:sp>
      <p:sp>
        <p:nvSpPr>
          <p:cNvPr id="49" name="Text 47"/>
          <p:cNvSpPr/>
          <p:nvPr/>
        </p:nvSpPr>
        <p:spPr>
          <a:xfrm>
            <a:off x="1170432" y="1417320"/>
            <a:ext cx="1737360" cy="274320"/>
          </a:xfrm>
          <a:prstGeom prst="rect">
            <a:avLst/>
          </a:prstGeom>
          <a:noFill/>
          <a:ln/>
        </p:spPr>
        <p:txBody>
          <a:bodyPr wrap="square" lIns="0" tIns="0" rIns="0" bIns="0" rtlCol="0" anchor="ctr"/>
          <a:lstStyle/>
          <a:p>
            <a:pPr indent="0" marL="0">
              <a:buNone/>
            </a:pPr>
            <a:r>
              <a:rPr lang="en-US" sz="1200" b="1" dirty="0">
                <a:solidFill>
                  <a:srgbClr val="440154"/>
                </a:solidFill>
                <a:latin typeface="Calibri" pitchFamily="34" charset="0"/>
                <a:ea typeface="Calibri" pitchFamily="34" charset="-122"/>
                <a:cs typeface="Calibri" pitchFamily="34" charset="-120"/>
              </a:rPr>
              <a:t>Respondent A</a:t>
            </a:r>
            <a:endParaRPr lang="en-US" sz="1200" dirty="0"/>
          </a:p>
        </p:txBody>
      </p:sp>
      <p:sp>
        <p:nvSpPr>
          <p:cNvPr id="50" name="Shape 48"/>
          <p:cNvSpPr/>
          <p:nvPr/>
        </p:nvSpPr>
        <p:spPr>
          <a:xfrm>
            <a:off x="3200400" y="1481328"/>
            <a:ext cx="182880" cy="182880"/>
          </a:xfrm>
          <a:prstGeom prst="ellipse">
            <a:avLst/>
          </a:prstGeom>
          <a:solidFill>
            <a:srgbClr val="21918C"/>
          </a:solidFill>
          <a:ln/>
        </p:spPr>
      </p:sp>
      <p:sp>
        <p:nvSpPr>
          <p:cNvPr id="51" name="Text 49"/>
          <p:cNvSpPr/>
          <p:nvPr/>
        </p:nvSpPr>
        <p:spPr>
          <a:xfrm>
            <a:off x="3456432" y="1417320"/>
            <a:ext cx="1737360" cy="274320"/>
          </a:xfrm>
          <a:prstGeom prst="rect">
            <a:avLst/>
          </a:prstGeom>
          <a:noFill/>
          <a:ln/>
        </p:spPr>
        <p:txBody>
          <a:bodyPr wrap="square" lIns="0" tIns="0" rIns="0" bIns="0" rtlCol="0" anchor="ctr"/>
          <a:lstStyle/>
          <a:p>
            <a:pPr indent="0" marL="0">
              <a:buNone/>
            </a:pPr>
            <a:r>
              <a:rPr lang="en-US" sz="1200" b="1" dirty="0">
                <a:solidFill>
                  <a:srgbClr val="21918C"/>
                </a:solidFill>
                <a:latin typeface="Calibri" pitchFamily="34" charset="0"/>
                <a:ea typeface="Calibri" pitchFamily="34" charset="-122"/>
                <a:cs typeface="Calibri" pitchFamily="34" charset="-120"/>
              </a:rPr>
              <a:t>Respondent B</a:t>
            </a:r>
            <a:endParaRPr lang="en-US" sz="1200" dirty="0"/>
          </a:p>
        </p:txBody>
      </p:sp>
      <p:sp>
        <p:nvSpPr>
          <p:cNvPr id="52" name="Shape 50"/>
          <p:cNvSpPr/>
          <p:nvPr/>
        </p:nvSpPr>
        <p:spPr>
          <a:xfrm>
            <a:off x="10561320" y="2377440"/>
            <a:ext cx="1234440" cy="1554480"/>
          </a:xfrm>
          <a:prstGeom prst="roundRect">
            <a:avLst>
              <a:gd name="adj" fmla="val 3704"/>
            </a:avLst>
          </a:prstGeom>
          <a:solidFill>
            <a:srgbClr val="F1EBF4"/>
          </a:solidFill>
          <a:ln w="12700">
            <a:solidFill>
              <a:srgbClr val="F1EBF4"/>
            </a:solidFill>
            <a:prstDash val="solid"/>
          </a:ln>
        </p:spPr>
      </p:sp>
      <p:sp>
        <p:nvSpPr>
          <p:cNvPr id="53" name="Text 51"/>
          <p:cNvSpPr/>
          <p:nvPr/>
        </p:nvSpPr>
        <p:spPr>
          <a:xfrm>
            <a:off x="10561320" y="2542032"/>
            <a:ext cx="1234440" cy="685800"/>
          </a:xfrm>
          <a:prstGeom prst="rect">
            <a:avLst/>
          </a:prstGeom>
          <a:noFill/>
          <a:ln/>
        </p:spPr>
        <p:txBody>
          <a:bodyPr wrap="square" lIns="0" tIns="0" rIns="0" bIns="0" rtlCol="0" anchor="ctr"/>
          <a:lstStyle/>
          <a:p>
            <a:pPr algn="ctr" indent="0" marL="0">
              <a:buNone/>
            </a:pPr>
            <a:r>
              <a:rPr lang="en-US" sz="3600" b="1" dirty="0">
                <a:solidFill>
                  <a:srgbClr val="440154"/>
                </a:solidFill>
                <a:latin typeface="Cambria" pitchFamily="34" charset="0"/>
                <a:ea typeface="Cambria" pitchFamily="34" charset="-122"/>
                <a:cs typeface="Cambria" pitchFamily="34" charset="-120"/>
              </a:rPr>
              <a:t>4.0</a:t>
            </a:r>
            <a:endParaRPr lang="en-US" sz="3600" dirty="0"/>
          </a:p>
        </p:txBody>
      </p:sp>
      <p:sp>
        <p:nvSpPr>
          <p:cNvPr id="54" name="Text 52"/>
          <p:cNvSpPr/>
          <p:nvPr/>
        </p:nvSpPr>
        <p:spPr>
          <a:xfrm>
            <a:off x="10561320" y="3200400"/>
            <a:ext cx="1234440" cy="548640"/>
          </a:xfrm>
          <a:prstGeom prst="rect">
            <a:avLst/>
          </a:prstGeom>
          <a:noFill/>
          <a:ln/>
        </p:spPr>
        <p:txBody>
          <a:bodyPr wrap="square" lIns="0" tIns="0" rIns="0" bIns="0" rtlCol="0" anchor="ctr"/>
          <a:lstStyle/>
          <a:p>
            <a:pPr algn="ctr" indent="0" marL="0">
              <a:buNone/>
            </a:pPr>
            <a:r>
              <a:rPr lang="en-US" sz="1200" dirty="0">
                <a:solidFill>
                  <a:srgbClr val="6B6B6B"/>
                </a:solidFill>
                <a:latin typeface="Calibri" pitchFamily="34" charset="0"/>
                <a:ea typeface="Calibri" pitchFamily="34" charset="-122"/>
                <a:cs typeface="Calibri" pitchFamily="34" charset="-120"/>
              </a:rPr>
              <a:t>shared</a:t>
            </a:r>
            <a:endParaRPr lang="en-US" sz="1200" dirty="0"/>
          </a:p>
          <a:p>
            <a:pPr algn="ctr" indent="0" marL="0">
              <a:buNone/>
            </a:pPr>
            <a:r>
              <a:rPr lang="en-US" sz="1200" dirty="0">
                <a:solidFill>
                  <a:srgbClr val="6B6B6B"/>
                </a:solidFill>
                <a:latin typeface="Calibri" pitchFamily="34" charset="0"/>
                <a:ea typeface="Calibri" pitchFamily="34" charset="-122"/>
                <a:cs typeface="Calibri" pitchFamily="34" charset="-120"/>
              </a:rPr>
              <a:t>average</a:t>
            </a:r>
            <a:endParaRPr lang="en-US" sz="1200" dirty="0"/>
          </a:p>
        </p:txBody>
      </p:sp>
      <p:sp>
        <p:nvSpPr>
          <p:cNvPr id="55" name="Text 53"/>
          <p:cNvSpPr/>
          <p:nvPr/>
        </p:nvSpPr>
        <p:spPr>
          <a:xfrm>
            <a:off x="685800" y="5897880"/>
            <a:ext cx="10789920" cy="457200"/>
          </a:xfrm>
          <a:prstGeom prst="rect">
            <a:avLst/>
          </a:prstGeom>
          <a:noFill/>
          <a:ln/>
        </p:spPr>
        <p:txBody>
          <a:bodyPr wrap="square" lIns="0" tIns="0" rIns="0" bIns="0" rtlCol="0" anchor="ctr"/>
          <a:lstStyle/>
          <a:p>
            <a:pPr indent="0" marL="0">
              <a:buNone/>
            </a:pPr>
            <a:r>
              <a:rPr lang="en-US" sz="1500" dirty="0">
                <a:solidFill>
                  <a:srgbClr val="1F1F1F"/>
                </a:solidFill>
                <a:latin typeface="Calibri" pitchFamily="34" charset="0"/>
                <a:ea typeface="Calibri" pitchFamily="34" charset="-122"/>
                <a:cs typeface="Calibri" pitchFamily="34" charset="-120"/>
              </a:rPr>
              <a:t>A single average calls these two people identical, and that average is what reaches you. </a:t>
            </a:r>
            <a:pPr indent="0" marL="0">
              <a:buNone/>
            </a:pPr>
            <a:r>
              <a:rPr lang="en-US" sz="1500" b="1" dirty="0">
                <a:solidFill>
                  <a:srgbClr val="440154"/>
                </a:solidFill>
                <a:latin typeface="Calibri" pitchFamily="34" charset="0"/>
                <a:ea typeface="Calibri" pitchFamily="34" charset="-122"/>
                <a:cs typeface="Calibri" pitchFamily="34" charset="-120"/>
              </a:rPr>
              <a:t>Act on it, and you're aiming at neither person — with no way to know it.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128" name="Shape 128"/>
          <p:cNvSpPr/>
          <p:nvPr/>
        </p:nvSpPr>
        <p:spPr>
          <a:xfrm>
            <a:off x="0" y="0"/>
            <a:ext cx="12161520" cy="256032"/>
          </a:xfrm>
          <a:prstGeom prst="rect">
            <a:avLst/>
          </a:prstGeom>
          <a:solidFill>
            <a:srgbClr val="006400"/>
          </a:solidFill>
          <a:ln/>
        </p:spPr>
      </p:sp>
      <p:sp>
        <p:nvSpPr>
          <p:cNvPr id="130" name="Text 130"/>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129" name="Shape 129"/>
          <p:cNvSpPr/>
          <p:nvPr/>
        </p:nvSpPr>
        <p:spPr>
          <a:xfrm>
            <a:off x="0" y="6601968"/>
            <a:ext cx="12161520" cy="256032"/>
          </a:xfrm>
          <a:prstGeom prst="rect">
            <a:avLst/>
          </a:prstGeom>
          <a:solidFill>
            <a:srgbClr val="006400"/>
          </a:solidFill>
          <a:ln/>
        </p:spPr>
      </p:sp>
      <p:sp>
        <p:nvSpPr>
          <p:cNvPr id="131" name="Text 131"/>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132" name="Text 132"/>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133" name="Text 133"/>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How this differs from a single trust score</a:t>
            </a:r>
            <a:endParaRPr lang="en-US" sz="1000" dirty="0"/>
          </a:p>
        </p:txBody>
      </p:sp>
      <p:sp>
        <p:nvSpPr>
          <p:cNvPr id="134" name="Text 134"/>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THE TECHNICAL DIFFERENCE</a:t>
            </a:r>
            <a:endParaRPr lang="en-US" sz="1000" dirty="0"/>
          </a:p>
        </p:txBody>
      </p:sp>
      <p:sp>
        <p:nvSpPr>
          <p:cNvPr id="135" name="Shape 135"/>
          <p:cNvSpPr/>
          <p:nvPr/>
        </p:nvSpPr>
        <p:spPr>
          <a:xfrm>
            <a:off x="685800" y="1554480"/>
            <a:ext cx="10789920" cy="900000"/>
          </a:xfrm>
          <a:prstGeom prst="roundRect">
            <a:avLst>
              <a:gd name="adj" fmla="val 1724"/>
            </a:avLst>
          </a:prstGeom>
          <a:solidFill>
            <a:srgbClr val="E8F3F2"/>
          </a:solidFill>
          <a:ln w="12700">
            <a:solidFill>
              <a:srgbClr val="E8F3F2"/>
            </a:solidFill>
            <a:prstDash val="solid"/>
          </a:ln>
        </p:spPr>
      </p:sp>
      <p:sp>
        <p:nvSpPr>
          <p:cNvPr id="136" name="Text 136"/>
          <p:cNvSpPr/>
          <p:nvPr/>
        </p:nvSpPr>
        <p:spPr>
          <a:xfrm>
            <a:off x="1143000" y="1554480"/>
            <a:ext cx="9875520" cy="900000"/>
          </a:xfrm>
          <a:prstGeom prst="rect">
            <a:avLst/>
          </a:prstGeom>
          <a:noFill/>
          <a:ln/>
        </p:spPr>
        <p:txBody>
          <a:bodyPr wrap="square" lIns="0" tIns="0" rIns="0" bIns="0" rtlCol="0" anchor="ctr"/>
          <a:lstStyle/>
          <a:p>
            <a:pPr algn="ctr" indent="0" marL="0">
              <a:buNone/>
            </a:pPr>
            <a:r>
              <a:rPr lang="en-US" sz="1550" dirty="0">
                <a:solidFill>
                  <a:srgbClr val="1F1F1F"/>
                </a:solidFill>
                <a:latin typeface="Calibri" pitchFamily="34" charset="0"/>
                <a:ea typeface="Calibri" pitchFamily="34" charset="-122"/>
                <a:cs typeface="Calibri" pitchFamily="34" charset="-120"/>
              </a:rPr>
              <a:t>A single score forces every person onto one line, from low to high.</a:t>
            </a:r>
          </a:p>
          <a:p>
            <a:pPr algn="ctr" indent="0" marL="0">
              <a:buNone/>
            </a:pPr>
            <a:r>
              <a:rPr lang="en-US" sz="1550" b="1" dirty="0">
                <a:solidFill>
                  <a:srgbClr val="440154"/>
                </a:solidFill>
                <a:latin typeface="Calibri" pitchFamily="34" charset="0"/>
                <a:ea typeface="Calibri" pitchFamily="34" charset="-122"/>
                <a:cs typeface="Calibri" pitchFamily="34" charset="-120"/>
              </a:rPr>
              <a:t>This capability asks a sharper question: who answers alike, and who answers differently?</a:t>
            </a:r>
          </a:p>
        </p:txBody>
      </p:sp>
      <p:sp>
        <p:nvSpPr>
          <p:cNvPr id="137" name="Shape 137"/>
          <p:cNvSpPr/>
          <p:nvPr/>
        </p:nvSpPr>
        <p:spPr>
          <a:xfrm>
            <a:off x="685800" y="2604480"/>
            <a:ext cx="5212080" cy="2850000"/>
          </a:xfrm>
          <a:prstGeom prst="roundRect">
            <a:avLst>
              <a:gd name="adj" fmla="val 1000"/>
            </a:avLst>
          </a:prstGeom>
          <a:solidFill>
            <a:srgbClr val="E8F3F2"/>
          </a:solidFill>
          <a:ln w="12700">
            <a:solidFill>
              <a:srgbClr val="E8F3F2"/>
            </a:solidFill>
            <a:prstDash val="solid"/>
          </a:ln>
        </p:spPr>
      </p:sp>
      <p:sp>
        <p:nvSpPr>
          <p:cNvPr id="138" name="Text 138"/>
          <p:cNvSpPr/>
          <p:nvPr/>
        </p:nvSpPr>
        <p:spPr>
          <a:xfrm>
            <a:off x="1005840" y="2833080"/>
            <a:ext cx="4572000" cy="320040"/>
          </a:xfrm>
          <a:prstGeom prst="rect">
            <a:avLst/>
          </a:prstGeom>
          <a:noFill/>
          <a:ln/>
        </p:spPr>
        <p:txBody>
          <a:bodyPr wrap="square" lIns="0" tIns="0" rIns="0" bIns="0" rtlCol="0" anchor="ctr"/>
          <a:lstStyle/>
          <a:p>
            <a:pPr indent="0" marL="0">
              <a:buNone/>
            </a:pPr>
            <a:r>
              <a:rPr lang="en-US" sz="1700" b="1" dirty="0">
                <a:solidFill>
                  <a:srgbClr val="440154"/>
                </a:solidFill>
                <a:latin typeface="Calibri" pitchFamily="34" charset="0"/>
                <a:ea typeface="Calibri" pitchFamily="34" charset="-122"/>
                <a:cs typeface="Calibri" pitchFamily="34" charset="-120"/>
              </a:rPr>
              <a:t>ONE SCORE (what costs us today)</a:t>
            </a:r>
            <a:endParaRPr lang="en-US" sz="1000" dirty="0"/>
          </a:p>
        </p:txBody>
      </p:sp>
      <p:sp>
        <p:nvSpPr>
          <p:cNvPr id="139" name="Shape 139"/>
          <p:cNvSpPr/>
          <p:nvPr/>
        </p:nvSpPr>
        <p:spPr>
          <a:xfrm>
            <a:off x="1051560" y="3409152"/>
            <a:ext cx="182880" cy="182880"/>
          </a:xfrm>
          <a:prstGeom prst="ellipse">
            <a:avLst/>
          </a:prstGeom>
          <a:solidFill>
            <a:srgbClr val="21918C"/>
          </a:solidFill>
          <a:ln/>
        </p:spPr>
      </p:sp>
      <p:sp>
        <p:nvSpPr>
          <p:cNvPr id="140" name="Text 140"/>
          <p:cNvSpPr/>
          <p:nvPr/>
        </p:nvSpPr>
        <p:spPr>
          <a:xfrm>
            <a:off x="1399032" y="3381720"/>
            <a:ext cx="4297680" cy="54864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Lines everyone up from low trust to high trust.</a:t>
            </a:r>
            <a:endParaRPr lang="en-US" sz="1000" dirty="0"/>
          </a:p>
        </p:txBody>
      </p:sp>
      <p:sp>
        <p:nvSpPr>
          <p:cNvPr id="141" name="Shape 141"/>
          <p:cNvSpPr/>
          <p:nvPr/>
        </p:nvSpPr>
        <p:spPr>
          <a:xfrm>
            <a:off x="1051560" y="3957792"/>
            <a:ext cx="182880" cy="182880"/>
          </a:xfrm>
          <a:prstGeom prst="ellipse">
            <a:avLst/>
          </a:prstGeom>
          <a:solidFill>
            <a:srgbClr val="21918C"/>
          </a:solidFill>
          <a:ln/>
        </p:spPr>
      </p:sp>
      <p:sp>
        <p:nvSpPr>
          <p:cNvPr id="142" name="Text 142"/>
          <p:cNvSpPr/>
          <p:nvPr/>
        </p:nvSpPr>
        <p:spPr>
          <a:xfrm>
            <a:off x="1399032" y="3930360"/>
            <a:ext cx="4297680" cy="54864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Two very different people can average to the same number.</a:t>
            </a:r>
            <a:endParaRPr lang="en-US" sz="1000" dirty="0"/>
          </a:p>
        </p:txBody>
      </p:sp>
      <p:sp>
        <p:nvSpPr>
          <p:cNvPr id="143" name="Shape 143"/>
          <p:cNvSpPr/>
          <p:nvPr/>
        </p:nvSpPr>
        <p:spPr>
          <a:xfrm>
            <a:off x="1051560" y="4506432"/>
            <a:ext cx="182880" cy="182880"/>
          </a:xfrm>
          <a:prstGeom prst="ellipse">
            <a:avLst/>
          </a:prstGeom>
          <a:solidFill>
            <a:srgbClr val="21918C"/>
          </a:solidFill>
          <a:ln/>
        </p:spPr>
      </p:sp>
      <p:sp>
        <p:nvSpPr>
          <p:cNvPr id="144" name="Text 144"/>
          <p:cNvSpPr/>
          <p:nvPr/>
        </p:nvSpPr>
        <p:spPr>
          <a:xfrm>
            <a:off x="1399032" y="4479000"/>
            <a:ext cx="4297680" cy="54864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Cannot say how many kinds of people are in the data.</a:t>
            </a:r>
            <a:endParaRPr lang="en-US" sz="1000" dirty="0"/>
          </a:p>
        </p:txBody>
      </p:sp>
      <p:sp>
        <p:nvSpPr>
          <p:cNvPr id="145" name="Shape 145"/>
          <p:cNvSpPr/>
          <p:nvPr/>
        </p:nvSpPr>
        <p:spPr>
          <a:xfrm>
            <a:off x="6537960" y="2604480"/>
            <a:ext cx="4937760" cy="2850000"/>
          </a:xfrm>
          <a:prstGeom prst="roundRect">
            <a:avLst>
              <a:gd name="adj" fmla="val 1000"/>
            </a:avLst>
          </a:prstGeom>
          <a:solidFill>
            <a:srgbClr val="F1EBF4"/>
          </a:solidFill>
          <a:ln w="12700">
            <a:solidFill>
              <a:srgbClr val="F1EBF4"/>
            </a:solidFill>
            <a:prstDash val="solid"/>
          </a:ln>
        </p:spPr>
      </p:sp>
      <p:sp>
        <p:nvSpPr>
          <p:cNvPr id="146" name="Text 146"/>
          <p:cNvSpPr/>
          <p:nvPr/>
        </p:nvSpPr>
        <p:spPr>
          <a:xfrm>
            <a:off x="6858000" y="2833080"/>
            <a:ext cx="4389120" cy="320040"/>
          </a:xfrm>
          <a:prstGeom prst="rect">
            <a:avLst/>
          </a:prstGeom>
          <a:noFill/>
          <a:ln/>
        </p:spPr>
        <p:txBody>
          <a:bodyPr wrap="square" lIns="0" tIns="0" rIns="0" bIns="0" rtlCol="0" anchor="ctr"/>
          <a:lstStyle/>
          <a:p>
            <a:pPr indent="0" marL="0">
              <a:buNone/>
            </a:pPr>
            <a:r>
              <a:rPr lang="en-US" sz="1700" b="1" dirty="0">
                <a:solidFill>
                  <a:srgbClr val="440154"/>
                </a:solidFill>
                <a:latin typeface="Calibri" pitchFamily="34" charset="0"/>
                <a:ea typeface="Calibri" pitchFamily="34" charset="-122"/>
                <a:cs typeface="Calibri" pitchFamily="34" charset="-120"/>
              </a:rPr>
              <a:t>THE CAPABILITY (what we built)</a:t>
            </a:r>
            <a:endParaRPr lang="en-US" sz="1000" dirty="0"/>
          </a:p>
        </p:txBody>
      </p:sp>
      <p:sp>
        <p:nvSpPr>
          <p:cNvPr id="147" name="Shape 147"/>
          <p:cNvSpPr/>
          <p:nvPr/>
        </p:nvSpPr>
        <p:spPr>
          <a:xfrm>
            <a:off x="6903720" y="3409152"/>
            <a:ext cx="182880" cy="182880"/>
          </a:xfrm>
          <a:prstGeom prst="ellipse">
            <a:avLst/>
          </a:prstGeom>
          <a:solidFill>
            <a:srgbClr val="440154"/>
          </a:solidFill>
          <a:ln/>
        </p:spPr>
      </p:sp>
      <p:sp>
        <p:nvSpPr>
          <p:cNvPr id="148" name="Text 148"/>
          <p:cNvSpPr/>
          <p:nvPr/>
        </p:nvSpPr>
        <p:spPr>
          <a:xfrm>
            <a:off x="7251192" y="3381720"/>
            <a:ext cx="4023360" cy="54864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Groups people by their whole pattern of answers.</a:t>
            </a:r>
            <a:endParaRPr lang="en-US" sz="1000" dirty="0"/>
          </a:p>
        </p:txBody>
      </p:sp>
      <p:sp>
        <p:nvSpPr>
          <p:cNvPr id="149" name="Shape 149"/>
          <p:cNvSpPr/>
          <p:nvPr/>
        </p:nvSpPr>
        <p:spPr>
          <a:xfrm>
            <a:off x="6903720" y="3957792"/>
            <a:ext cx="182880" cy="182880"/>
          </a:xfrm>
          <a:prstGeom prst="ellipse">
            <a:avLst/>
          </a:prstGeom>
          <a:solidFill>
            <a:srgbClr val="440154"/>
          </a:solidFill>
          <a:ln/>
        </p:spPr>
      </p:sp>
      <p:sp>
        <p:nvSpPr>
          <p:cNvPr id="150" name="Text 150"/>
          <p:cNvSpPr/>
          <p:nvPr/>
        </p:nvSpPr>
        <p:spPr>
          <a:xfrm>
            <a:off x="7251192" y="3930360"/>
            <a:ext cx="4023360" cy="54864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Lets the data decide how many real groups exist.</a:t>
            </a:r>
            <a:endParaRPr lang="en-US" sz="1000" dirty="0"/>
          </a:p>
        </p:txBody>
      </p:sp>
      <p:sp>
        <p:nvSpPr>
          <p:cNvPr id="151" name="Shape 151"/>
          <p:cNvSpPr/>
          <p:nvPr/>
        </p:nvSpPr>
        <p:spPr>
          <a:xfrm>
            <a:off x="6903720" y="4506432"/>
            <a:ext cx="182880" cy="182880"/>
          </a:xfrm>
          <a:prstGeom prst="ellipse">
            <a:avLst/>
          </a:prstGeom>
          <a:solidFill>
            <a:srgbClr val="440154"/>
          </a:solidFill>
          <a:ln/>
        </p:spPr>
      </p:sp>
      <p:sp>
        <p:nvSpPr>
          <p:cNvPr id="152" name="Text 152"/>
          <p:cNvSpPr/>
          <p:nvPr/>
        </p:nvSpPr>
        <p:spPr>
          <a:xfrm>
            <a:off x="7251192" y="4479000"/>
            <a:ext cx="4023360" cy="54864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Gives each group a size and a confidence range.</a:t>
            </a:r>
            <a:endParaRPr lang="en-US" sz="1000" dirty="0"/>
          </a:p>
        </p:txBody>
      </p:sp>
      <p:sp>
        <p:nvSpPr>
          <p:cNvPr id="153" name="Text 153"/>
          <p:cNvSpPr/>
          <p:nvPr/>
        </p:nvSpPr>
        <p:spPr>
          <a:xfrm>
            <a:off x="685800" y="5650000"/>
            <a:ext cx="10789920" cy="450000"/>
          </a:xfrm>
          <a:prstGeom prst="rect">
            <a:avLst/>
          </a:prstGeom>
          <a:noFill/>
          <a:ln/>
        </p:spPr>
        <p:txBody>
          <a:bodyPr wrap="square" lIns="0" tIns="0" rIns="0" bIns="0" rtlCol="0" anchor="ctr"/>
          <a:lstStyle/>
          <a:p>
            <a:pPr algn="ctr" indent="0" marL="0">
              <a:buNone/>
            </a:pPr>
            <a:r>
              <a:rPr lang="en-US" sz="1350" dirty="0">
                <a:solidFill>
                  <a:srgbClr val="1F1F1F"/>
                </a:solidFill>
                <a:latin typeface="Calibri" pitchFamily="34" charset="0"/>
                <a:ea typeface="Calibri" pitchFamily="34" charset="-122"/>
                <a:cs typeface="Calibri" pitchFamily="34" charset="-120"/>
              </a:rPr>
              <a:t>Same capability whether the battery is institutional trust, views of a government, or a policy — and it is ready now.</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13</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The battery's shape decides the method, not taste</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HOW THE CHOICE WAS MADE</a:t>
            </a:r>
            <a:endParaRPr lang="en-US" sz="1000" dirty="0"/>
          </a:p>
        </p:txBody>
      </p:sp>
      <p:sp>
        <p:nvSpPr>
          <p:cNvPr id="9" name="Text 7"/>
          <p:cNvSpPr/>
          <p:nvPr/>
        </p:nvSpPr>
        <p:spPr>
          <a:xfrm>
            <a:off x="685800" y="1600200"/>
            <a:ext cx="10789920" cy="320040"/>
          </a:xfrm>
          <a:prstGeom prst="rect">
            <a:avLst/>
          </a:prstGeom>
          <a:noFill/>
          <a:ln/>
        </p:spPr>
        <p:txBody>
          <a:bodyPr wrap="square" lIns="0" tIns="0" rIns="0" bIns="0" rtlCol="0" anchor="ctr"/>
          <a:lstStyle/>
          <a:p>
            <a:pPr indent="0" marL="0">
              <a:buNone/>
            </a:pPr>
            <a:r>
              <a:rPr lang="en-US" sz="1600" b="1" dirty="0">
                <a:solidFill>
                  <a:srgbClr val="1F1F1F"/>
                </a:solidFill>
                <a:latin typeface="Calibri" pitchFamily="34" charset="0"/>
                <a:ea typeface="Calibri" pitchFamily="34" charset="-122"/>
                <a:cs typeface="Calibri" pitchFamily="34" charset="-120"/>
              </a:rPr>
              <a:t>1.  What are we estimating?</a:t>
            </a:r>
            <a:endParaRPr lang="en-US" sz="1600" dirty="0"/>
          </a:p>
        </p:txBody>
      </p:sp>
      <p:sp>
        <p:nvSpPr>
          <p:cNvPr id="10" name="Shape 8"/>
          <p:cNvSpPr/>
          <p:nvPr/>
        </p:nvSpPr>
        <p:spPr>
          <a:xfrm>
            <a:off x="685800" y="2011680"/>
            <a:ext cx="4937760" cy="1143000"/>
          </a:xfrm>
          <a:prstGeom prst="roundRect">
            <a:avLst>
              <a:gd name="adj" fmla="val 4000"/>
            </a:avLst>
          </a:prstGeom>
          <a:solidFill>
            <a:srgbClr val="F7F7F7"/>
          </a:solidFill>
          <a:ln w="12700">
            <a:solidFill>
              <a:srgbClr val="E4E4E4"/>
            </a:solidFill>
            <a:prstDash val="solid"/>
          </a:ln>
        </p:spPr>
      </p:sp>
      <p:sp>
        <p:nvSpPr>
          <p:cNvPr id="11" name="Text 9"/>
          <p:cNvSpPr/>
          <p:nvPr/>
        </p:nvSpPr>
        <p:spPr>
          <a:xfrm>
            <a:off x="960120" y="2148840"/>
            <a:ext cx="4389120" cy="292608"/>
          </a:xfrm>
          <a:prstGeom prst="rect">
            <a:avLst/>
          </a:prstGeom>
          <a:noFill/>
          <a:ln/>
        </p:spPr>
        <p:txBody>
          <a:bodyPr wrap="square" lIns="0" tIns="0" rIns="0" bIns="0" rtlCol="0" anchor="ctr"/>
          <a:lstStyle/>
          <a:p>
            <a:pPr indent="0" marL="0">
              <a:buNone/>
            </a:pPr>
            <a:r>
              <a:rPr lang="en-US" sz="1500" b="1" dirty="0">
                <a:solidFill>
                  <a:srgbClr val="6B6B6B"/>
                </a:solidFill>
                <a:latin typeface="Calibri" pitchFamily="34" charset="0"/>
                <a:ea typeface="Calibri" pitchFamily="34" charset="-122"/>
                <a:cs typeface="Calibri" pitchFamily="34" charset="-120"/>
              </a:rPr>
              <a:t>A partition of this file</a:t>
            </a:r>
            <a:endParaRPr lang="en-US" sz="1500" dirty="0"/>
          </a:p>
        </p:txBody>
      </p:sp>
      <p:sp>
        <p:nvSpPr>
          <p:cNvPr id="12" name="Text 10"/>
          <p:cNvSpPr/>
          <p:nvPr/>
        </p:nvSpPr>
        <p:spPr>
          <a:xfrm>
            <a:off x="960120" y="2468880"/>
            <a:ext cx="4389120" cy="292608"/>
          </a:xfrm>
          <a:prstGeom prst="rect">
            <a:avLst/>
          </a:prstGeom>
          <a:noFill/>
          <a:ln/>
        </p:spPr>
        <p:txBody>
          <a:bodyPr wrap="square" lIns="0" tIns="0" rIns="0" bIns="0" rtlCol="0" anchor="ctr"/>
          <a:lstStyle/>
          <a:p>
            <a:pPr indent="0" marL="0">
              <a:buNone/>
            </a:pPr>
            <a:r>
              <a:rPr lang="en-US" sz="1300" dirty="0">
                <a:solidFill>
                  <a:srgbClr val="BFBFBF"/>
                </a:solidFill>
                <a:latin typeface="Calibri" pitchFamily="34" charset="0"/>
                <a:ea typeface="Calibri" pitchFamily="34" charset="-122"/>
                <a:cs typeface="Calibri" pitchFamily="34" charset="-120"/>
              </a:rPr>
              <a:t>k-means, medoids</a:t>
            </a:r>
            <a:endParaRPr lang="en-US" sz="1300" dirty="0"/>
          </a:p>
        </p:txBody>
      </p:sp>
      <p:sp>
        <p:nvSpPr>
          <p:cNvPr id="13" name="Text 11"/>
          <p:cNvSpPr/>
          <p:nvPr/>
        </p:nvSpPr>
        <p:spPr>
          <a:xfrm>
            <a:off x="960120" y="2770632"/>
            <a:ext cx="4389120" cy="274320"/>
          </a:xfrm>
          <a:prstGeom prst="rect">
            <a:avLst/>
          </a:prstGeom>
          <a:noFill/>
          <a:ln/>
        </p:spPr>
        <p:txBody>
          <a:bodyPr wrap="square" lIns="0" tIns="0" rIns="0" bIns="0" rtlCol="0" anchor="ctr"/>
          <a:lstStyle/>
          <a:p>
            <a:pPr indent="0" marL="0">
              <a:buNone/>
            </a:pPr>
            <a:r>
              <a:rPr lang="en-US" sz="1200" i="1" dirty="0">
                <a:solidFill>
                  <a:srgbClr val="A03030"/>
                </a:solidFill>
                <a:latin typeface="Calibri" pitchFamily="34" charset="0"/>
                <a:ea typeface="Calibri" pitchFamily="34" charset="-122"/>
                <a:cs typeface="Calibri" pitchFamily="34" charset="-120"/>
              </a:rPr>
              <a:t>no interval exists</a:t>
            </a:r>
            <a:endParaRPr lang="en-US" sz="1200" dirty="0"/>
          </a:p>
        </p:txBody>
      </p:sp>
      <p:sp>
        <p:nvSpPr>
          <p:cNvPr id="14" name="Shape 12"/>
          <p:cNvSpPr/>
          <p:nvPr/>
        </p:nvSpPr>
        <p:spPr>
          <a:xfrm>
            <a:off x="6172200" y="2011680"/>
            <a:ext cx="5303520" cy="1143000"/>
          </a:xfrm>
          <a:prstGeom prst="roundRect">
            <a:avLst>
              <a:gd name="adj" fmla="val 4000"/>
            </a:avLst>
          </a:prstGeom>
          <a:solidFill>
            <a:srgbClr val="E8F3F2"/>
          </a:solidFill>
          <a:ln w="12700">
            <a:solidFill>
              <a:srgbClr val="21918C"/>
            </a:solidFill>
            <a:prstDash val="solid"/>
          </a:ln>
        </p:spPr>
      </p:sp>
      <p:sp>
        <p:nvSpPr>
          <p:cNvPr id="15" name="Shape 13"/>
          <p:cNvSpPr/>
          <p:nvPr/>
        </p:nvSpPr>
        <p:spPr>
          <a:xfrm>
            <a:off x="6400800" y="2221992"/>
            <a:ext cx="237744" cy="237744"/>
          </a:xfrm>
          <a:prstGeom prst="ellipse">
            <a:avLst/>
          </a:prstGeom>
          <a:solidFill>
            <a:srgbClr val="21918C"/>
          </a:solidFill>
          <a:ln/>
        </p:spPr>
      </p:sp>
      <p:sp>
        <p:nvSpPr>
          <p:cNvPr id="16" name="Text 14"/>
          <p:cNvSpPr/>
          <p:nvPr/>
        </p:nvSpPr>
        <p:spPr>
          <a:xfrm>
            <a:off x="6766560" y="2148840"/>
            <a:ext cx="4572000" cy="292608"/>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A population parameter</a:t>
            </a:r>
            <a:endParaRPr lang="en-US" sz="1500" dirty="0"/>
          </a:p>
        </p:txBody>
      </p:sp>
      <p:sp>
        <p:nvSpPr>
          <p:cNvPr id="17" name="Text 15"/>
          <p:cNvSpPr/>
          <p:nvPr/>
        </p:nvSpPr>
        <p:spPr>
          <a:xfrm>
            <a:off x="6766560" y="2468880"/>
            <a:ext cx="4572000" cy="292608"/>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factor analysis, latent class</a:t>
            </a:r>
            <a:endParaRPr lang="en-US" sz="1300" dirty="0"/>
          </a:p>
        </p:txBody>
      </p:sp>
      <p:sp>
        <p:nvSpPr>
          <p:cNvPr id="18" name="Text 16"/>
          <p:cNvSpPr/>
          <p:nvPr/>
        </p:nvSpPr>
        <p:spPr>
          <a:xfrm>
            <a:off x="685800" y="3657600"/>
            <a:ext cx="10789920" cy="320040"/>
          </a:xfrm>
          <a:prstGeom prst="rect">
            <a:avLst/>
          </a:prstGeom>
          <a:noFill/>
          <a:ln/>
        </p:spPr>
        <p:txBody>
          <a:bodyPr wrap="square" lIns="0" tIns="0" rIns="0" bIns="0" rtlCol="0" anchor="ctr"/>
          <a:lstStyle/>
          <a:p>
            <a:pPr indent="0" marL="0">
              <a:buNone/>
            </a:pPr>
            <a:r>
              <a:rPr lang="en-US" sz="1600" b="1" dirty="0">
                <a:solidFill>
                  <a:srgbClr val="1F1F1F"/>
                </a:solidFill>
                <a:latin typeface="Calibri" pitchFamily="34" charset="0"/>
                <a:ea typeface="Calibri" pitchFamily="34" charset="-122"/>
                <a:cs typeface="Calibri" pitchFamily="34" charset="-120"/>
              </a:rPr>
              <a:t>2.  What shape is the thing?</a:t>
            </a:r>
            <a:endParaRPr lang="en-US" sz="1600" dirty="0"/>
          </a:p>
        </p:txBody>
      </p:sp>
      <p:sp>
        <p:nvSpPr>
          <p:cNvPr id="19" name="Shape 17"/>
          <p:cNvSpPr/>
          <p:nvPr/>
        </p:nvSpPr>
        <p:spPr>
          <a:xfrm>
            <a:off x="685800" y="4069080"/>
            <a:ext cx="4937760" cy="1143000"/>
          </a:xfrm>
          <a:prstGeom prst="roundRect">
            <a:avLst>
              <a:gd name="adj" fmla="val 4000"/>
            </a:avLst>
          </a:prstGeom>
          <a:solidFill>
            <a:srgbClr val="F7F7F7"/>
          </a:solidFill>
          <a:ln w="12700">
            <a:solidFill>
              <a:srgbClr val="E4E4E4"/>
            </a:solidFill>
            <a:prstDash val="solid"/>
          </a:ln>
        </p:spPr>
      </p:sp>
      <p:sp>
        <p:nvSpPr>
          <p:cNvPr id="20" name="Text 18"/>
          <p:cNvSpPr/>
          <p:nvPr/>
        </p:nvSpPr>
        <p:spPr>
          <a:xfrm>
            <a:off x="960120" y="4206240"/>
            <a:ext cx="4389120" cy="292608"/>
          </a:xfrm>
          <a:prstGeom prst="rect">
            <a:avLst/>
          </a:prstGeom>
          <a:noFill/>
          <a:ln/>
        </p:spPr>
        <p:txBody>
          <a:bodyPr wrap="square" lIns="0" tIns="0" rIns="0" bIns="0" rtlCol="0" anchor="ctr"/>
          <a:lstStyle/>
          <a:p>
            <a:pPr indent="0" marL="0">
              <a:buNone/>
            </a:pPr>
            <a:r>
              <a:rPr lang="en-US" sz="1500" b="1" dirty="0">
                <a:solidFill>
                  <a:srgbClr val="6B6B6B"/>
                </a:solidFill>
                <a:latin typeface="Calibri" pitchFamily="34" charset="0"/>
                <a:ea typeface="Calibri" pitchFamily="34" charset="-122"/>
                <a:cs typeface="Calibri" pitchFamily="34" charset="-120"/>
              </a:rPr>
              <a:t>One continuum</a:t>
            </a:r>
            <a:endParaRPr lang="en-US" sz="1500" dirty="0"/>
          </a:p>
        </p:txBody>
      </p:sp>
      <p:sp>
        <p:nvSpPr>
          <p:cNvPr id="21" name="Text 19"/>
          <p:cNvSpPr/>
          <p:nvPr/>
        </p:nvSpPr>
        <p:spPr>
          <a:xfrm>
            <a:off x="960120" y="4526280"/>
            <a:ext cx="4389120" cy="292608"/>
          </a:xfrm>
          <a:prstGeom prst="rect">
            <a:avLst/>
          </a:prstGeom>
          <a:noFill/>
          <a:ln/>
        </p:spPr>
        <p:txBody>
          <a:bodyPr wrap="square" lIns="0" tIns="0" rIns="0" bIns="0" rtlCol="0" anchor="ctr"/>
          <a:lstStyle/>
          <a:p>
            <a:pPr indent="0" marL="0">
              <a:buNone/>
            </a:pPr>
            <a:r>
              <a:rPr lang="en-US" sz="1300" dirty="0">
                <a:solidFill>
                  <a:srgbClr val="BFBFBF"/>
                </a:solidFill>
                <a:latin typeface="Calibri" pitchFamily="34" charset="0"/>
                <a:ea typeface="Calibri" pitchFamily="34" charset="-122"/>
                <a:cs typeface="Calibri" pitchFamily="34" charset="-120"/>
              </a:rPr>
              <a:t>groups differ in how high</a:t>
            </a:r>
            <a:endParaRPr lang="en-US" sz="1300" dirty="0"/>
          </a:p>
        </p:txBody>
      </p:sp>
      <p:sp>
        <p:nvSpPr>
          <p:cNvPr id="22" name="Text 20"/>
          <p:cNvSpPr/>
          <p:nvPr/>
        </p:nvSpPr>
        <p:spPr>
          <a:xfrm>
            <a:off x="960120" y="4828032"/>
            <a:ext cx="4389120" cy="274320"/>
          </a:xfrm>
          <a:prstGeom prst="rect">
            <a:avLst/>
          </a:prstGeom>
          <a:noFill/>
          <a:ln/>
        </p:spPr>
        <p:txBody>
          <a:bodyPr wrap="square" lIns="0" tIns="0" rIns="0" bIns="0" rtlCol="0" anchor="ctr"/>
          <a:lstStyle/>
          <a:p>
            <a:pPr indent="0" marL="0">
              <a:buNone/>
            </a:pPr>
            <a:r>
              <a:rPr lang="en-US" sz="1200" i="1" dirty="0">
                <a:solidFill>
                  <a:srgbClr val="A03030"/>
                </a:solidFill>
                <a:latin typeface="Calibri" pitchFamily="34" charset="0"/>
                <a:ea typeface="Calibri" pitchFamily="34" charset="-122"/>
                <a:cs typeface="Calibri" pitchFamily="34" charset="-120"/>
              </a:rPr>
              <a:t>a factor cannot hold a crossing</a:t>
            </a:r>
            <a:endParaRPr lang="en-US" sz="1200" dirty="0"/>
          </a:p>
        </p:txBody>
      </p:sp>
      <p:sp>
        <p:nvSpPr>
          <p:cNvPr id="23" name="Shape 21"/>
          <p:cNvSpPr/>
          <p:nvPr/>
        </p:nvSpPr>
        <p:spPr>
          <a:xfrm>
            <a:off x="6172200" y="4069080"/>
            <a:ext cx="5303520" cy="1143000"/>
          </a:xfrm>
          <a:prstGeom prst="roundRect">
            <a:avLst>
              <a:gd name="adj" fmla="val 4000"/>
            </a:avLst>
          </a:prstGeom>
          <a:solidFill>
            <a:srgbClr val="E8F3F2"/>
          </a:solidFill>
          <a:ln w="12700">
            <a:solidFill>
              <a:srgbClr val="21918C"/>
            </a:solidFill>
            <a:prstDash val="solid"/>
          </a:ln>
        </p:spPr>
      </p:sp>
      <p:sp>
        <p:nvSpPr>
          <p:cNvPr id="24" name="Shape 22"/>
          <p:cNvSpPr/>
          <p:nvPr/>
        </p:nvSpPr>
        <p:spPr>
          <a:xfrm>
            <a:off x="6400800" y="4279392"/>
            <a:ext cx="237744" cy="237744"/>
          </a:xfrm>
          <a:prstGeom prst="ellipse">
            <a:avLst/>
          </a:prstGeom>
          <a:solidFill>
            <a:srgbClr val="21918C"/>
          </a:solidFill>
          <a:ln/>
        </p:spPr>
      </p:sp>
      <p:sp>
        <p:nvSpPr>
          <p:cNvPr id="25" name="Text 23"/>
          <p:cNvSpPr/>
          <p:nvPr/>
        </p:nvSpPr>
        <p:spPr>
          <a:xfrm>
            <a:off x="6766560" y="4206240"/>
            <a:ext cx="4572000" cy="292608"/>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Distinct types</a:t>
            </a:r>
            <a:endParaRPr lang="en-US" sz="1500" dirty="0"/>
          </a:p>
        </p:txBody>
      </p:sp>
      <p:sp>
        <p:nvSpPr>
          <p:cNvPr id="26" name="Text 24"/>
          <p:cNvSpPr/>
          <p:nvPr/>
        </p:nvSpPr>
        <p:spPr>
          <a:xfrm>
            <a:off x="6766560" y="4526280"/>
            <a:ext cx="4572000" cy="292608"/>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groups differ in which items</a:t>
            </a:r>
            <a:endParaRPr lang="en-US" sz="1300" dirty="0"/>
          </a:p>
        </p:txBody>
      </p:sp>
      <p:sp>
        <p:nvSpPr>
          <p:cNvPr id="27" name="Text 25"/>
          <p:cNvSpPr/>
          <p:nvPr/>
        </p:nvSpPr>
        <p:spPr>
          <a:xfrm>
            <a:off x="685800" y="5806440"/>
            <a:ext cx="10789920" cy="457200"/>
          </a:xfrm>
          <a:prstGeom prst="rect">
            <a:avLst/>
          </a:prstGeom>
          <a:noFill/>
          <a:ln/>
        </p:spPr>
        <p:txBody>
          <a:bodyPr wrap="square" lIns="0" tIns="0" rIns="0" bIns="0" rtlCol="0" anchor="ctr"/>
          <a:lstStyle/>
          <a:p>
            <a:pPr indent="0" marL="0">
              <a:buNone/>
            </a:pPr>
            <a:r>
              <a:rPr lang="en-US" sz="1500" dirty="0">
                <a:solidFill>
                  <a:srgbClr val="1F1F1F"/>
                </a:solidFill>
                <a:latin typeface="Calibri" pitchFamily="34" charset="0"/>
                <a:ea typeface="Calibri" pitchFamily="34" charset="-122"/>
                <a:cs typeface="Calibri" pitchFamily="34" charset="-120"/>
              </a:rPr>
              <a:t>The battery decides question two, not taste. </a:t>
            </a:r>
            <a:pPr indent="0" marL="0">
              <a:buNone/>
            </a:pPr>
            <a:r>
              <a:rPr lang="en-US" sz="1500" b="1" dirty="0">
                <a:solidFill>
                  <a:srgbClr val="440154"/>
                </a:solidFill>
                <a:latin typeface="Calibri" pitchFamily="34" charset="0"/>
                <a:ea typeface="Calibri" pitchFamily="34" charset="-122"/>
                <a:cs typeface="Calibri" pitchFamily="34" charset="-120"/>
              </a:rPr>
              <a:t>The diagnostic is on the profiles slide.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22</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Every person gets a probability, not a forced label</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WHAT THE MODEL OUTPUTS</a:t>
            </a:r>
            <a:endParaRPr lang="en-US" sz="1000" dirty="0"/>
          </a:p>
        </p:txBody>
      </p:sp>
      <p:sp>
        <p:nvSpPr>
          <p:cNvPr id="9" name="Shape 7"/>
          <p:cNvSpPr/>
          <p:nvPr/>
        </p:nvSpPr>
        <p:spPr>
          <a:xfrm>
            <a:off x="1378915" y="2432304"/>
            <a:ext cx="351130" cy="351130"/>
          </a:xfrm>
          <a:prstGeom prst="ellipse">
            <a:avLst/>
          </a:prstGeom>
          <a:solidFill>
            <a:srgbClr val="A9A9A9"/>
          </a:solidFill>
          <a:ln w="12700">
            <a:solidFill>
              <a:srgbClr val="A9A9A9"/>
            </a:solidFill>
            <a:prstDash val="solid"/>
          </a:ln>
        </p:spPr>
      </p:sp>
      <p:sp>
        <p:nvSpPr>
          <p:cNvPr id="10" name="Shape 8"/>
          <p:cNvSpPr/>
          <p:nvPr/>
        </p:nvSpPr>
        <p:spPr>
          <a:xfrm>
            <a:off x="1305763" y="2695651"/>
            <a:ext cx="497434" cy="643738"/>
          </a:xfrm>
          <a:prstGeom prst="roundRect">
            <a:avLst>
              <a:gd name="adj" fmla="val 29412"/>
            </a:avLst>
          </a:prstGeom>
          <a:solidFill>
            <a:srgbClr val="A9A9A9"/>
          </a:solidFill>
          <a:ln w="12700">
            <a:solidFill>
              <a:srgbClr val="A9A9A9"/>
            </a:solidFill>
            <a:prstDash val="solid"/>
          </a:ln>
        </p:spPr>
      </p:sp>
      <p:sp>
        <p:nvSpPr>
          <p:cNvPr id="11" name="Text 9"/>
          <p:cNvSpPr/>
          <p:nvPr/>
        </p:nvSpPr>
        <p:spPr>
          <a:xfrm>
            <a:off x="731520" y="3794760"/>
            <a:ext cx="1645920" cy="274320"/>
          </a:xfrm>
          <a:prstGeom prst="rect">
            <a:avLst/>
          </a:prstGeom>
          <a:noFill/>
          <a:ln/>
        </p:spPr>
        <p:txBody>
          <a:bodyPr wrap="square" lIns="0" tIns="0" rIns="0" bIns="0" rtlCol="0" anchor="ctr"/>
          <a:lstStyle/>
          <a:p>
            <a:pPr algn="ctr" indent="0" marL="0">
              <a:buNone/>
            </a:pPr>
            <a:r>
              <a:rPr lang="en-US" sz="1200" dirty="0">
                <a:solidFill>
                  <a:srgbClr val="6B6B6B"/>
                </a:solidFill>
                <a:latin typeface="Calibri" pitchFamily="34" charset="0"/>
                <a:ea typeface="Calibri" pitchFamily="34" charset="-122"/>
                <a:cs typeface="Calibri" pitchFamily="34" charset="-120"/>
              </a:rPr>
              <a:t>one respondent</a:t>
            </a:r>
            <a:endParaRPr lang="en-US" sz="1200" dirty="0"/>
          </a:p>
        </p:txBody>
      </p:sp>
      <p:sp>
        <p:nvSpPr>
          <p:cNvPr id="12" name="Shape 10"/>
          <p:cNvSpPr/>
          <p:nvPr/>
        </p:nvSpPr>
        <p:spPr>
          <a:xfrm>
            <a:off x="3017520" y="2834640"/>
            <a:ext cx="2437790" cy="548640"/>
          </a:xfrm>
          <a:prstGeom prst="rect">
            <a:avLst/>
          </a:prstGeom>
          <a:solidFill>
            <a:srgbClr val="440154"/>
          </a:solidFill>
          <a:ln/>
        </p:spPr>
      </p:sp>
      <p:sp>
        <p:nvSpPr>
          <p:cNvPr id="13" name="Shape 11"/>
          <p:cNvSpPr/>
          <p:nvPr/>
        </p:nvSpPr>
        <p:spPr>
          <a:xfrm>
            <a:off x="5455310" y="2834640"/>
            <a:ext cx="943661" cy="548640"/>
          </a:xfrm>
          <a:prstGeom prst="rect">
            <a:avLst/>
          </a:prstGeom>
          <a:solidFill>
            <a:srgbClr val="3B528B"/>
          </a:solidFill>
          <a:ln/>
        </p:spPr>
      </p:sp>
      <p:sp>
        <p:nvSpPr>
          <p:cNvPr id="14" name="Shape 12"/>
          <p:cNvSpPr/>
          <p:nvPr/>
        </p:nvSpPr>
        <p:spPr>
          <a:xfrm>
            <a:off x="6398971" y="2834640"/>
            <a:ext cx="314554" cy="548640"/>
          </a:xfrm>
          <a:prstGeom prst="rect">
            <a:avLst/>
          </a:prstGeom>
          <a:solidFill>
            <a:srgbClr val="21918C"/>
          </a:solidFill>
          <a:ln/>
        </p:spPr>
      </p:sp>
      <p:sp>
        <p:nvSpPr>
          <p:cNvPr id="15" name="Shape 13"/>
          <p:cNvSpPr/>
          <p:nvPr/>
        </p:nvSpPr>
        <p:spPr>
          <a:xfrm>
            <a:off x="6713525" y="2834640"/>
            <a:ext cx="157277" cy="548640"/>
          </a:xfrm>
          <a:prstGeom prst="rect">
            <a:avLst/>
          </a:prstGeom>
          <a:solidFill>
            <a:srgbClr val="5EC962"/>
          </a:solidFill>
          <a:ln/>
        </p:spPr>
      </p:sp>
      <p:sp>
        <p:nvSpPr>
          <p:cNvPr id="16" name="Shape 14"/>
          <p:cNvSpPr/>
          <p:nvPr/>
        </p:nvSpPr>
        <p:spPr>
          <a:xfrm>
            <a:off x="6870802" y="2834640"/>
            <a:ext cx="78638" cy="548640"/>
          </a:xfrm>
          <a:prstGeom prst="rect">
            <a:avLst/>
          </a:prstGeom>
          <a:solidFill>
            <a:srgbClr val="BBA800"/>
          </a:solidFill>
          <a:ln/>
        </p:spPr>
      </p:sp>
      <p:sp>
        <p:nvSpPr>
          <p:cNvPr id="17" name="Text 15"/>
          <p:cNvSpPr/>
          <p:nvPr/>
        </p:nvSpPr>
        <p:spPr>
          <a:xfrm>
            <a:off x="3017520" y="2880360"/>
            <a:ext cx="243779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0.62</a:t>
            </a:r>
            <a:endParaRPr lang="en-US" sz="1400" dirty="0"/>
          </a:p>
        </p:txBody>
      </p:sp>
      <p:sp>
        <p:nvSpPr>
          <p:cNvPr id="18" name="Text 16"/>
          <p:cNvSpPr/>
          <p:nvPr/>
        </p:nvSpPr>
        <p:spPr>
          <a:xfrm>
            <a:off x="3017520" y="3493008"/>
            <a:ext cx="3931920" cy="32004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keeps a probability for every segment, never a hard label</a:t>
            </a:r>
            <a:endParaRPr lang="en-US" sz="1300" dirty="0"/>
          </a:p>
        </p:txBody>
      </p:sp>
      <p:sp>
        <p:nvSpPr>
          <p:cNvPr id="19" name="Text 17"/>
          <p:cNvSpPr/>
          <p:nvPr/>
        </p:nvSpPr>
        <p:spPr>
          <a:xfrm>
            <a:off x="3017520" y="2468880"/>
            <a:ext cx="3931920" cy="274320"/>
          </a:xfrm>
          <a:prstGeom prst="rect">
            <a:avLst/>
          </a:prstGeom>
          <a:noFill/>
          <a:ln/>
        </p:spPr>
        <p:txBody>
          <a:bodyPr wrap="square" lIns="0" tIns="0" rIns="0" bIns="0"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Posterior</a:t>
            </a:r>
            <a:endParaRPr lang="en-US" sz="1300" dirty="0"/>
          </a:p>
        </p:txBody>
      </p:sp>
      <p:sp>
        <p:nvSpPr>
          <p:cNvPr id="20" name="Shape 18"/>
          <p:cNvSpPr/>
          <p:nvPr/>
        </p:nvSpPr>
        <p:spPr>
          <a:xfrm>
            <a:off x="7269480" y="2971800"/>
            <a:ext cx="548640" cy="292608"/>
          </a:xfrm>
          <a:prstGeom prst="rightArrow">
            <a:avLst/>
          </a:prstGeom>
          <a:solidFill>
            <a:srgbClr val="BFBFBF"/>
          </a:solidFill>
          <a:ln/>
        </p:spPr>
      </p:sp>
      <p:sp>
        <p:nvSpPr>
          <p:cNvPr id="21" name="Shape 19"/>
          <p:cNvSpPr/>
          <p:nvPr/>
        </p:nvSpPr>
        <p:spPr>
          <a:xfrm>
            <a:off x="8138160" y="2148840"/>
            <a:ext cx="3566160" cy="1325880"/>
          </a:xfrm>
          <a:prstGeom prst="roundRect">
            <a:avLst>
              <a:gd name="adj" fmla="val 3448"/>
            </a:avLst>
          </a:prstGeom>
          <a:solidFill>
            <a:srgbClr val="E8F3F2"/>
          </a:solidFill>
          <a:ln w="12700">
            <a:solidFill>
              <a:srgbClr val="E8F3F2"/>
            </a:solidFill>
            <a:prstDash val="solid"/>
          </a:ln>
        </p:spPr>
      </p:sp>
      <p:sp>
        <p:nvSpPr>
          <p:cNvPr id="22" name="Text 20"/>
          <p:cNvSpPr/>
          <p:nvPr/>
        </p:nvSpPr>
        <p:spPr>
          <a:xfrm>
            <a:off x="8366760" y="2286000"/>
            <a:ext cx="3108960" cy="292608"/>
          </a:xfrm>
          <a:prstGeom prst="rect">
            <a:avLst/>
          </a:prstGeom>
          <a:noFill/>
          <a:ln/>
        </p:spPr>
        <p:txBody>
          <a:bodyPr wrap="square" lIns="0" tIns="0" rIns="0" bIns="0" rtlCol="0" anchor="ctr"/>
          <a:lstStyle/>
          <a:p>
            <a:pPr indent="0" marL="0">
              <a:buNone/>
            </a:pPr>
            <a:r>
              <a:rPr lang="en-US" sz="1500" b="1" dirty="0">
                <a:solidFill>
                  <a:srgbClr val="21918C"/>
                </a:solidFill>
                <a:latin typeface="Calibri" pitchFamily="34" charset="0"/>
                <a:ea typeface="Calibri" pitchFamily="34" charset="-122"/>
                <a:cs typeface="Calibri" pitchFamily="34" charset="-120"/>
              </a:rPr>
              <a:t>Segment share</a:t>
            </a:r>
            <a:endParaRPr lang="en-US" sz="1500" dirty="0"/>
          </a:p>
        </p:txBody>
      </p:sp>
      <p:sp>
        <p:nvSpPr>
          <p:cNvPr id="23" name="Text 21"/>
          <p:cNvSpPr/>
          <p:nvPr/>
        </p:nvSpPr>
        <p:spPr>
          <a:xfrm>
            <a:off x="8366760" y="2624328"/>
            <a:ext cx="3108960" cy="731520"/>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how large each group is in the population, with an interval</a:t>
            </a:r>
            <a:endParaRPr lang="en-US" sz="1300" dirty="0"/>
          </a:p>
        </p:txBody>
      </p:sp>
      <p:sp>
        <p:nvSpPr>
          <p:cNvPr id="24" name="Shape 22"/>
          <p:cNvSpPr/>
          <p:nvPr/>
        </p:nvSpPr>
        <p:spPr>
          <a:xfrm>
            <a:off x="8138160" y="3749040"/>
            <a:ext cx="3566160" cy="1325880"/>
          </a:xfrm>
          <a:prstGeom prst="roundRect">
            <a:avLst>
              <a:gd name="adj" fmla="val 3448"/>
            </a:avLst>
          </a:prstGeom>
          <a:solidFill>
            <a:srgbClr val="F1EBF4"/>
          </a:solidFill>
          <a:ln w="12700">
            <a:solidFill>
              <a:srgbClr val="F1EBF4"/>
            </a:solidFill>
            <a:prstDash val="solid"/>
          </a:ln>
        </p:spPr>
      </p:sp>
      <p:sp>
        <p:nvSpPr>
          <p:cNvPr id="25" name="Text 23"/>
          <p:cNvSpPr/>
          <p:nvPr/>
        </p:nvSpPr>
        <p:spPr>
          <a:xfrm>
            <a:off x="8366760" y="3886200"/>
            <a:ext cx="3108960" cy="292608"/>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Response profile</a:t>
            </a:r>
            <a:endParaRPr lang="en-US" sz="1500" dirty="0"/>
          </a:p>
        </p:txBody>
      </p:sp>
      <p:sp>
        <p:nvSpPr>
          <p:cNvPr id="26" name="Text 24"/>
          <p:cNvSpPr/>
          <p:nvPr/>
        </p:nvSpPr>
        <p:spPr>
          <a:xfrm>
            <a:off x="8366760" y="4224528"/>
            <a:ext cx="3108960" cy="731520"/>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the answer pattern that defines each group</a:t>
            </a:r>
            <a:endParaRPr lang="en-US" sz="1300" dirty="0"/>
          </a:p>
        </p:txBody>
      </p:sp>
      <p:sp>
        <p:nvSpPr>
          <p:cNvPr id="27" name="Text 25"/>
          <p:cNvSpPr/>
          <p:nvPr/>
        </p:nvSpPr>
        <p:spPr>
          <a:xfrm>
            <a:off x="685800" y="5897880"/>
            <a:ext cx="10789920" cy="457200"/>
          </a:xfrm>
          <a:prstGeom prst="rect">
            <a:avLst/>
          </a:prstGeom>
          <a:noFill/>
          <a:ln/>
        </p:spPr>
        <p:txBody>
          <a:bodyPr wrap="square" lIns="0" tIns="0" rIns="0" bIns="0" rtlCol="0" anchor="ctr"/>
          <a:lstStyle/>
          <a:p>
            <a:pPr indent="0" marL="0">
              <a:buNone/>
            </a:pPr>
            <a:r>
              <a:rPr lang="en-US" sz="1500" dirty="0">
                <a:solidFill>
                  <a:srgbClr val="1F1F1F"/>
                </a:solidFill>
                <a:latin typeface="Calibri" pitchFamily="34" charset="0"/>
                <a:ea typeface="Calibri" pitchFamily="34" charset="-122"/>
                <a:cs typeface="Calibri" pitchFamily="34" charset="-120"/>
              </a:rPr>
              <a:t>Both are estimates of the population, so both carry uncertainty we can quantify.</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14</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A partition has no interval to give you</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THE PART THAT IS USUALLY SKIPPED</a:t>
            </a:r>
            <a:endParaRPr lang="en-US" sz="1000" dirty="0"/>
          </a:p>
        </p:txBody>
      </p:sp>
      <p:sp>
        <p:nvSpPr>
          <p:cNvPr id="9" name="Shape 7"/>
          <p:cNvSpPr/>
          <p:nvPr/>
        </p:nvSpPr>
        <p:spPr>
          <a:xfrm>
            <a:off x="685800" y="1554480"/>
            <a:ext cx="4206240" cy="3566160"/>
          </a:xfrm>
          <a:prstGeom prst="roundRect">
            <a:avLst>
              <a:gd name="adj" fmla="val 1282"/>
            </a:avLst>
          </a:prstGeom>
          <a:solidFill>
            <a:srgbClr val="FFFFFF"/>
          </a:solidFill>
          <a:ln w="12700">
            <a:solidFill>
              <a:srgbClr val="E4E4E4"/>
            </a:solidFill>
            <a:prstDash val="solid"/>
          </a:ln>
        </p:spPr>
      </p:sp>
      <p:sp>
        <p:nvSpPr>
          <p:cNvPr id="10" name="Text 8"/>
          <p:cNvSpPr/>
          <p:nvPr/>
        </p:nvSpPr>
        <p:spPr>
          <a:xfrm>
            <a:off x="960120" y="1737360"/>
            <a:ext cx="3657600" cy="274320"/>
          </a:xfrm>
          <a:prstGeom prst="rect">
            <a:avLst/>
          </a:prstGeom>
          <a:noFill/>
          <a:ln/>
        </p:spPr>
        <p:txBody>
          <a:bodyPr wrap="square" lIns="0" tIns="0" rIns="0" bIns="0" rtlCol="0" anchor="ctr"/>
          <a:lstStyle/>
          <a:p>
            <a:pPr indent="0" marL="0">
              <a:buNone/>
            </a:pPr>
            <a:r>
              <a:rPr lang="en-US" sz="1300" b="1" spc="100" kern="0" dirty="0">
                <a:solidFill>
                  <a:srgbClr val="440154"/>
                </a:solidFill>
                <a:latin typeface="Calibri" pitchFamily="34" charset="0"/>
                <a:ea typeface="Calibri" pitchFamily="34" charset="-122"/>
                <a:cs typeface="Calibri" pitchFamily="34" charset="-120"/>
              </a:rPr>
              <a:t>THE SAMPLE</a:t>
            </a:r>
            <a:endParaRPr lang="en-US" sz="1300" dirty="0"/>
          </a:p>
        </p:txBody>
      </p:sp>
      <p:sp>
        <p:nvSpPr>
          <p:cNvPr id="11" name="Text 9"/>
          <p:cNvSpPr/>
          <p:nvPr/>
        </p:nvSpPr>
        <p:spPr>
          <a:xfrm>
            <a:off x="960120" y="2011680"/>
            <a:ext cx="3657600" cy="256032"/>
          </a:xfrm>
          <a:prstGeom prst="rect">
            <a:avLst/>
          </a:prstGeom>
          <a:noFill/>
          <a:ln/>
        </p:spPr>
        <p:txBody>
          <a:bodyPr wrap="square" lIns="0" tIns="0" rIns="0" bIns="0" rtlCol="0" anchor="ctr"/>
          <a:lstStyle/>
          <a:p>
            <a:pPr indent="0" marL="0">
              <a:buNone/>
            </a:pPr>
            <a:r>
              <a:rPr lang="en-US" sz="1200" dirty="0">
                <a:solidFill>
                  <a:srgbClr val="BFBFBF"/>
                </a:solidFill>
                <a:latin typeface="Calibri" pitchFamily="34" charset="0"/>
                <a:ea typeface="Calibri" pitchFamily="34" charset="-122"/>
                <a:cs typeface="Calibri" pitchFamily="34" charset="-120"/>
              </a:rPr>
              <a:t>icon size = survey weight</a:t>
            </a:r>
            <a:endParaRPr lang="en-US" sz="1200" dirty="0"/>
          </a:p>
        </p:txBody>
      </p:sp>
      <p:sp>
        <p:nvSpPr>
          <p:cNvPr id="12" name="Shape 10"/>
          <p:cNvSpPr/>
          <p:nvPr/>
        </p:nvSpPr>
        <p:spPr>
          <a:xfrm>
            <a:off x="1411834" y="2450592"/>
            <a:ext cx="285293" cy="285293"/>
          </a:xfrm>
          <a:prstGeom prst="ellipse">
            <a:avLst/>
          </a:prstGeom>
          <a:solidFill>
            <a:srgbClr val="B4B4B4"/>
          </a:solidFill>
          <a:ln w="12700">
            <a:solidFill>
              <a:srgbClr val="B4B4B4"/>
            </a:solidFill>
            <a:prstDash val="solid"/>
          </a:ln>
        </p:spPr>
      </p:sp>
      <p:sp>
        <p:nvSpPr>
          <p:cNvPr id="13" name="Shape 11"/>
          <p:cNvSpPr/>
          <p:nvPr/>
        </p:nvSpPr>
        <p:spPr>
          <a:xfrm>
            <a:off x="1352398" y="2664562"/>
            <a:ext cx="404165" cy="523037"/>
          </a:xfrm>
          <a:prstGeom prst="roundRect">
            <a:avLst>
              <a:gd name="adj" fmla="val 36199"/>
            </a:avLst>
          </a:prstGeom>
          <a:solidFill>
            <a:srgbClr val="B4B4B4"/>
          </a:solidFill>
          <a:ln w="12700">
            <a:solidFill>
              <a:srgbClr val="B4B4B4"/>
            </a:solidFill>
            <a:prstDash val="solid"/>
          </a:ln>
        </p:spPr>
      </p:sp>
      <p:sp>
        <p:nvSpPr>
          <p:cNvPr id="14" name="Shape 12"/>
          <p:cNvSpPr/>
          <p:nvPr/>
        </p:nvSpPr>
        <p:spPr>
          <a:xfrm>
            <a:off x="2335378" y="2633472"/>
            <a:ext cx="175565" cy="175565"/>
          </a:xfrm>
          <a:prstGeom prst="ellipse">
            <a:avLst/>
          </a:prstGeom>
          <a:solidFill>
            <a:srgbClr val="B4B4B4"/>
          </a:solidFill>
          <a:ln w="12700">
            <a:solidFill>
              <a:srgbClr val="B4B4B4"/>
            </a:solidFill>
            <a:prstDash val="solid"/>
          </a:ln>
        </p:spPr>
      </p:sp>
      <p:sp>
        <p:nvSpPr>
          <p:cNvPr id="15" name="Shape 13"/>
          <p:cNvSpPr/>
          <p:nvPr/>
        </p:nvSpPr>
        <p:spPr>
          <a:xfrm>
            <a:off x="2298802" y="2765146"/>
            <a:ext cx="248717" cy="321869"/>
          </a:xfrm>
          <a:prstGeom prst="roundRect">
            <a:avLst>
              <a:gd name="adj" fmla="val 58823"/>
            </a:avLst>
          </a:prstGeom>
          <a:solidFill>
            <a:srgbClr val="B4B4B4"/>
          </a:solidFill>
          <a:ln w="12700">
            <a:solidFill>
              <a:srgbClr val="B4B4B4"/>
            </a:solidFill>
            <a:prstDash val="solid"/>
          </a:ln>
        </p:spPr>
      </p:sp>
      <p:sp>
        <p:nvSpPr>
          <p:cNvPr id="16" name="Shape 14"/>
          <p:cNvSpPr/>
          <p:nvPr/>
        </p:nvSpPr>
        <p:spPr>
          <a:xfrm>
            <a:off x="3171139" y="2523744"/>
            <a:ext cx="241402" cy="241402"/>
          </a:xfrm>
          <a:prstGeom prst="ellipse">
            <a:avLst/>
          </a:prstGeom>
          <a:solidFill>
            <a:srgbClr val="B4B4B4"/>
          </a:solidFill>
          <a:ln w="12700">
            <a:solidFill>
              <a:srgbClr val="B4B4B4"/>
            </a:solidFill>
            <a:prstDash val="solid"/>
          </a:ln>
        </p:spPr>
      </p:sp>
      <p:sp>
        <p:nvSpPr>
          <p:cNvPr id="17" name="Shape 15"/>
          <p:cNvSpPr/>
          <p:nvPr/>
        </p:nvSpPr>
        <p:spPr>
          <a:xfrm>
            <a:off x="3120847" y="2704795"/>
            <a:ext cx="341986" cy="442570"/>
          </a:xfrm>
          <a:prstGeom prst="roundRect">
            <a:avLst>
              <a:gd name="adj" fmla="val 42781"/>
            </a:avLst>
          </a:prstGeom>
          <a:solidFill>
            <a:srgbClr val="B4B4B4"/>
          </a:solidFill>
          <a:ln w="12700">
            <a:solidFill>
              <a:srgbClr val="B4B4B4"/>
            </a:solidFill>
            <a:prstDash val="solid"/>
          </a:ln>
        </p:spPr>
      </p:sp>
      <p:sp>
        <p:nvSpPr>
          <p:cNvPr id="18" name="Shape 16"/>
          <p:cNvSpPr/>
          <p:nvPr/>
        </p:nvSpPr>
        <p:spPr>
          <a:xfrm>
            <a:off x="4083710" y="2670048"/>
            <a:ext cx="153619" cy="153619"/>
          </a:xfrm>
          <a:prstGeom prst="ellipse">
            <a:avLst/>
          </a:prstGeom>
          <a:solidFill>
            <a:srgbClr val="B4B4B4"/>
          </a:solidFill>
          <a:ln w="12700">
            <a:solidFill>
              <a:srgbClr val="B4B4B4"/>
            </a:solidFill>
            <a:prstDash val="solid"/>
          </a:ln>
        </p:spPr>
      </p:sp>
      <p:sp>
        <p:nvSpPr>
          <p:cNvPr id="19" name="Shape 17"/>
          <p:cNvSpPr/>
          <p:nvPr/>
        </p:nvSpPr>
        <p:spPr>
          <a:xfrm>
            <a:off x="4051706" y="2785262"/>
            <a:ext cx="217627" cy="281635"/>
          </a:xfrm>
          <a:prstGeom prst="roundRect">
            <a:avLst>
              <a:gd name="adj" fmla="val 67227"/>
            </a:avLst>
          </a:prstGeom>
          <a:solidFill>
            <a:srgbClr val="B4B4B4"/>
          </a:solidFill>
          <a:ln w="12700">
            <a:solidFill>
              <a:srgbClr val="B4B4B4"/>
            </a:solidFill>
            <a:prstDash val="solid"/>
          </a:ln>
        </p:spPr>
      </p:sp>
      <p:sp>
        <p:nvSpPr>
          <p:cNvPr id="20" name="Shape 18"/>
          <p:cNvSpPr/>
          <p:nvPr/>
        </p:nvSpPr>
        <p:spPr>
          <a:xfrm>
            <a:off x="1461211" y="3456432"/>
            <a:ext cx="186538" cy="186538"/>
          </a:xfrm>
          <a:prstGeom prst="ellipse">
            <a:avLst/>
          </a:prstGeom>
          <a:solidFill>
            <a:srgbClr val="B4B4B4"/>
          </a:solidFill>
          <a:ln w="12700">
            <a:solidFill>
              <a:srgbClr val="B4B4B4"/>
            </a:solidFill>
            <a:prstDash val="solid"/>
          </a:ln>
        </p:spPr>
      </p:sp>
      <p:sp>
        <p:nvSpPr>
          <p:cNvPr id="21" name="Shape 19"/>
          <p:cNvSpPr/>
          <p:nvPr/>
        </p:nvSpPr>
        <p:spPr>
          <a:xfrm>
            <a:off x="1422349" y="3596335"/>
            <a:ext cx="264262" cy="341986"/>
          </a:xfrm>
          <a:prstGeom prst="roundRect">
            <a:avLst>
              <a:gd name="adj" fmla="val 55363"/>
            </a:avLst>
          </a:prstGeom>
          <a:solidFill>
            <a:srgbClr val="B4B4B4"/>
          </a:solidFill>
          <a:ln w="12700">
            <a:solidFill>
              <a:srgbClr val="B4B4B4"/>
            </a:solidFill>
            <a:prstDash val="solid"/>
          </a:ln>
        </p:spPr>
      </p:sp>
      <p:sp>
        <p:nvSpPr>
          <p:cNvPr id="22" name="Shape 20"/>
          <p:cNvSpPr/>
          <p:nvPr/>
        </p:nvSpPr>
        <p:spPr>
          <a:xfrm>
            <a:off x="2275027" y="3273552"/>
            <a:ext cx="296266" cy="296266"/>
          </a:xfrm>
          <a:prstGeom prst="ellipse">
            <a:avLst/>
          </a:prstGeom>
          <a:solidFill>
            <a:srgbClr val="B4B4B4"/>
          </a:solidFill>
          <a:ln w="12700">
            <a:solidFill>
              <a:srgbClr val="B4B4B4"/>
            </a:solidFill>
            <a:prstDash val="solid"/>
          </a:ln>
        </p:spPr>
      </p:sp>
      <p:sp>
        <p:nvSpPr>
          <p:cNvPr id="23" name="Shape 21"/>
          <p:cNvSpPr/>
          <p:nvPr/>
        </p:nvSpPr>
        <p:spPr>
          <a:xfrm>
            <a:off x="2213305" y="3495751"/>
            <a:ext cx="419710" cy="543154"/>
          </a:xfrm>
          <a:prstGeom prst="roundRect">
            <a:avLst>
              <a:gd name="adj" fmla="val 34858"/>
            </a:avLst>
          </a:prstGeom>
          <a:solidFill>
            <a:srgbClr val="B4B4B4"/>
          </a:solidFill>
          <a:ln w="12700">
            <a:solidFill>
              <a:srgbClr val="B4B4B4"/>
            </a:solidFill>
            <a:prstDash val="solid"/>
          </a:ln>
        </p:spPr>
      </p:sp>
      <p:sp>
        <p:nvSpPr>
          <p:cNvPr id="24" name="Shape 22"/>
          <p:cNvSpPr/>
          <p:nvPr/>
        </p:nvSpPr>
        <p:spPr>
          <a:xfrm>
            <a:off x="3187598" y="3419856"/>
            <a:ext cx="208483" cy="208483"/>
          </a:xfrm>
          <a:prstGeom prst="ellipse">
            <a:avLst/>
          </a:prstGeom>
          <a:solidFill>
            <a:srgbClr val="B4B4B4"/>
          </a:solidFill>
          <a:ln w="12700">
            <a:solidFill>
              <a:srgbClr val="B4B4B4"/>
            </a:solidFill>
            <a:prstDash val="solid"/>
          </a:ln>
        </p:spPr>
      </p:sp>
      <p:sp>
        <p:nvSpPr>
          <p:cNvPr id="25" name="Shape 23"/>
          <p:cNvSpPr/>
          <p:nvPr/>
        </p:nvSpPr>
        <p:spPr>
          <a:xfrm>
            <a:off x="3144164" y="3576218"/>
            <a:ext cx="295351" cy="382219"/>
          </a:xfrm>
          <a:prstGeom prst="roundRect">
            <a:avLst>
              <a:gd name="adj" fmla="val 49536"/>
            </a:avLst>
          </a:prstGeom>
          <a:solidFill>
            <a:srgbClr val="B4B4B4"/>
          </a:solidFill>
          <a:ln w="12700">
            <a:solidFill>
              <a:srgbClr val="B4B4B4"/>
            </a:solidFill>
            <a:prstDash val="solid"/>
          </a:ln>
        </p:spPr>
      </p:sp>
      <p:sp>
        <p:nvSpPr>
          <p:cNvPr id="26" name="Shape 24"/>
          <p:cNvSpPr/>
          <p:nvPr/>
        </p:nvSpPr>
        <p:spPr>
          <a:xfrm>
            <a:off x="4028846" y="3328416"/>
            <a:ext cx="263347" cy="263347"/>
          </a:xfrm>
          <a:prstGeom prst="ellipse">
            <a:avLst/>
          </a:prstGeom>
          <a:solidFill>
            <a:srgbClr val="B4B4B4"/>
          </a:solidFill>
          <a:ln w="12700">
            <a:solidFill>
              <a:srgbClr val="B4B4B4"/>
            </a:solidFill>
            <a:prstDash val="solid"/>
          </a:ln>
        </p:spPr>
      </p:sp>
      <p:sp>
        <p:nvSpPr>
          <p:cNvPr id="27" name="Shape 25"/>
          <p:cNvSpPr/>
          <p:nvPr/>
        </p:nvSpPr>
        <p:spPr>
          <a:xfrm>
            <a:off x="3973982" y="3525926"/>
            <a:ext cx="373075" cy="482803"/>
          </a:xfrm>
          <a:prstGeom prst="roundRect">
            <a:avLst>
              <a:gd name="adj" fmla="val 39216"/>
            </a:avLst>
          </a:prstGeom>
          <a:solidFill>
            <a:srgbClr val="B4B4B4"/>
          </a:solidFill>
          <a:ln w="12700">
            <a:solidFill>
              <a:srgbClr val="B4B4B4"/>
            </a:solidFill>
            <a:prstDash val="solid"/>
          </a:ln>
        </p:spPr>
      </p:sp>
      <p:sp>
        <p:nvSpPr>
          <p:cNvPr id="28" name="Shape 26"/>
          <p:cNvSpPr/>
          <p:nvPr/>
        </p:nvSpPr>
        <p:spPr>
          <a:xfrm>
            <a:off x="1428293" y="4187952"/>
            <a:ext cx="252374" cy="252374"/>
          </a:xfrm>
          <a:prstGeom prst="ellipse">
            <a:avLst/>
          </a:prstGeom>
          <a:solidFill>
            <a:srgbClr val="B4B4B4"/>
          </a:solidFill>
          <a:ln w="12700">
            <a:solidFill>
              <a:srgbClr val="B4B4B4"/>
            </a:solidFill>
            <a:prstDash val="solid"/>
          </a:ln>
        </p:spPr>
      </p:sp>
      <p:sp>
        <p:nvSpPr>
          <p:cNvPr id="29" name="Shape 27"/>
          <p:cNvSpPr/>
          <p:nvPr/>
        </p:nvSpPr>
        <p:spPr>
          <a:xfrm>
            <a:off x="1375715" y="4377233"/>
            <a:ext cx="357530" cy="462686"/>
          </a:xfrm>
          <a:prstGeom prst="roundRect">
            <a:avLst>
              <a:gd name="adj" fmla="val 40921"/>
            </a:avLst>
          </a:prstGeom>
          <a:solidFill>
            <a:srgbClr val="B4B4B4"/>
          </a:solidFill>
          <a:ln w="12700">
            <a:solidFill>
              <a:srgbClr val="B4B4B4"/>
            </a:solidFill>
            <a:prstDash val="solid"/>
          </a:ln>
        </p:spPr>
      </p:sp>
      <p:sp>
        <p:nvSpPr>
          <p:cNvPr id="30" name="Shape 28"/>
          <p:cNvSpPr/>
          <p:nvPr/>
        </p:nvSpPr>
        <p:spPr>
          <a:xfrm>
            <a:off x="2340864" y="4334256"/>
            <a:ext cx="164592" cy="164592"/>
          </a:xfrm>
          <a:prstGeom prst="ellipse">
            <a:avLst/>
          </a:prstGeom>
          <a:solidFill>
            <a:srgbClr val="B4B4B4"/>
          </a:solidFill>
          <a:ln w="12700">
            <a:solidFill>
              <a:srgbClr val="B4B4B4"/>
            </a:solidFill>
            <a:prstDash val="solid"/>
          </a:ln>
        </p:spPr>
      </p:sp>
      <p:sp>
        <p:nvSpPr>
          <p:cNvPr id="31" name="Shape 29"/>
          <p:cNvSpPr/>
          <p:nvPr/>
        </p:nvSpPr>
        <p:spPr>
          <a:xfrm>
            <a:off x="2306574" y="4457700"/>
            <a:ext cx="233172" cy="301752"/>
          </a:xfrm>
          <a:prstGeom prst="roundRect">
            <a:avLst>
              <a:gd name="adj" fmla="val 62745"/>
            </a:avLst>
          </a:prstGeom>
          <a:solidFill>
            <a:srgbClr val="B4B4B4"/>
          </a:solidFill>
          <a:ln w="12700">
            <a:solidFill>
              <a:srgbClr val="B4B4B4"/>
            </a:solidFill>
            <a:prstDash val="solid"/>
          </a:ln>
        </p:spPr>
      </p:sp>
      <p:sp>
        <p:nvSpPr>
          <p:cNvPr id="32" name="Shape 30"/>
          <p:cNvSpPr/>
          <p:nvPr/>
        </p:nvSpPr>
        <p:spPr>
          <a:xfrm>
            <a:off x="3138221" y="4096512"/>
            <a:ext cx="307238" cy="307238"/>
          </a:xfrm>
          <a:prstGeom prst="ellipse">
            <a:avLst/>
          </a:prstGeom>
          <a:solidFill>
            <a:srgbClr val="B4B4B4"/>
          </a:solidFill>
          <a:ln w="12700">
            <a:solidFill>
              <a:srgbClr val="B4B4B4"/>
            </a:solidFill>
            <a:prstDash val="solid"/>
          </a:ln>
        </p:spPr>
      </p:sp>
      <p:sp>
        <p:nvSpPr>
          <p:cNvPr id="33" name="Shape 31"/>
          <p:cNvSpPr/>
          <p:nvPr/>
        </p:nvSpPr>
        <p:spPr>
          <a:xfrm>
            <a:off x="3074213" y="4326941"/>
            <a:ext cx="435254" cy="563270"/>
          </a:xfrm>
          <a:prstGeom prst="roundRect">
            <a:avLst>
              <a:gd name="adj" fmla="val 33613"/>
            </a:avLst>
          </a:prstGeom>
          <a:solidFill>
            <a:srgbClr val="B4B4B4"/>
          </a:solidFill>
          <a:ln w="12700">
            <a:solidFill>
              <a:srgbClr val="B4B4B4"/>
            </a:solidFill>
            <a:prstDash val="solid"/>
          </a:ln>
        </p:spPr>
      </p:sp>
      <p:sp>
        <p:nvSpPr>
          <p:cNvPr id="34" name="Shape 32"/>
          <p:cNvSpPr/>
          <p:nvPr/>
        </p:nvSpPr>
        <p:spPr>
          <a:xfrm>
            <a:off x="4061765" y="4279392"/>
            <a:ext cx="197510" cy="197510"/>
          </a:xfrm>
          <a:prstGeom prst="ellipse">
            <a:avLst/>
          </a:prstGeom>
          <a:solidFill>
            <a:srgbClr val="B4B4B4"/>
          </a:solidFill>
          <a:ln w="12700">
            <a:solidFill>
              <a:srgbClr val="B4B4B4"/>
            </a:solidFill>
            <a:prstDash val="solid"/>
          </a:ln>
        </p:spPr>
      </p:sp>
      <p:sp>
        <p:nvSpPr>
          <p:cNvPr id="35" name="Shape 33"/>
          <p:cNvSpPr/>
          <p:nvPr/>
        </p:nvSpPr>
        <p:spPr>
          <a:xfrm>
            <a:off x="4020617" y="4427525"/>
            <a:ext cx="279806" cy="362102"/>
          </a:xfrm>
          <a:prstGeom prst="roundRect">
            <a:avLst>
              <a:gd name="adj" fmla="val 52288"/>
            </a:avLst>
          </a:prstGeom>
          <a:solidFill>
            <a:srgbClr val="B4B4B4"/>
          </a:solidFill>
          <a:ln w="12700">
            <a:solidFill>
              <a:srgbClr val="B4B4B4"/>
            </a:solidFill>
            <a:prstDash val="solid"/>
          </a:ln>
        </p:spPr>
      </p:sp>
      <p:sp>
        <p:nvSpPr>
          <p:cNvPr id="36" name="Text 34"/>
          <p:cNvSpPr/>
          <p:nvPr/>
        </p:nvSpPr>
        <p:spPr>
          <a:xfrm>
            <a:off x="5212080" y="2743200"/>
            <a:ext cx="1828800" cy="640080"/>
          </a:xfrm>
          <a:prstGeom prst="rect">
            <a:avLst/>
          </a:prstGeom>
          <a:noFill/>
          <a:ln/>
        </p:spPr>
        <p:txBody>
          <a:bodyPr wrap="square" lIns="0" tIns="0" rIns="0" bIns="0" rtlCol="0" anchor="ctr"/>
          <a:lstStyle/>
          <a:p>
            <a:pPr algn="ctr" indent="0" marL="0">
              <a:buNone/>
            </a:pPr>
            <a:r>
              <a:rPr lang="en-US" sz="1300" b="1" dirty="0">
                <a:solidFill>
                  <a:srgbClr val="21918C"/>
                </a:solidFill>
                <a:latin typeface="Calibri" pitchFamily="34" charset="0"/>
                <a:ea typeface="Calibri" pitchFamily="34" charset="-122"/>
                <a:cs typeface="Calibri" pitchFamily="34" charset="-120"/>
              </a:rPr>
              <a:t>design-weighted</a:t>
            </a:r>
            <a:endParaRPr lang="en-US" sz="1300" dirty="0"/>
          </a:p>
          <a:p>
            <a:pPr algn="ctr" indent="0" marL="0">
              <a:buNone/>
            </a:pPr>
            <a:r>
              <a:rPr lang="en-US" sz="1300" b="1" dirty="0">
                <a:solidFill>
                  <a:srgbClr val="21918C"/>
                </a:solidFill>
                <a:latin typeface="Calibri" pitchFamily="34" charset="0"/>
                <a:ea typeface="Calibri" pitchFamily="34" charset="-122"/>
                <a:cs typeface="Calibri" pitchFamily="34" charset="-120"/>
              </a:rPr>
              <a:t>latent class model</a:t>
            </a:r>
            <a:endParaRPr lang="en-US" sz="1300" dirty="0"/>
          </a:p>
        </p:txBody>
      </p:sp>
      <p:sp>
        <p:nvSpPr>
          <p:cNvPr id="37" name="Shape 35"/>
          <p:cNvSpPr/>
          <p:nvPr/>
        </p:nvSpPr>
        <p:spPr>
          <a:xfrm>
            <a:off x="5532120" y="3474720"/>
            <a:ext cx="1188720" cy="256032"/>
          </a:xfrm>
          <a:prstGeom prst="rightArrow">
            <a:avLst/>
          </a:prstGeom>
          <a:solidFill>
            <a:srgbClr val="21918C"/>
          </a:solidFill>
          <a:ln/>
        </p:spPr>
      </p:sp>
      <p:sp>
        <p:nvSpPr>
          <p:cNvPr id="38" name="Text 36"/>
          <p:cNvSpPr/>
          <p:nvPr/>
        </p:nvSpPr>
        <p:spPr>
          <a:xfrm>
            <a:off x="5120640" y="3840480"/>
            <a:ext cx="2011680" cy="640080"/>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weights in the likelihood</a:t>
            </a:r>
            <a:endParaRPr lang="en-US" sz="1100" dirty="0"/>
          </a:p>
          <a:p>
            <a:pPr algn="ctr" indent="0" marL="0">
              <a:buNone/>
            </a:pPr>
            <a:r>
              <a:rPr lang="en-US" sz="1100" dirty="0">
                <a:solidFill>
                  <a:srgbClr val="6B6B6B"/>
                </a:solidFill>
                <a:latin typeface="Calibri" pitchFamily="34" charset="0"/>
                <a:ea typeface="Calibri" pitchFamily="34" charset="-122"/>
                <a:cs typeface="Calibri" pitchFamily="34" charset="-120"/>
              </a:rPr>
              <a:t>strata and PSUs in the variance</a:t>
            </a:r>
            <a:endParaRPr lang="en-US" sz="1100" dirty="0"/>
          </a:p>
        </p:txBody>
      </p:sp>
      <p:sp>
        <p:nvSpPr>
          <p:cNvPr id="39" name="Shape 37"/>
          <p:cNvSpPr/>
          <p:nvPr/>
        </p:nvSpPr>
        <p:spPr>
          <a:xfrm>
            <a:off x="7269480" y="1554480"/>
            <a:ext cx="4206240" cy="3566160"/>
          </a:xfrm>
          <a:prstGeom prst="roundRect">
            <a:avLst>
              <a:gd name="adj" fmla="val 1282"/>
            </a:avLst>
          </a:prstGeom>
          <a:solidFill>
            <a:srgbClr val="FFFFFF"/>
          </a:solidFill>
          <a:ln w="12700">
            <a:solidFill>
              <a:srgbClr val="E4E4E4"/>
            </a:solidFill>
            <a:prstDash val="solid"/>
          </a:ln>
        </p:spPr>
      </p:sp>
      <p:sp>
        <p:nvSpPr>
          <p:cNvPr id="40" name="Text 38"/>
          <p:cNvSpPr/>
          <p:nvPr/>
        </p:nvSpPr>
        <p:spPr>
          <a:xfrm>
            <a:off x="7543800" y="1737360"/>
            <a:ext cx="3657600" cy="274320"/>
          </a:xfrm>
          <a:prstGeom prst="rect">
            <a:avLst/>
          </a:prstGeom>
          <a:noFill/>
          <a:ln/>
        </p:spPr>
        <p:txBody>
          <a:bodyPr wrap="square" lIns="0" tIns="0" rIns="0" bIns="0" rtlCol="0" anchor="ctr"/>
          <a:lstStyle/>
          <a:p>
            <a:pPr indent="0" marL="0">
              <a:buNone/>
            </a:pPr>
            <a:r>
              <a:rPr lang="en-US" sz="1300" b="1" spc="100" kern="0" dirty="0">
                <a:solidFill>
                  <a:srgbClr val="440154"/>
                </a:solidFill>
                <a:latin typeface="Calibri" pitchFamily="34" charset="0"/>
                <a:ea typeface="Calibri" pitchFamily="34" charset="-122"/>
                <a:cs typeface="Calibri" pitchFamily="34" charset="-120"/>
              </a:rPr>
              <a:t>THE POPULATION</a:t>
            </a:r>
            <a:endParaRPr lang="en-US" sz="1300" dirty="0"/>
          </a:p>
        </p:txBody>
      </p:sp>
      <p:sp>
        <p:nvSpPr>
          <p:cNvPr id="41" name="Text 39"/>
          <p:cNvSpPr/>
          <p:nvPr/>
        </p:nvSpPr>
        <p:spPr>
          <a:xfrm>
            <a:off x="7543800" y="2249424"/>
            <a:ext cx="914400" cy="329184"/>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Group 1</a:t>
            </a:r>
            <a:endParaRPr lang="en-US" sz="1100" dirty="0"/>
          </a:p>
        </p:txBody>
      </p:sp>
      <p:sp>
        <p:nvSpPr>
          <p:cNvPr id="42" name="Shape 40"/>
          <p:cNvSpPr/>
          <p:nvPr/>
        </p:nvSpPr>
        <p:spPr>
          <a:xfrm>
            <a:off x="8549640" y="2304288"/>
            <a:ext cx="2231136" cy="219456"/>
          </a:xfrm>
          <a:prstGeom prst="roundRect">
            <a:avLst>
              <a:gd name="adj" fmla="val 41667"/>
            </a:avLst>
          </a:prstGeom>
          <a:solidFill>
            <a:srgbClr val="440154"/>
          </a:solidFill>
          <a:ln w="12700">
            <a:solidFill>
              <a:srgbClr val="440154"/>
            </a:solidFill>
            <a:prstDash val="solid"/>
          </a:ln>
        </p:spPr>
      </p:sp>
      <p:sp>
        <p:nvSpPr>
          <p:cNvPr id="43" name="Shape 41"/>
          <p:cNvSpPr/>
          <p:nvPr/>
        </p:nvSpPr>
        <p:spPr>
          <a:xfrm>
            <a:off x="10539374" y="2414016"/>
            <a:ext cx="482803" cy="10973"/>
          </a:xfrm>
          <a:prstGeom prst="rect">
            <a:avLst/>
          </a:prstGeom>
          <a:solidFill>
            <a:srgbClr val="8C8C8C"/>
          </a:solidFill>
          <a:ln w="12700">
            <a:solidFill>
              <a:srgbClr val="8C8C8C"/>
            </a:solidFill>
            <a:prstDash val="solid"/>
          </a:ln>
        </p:spPr>
      </p:sp>
      <p:sp>
        <p:nvSpPr>
          <p:cNvPr id="44" name="Shape 42"/>
          <p:cNvSpPr/>
          <p:nvPr/>
        </p:nvSpPr>
        <p:spPr>
          <a:xfrm>
            <a:off x="10539374" y="2340864"/>
            <a:ext cx="10973" cy="146304"/>
          </a:xfrm>
          <a:prstGeom prst="rect">
            <a:avLst/>
          </a:prstGeom>
          <a:solidFill>
            <a:srgbClr val="8C8C8C"/>
          </a:solidFill>
          <a:ln w="12700">
            <a:solidFill>
              <a:srgbClr val="8C8C8C"/>
            </a:solidFill>
            <a:prstDash val="solid"/>
          </a:ln>
        </p:spPr>
      </p:sp>
      <p:sp>
        <p:nvSpPr>
          <p:cNvPr id="45" name="Shape 43"/>
          <p:cNvSpPr/>
          <p:nvPr/>
        </p:nvSpPr>
        <p:spPr>
          <a:xfrm>
            <a:off x="11022178" y="2340864"/>
            <a:ext cx="10973" cy="146304"/>
          </a:xfrm>
          <a:prstGeom prst="rect">
            <a:avLst/>
          </a:prstGeom>
          <a:solidFill>
            <a:srgbClr val="8C8C8C"/>
          </a:solidFill>
          <a:ln w="12700">
            <a:solidFill>
              <a:srgbClr val="8C8C8C"/>
            </a:solidFill>
            <a:prstDash val="solid"/>
          </a:ln>
        </p:spPr>
      </p:sp>
      <p:sp>
        <p:nvSpPr>
          <p:cNvPr id="46" name="Text 44"/>
          <p:cNvSpPr/>
          <p:nvPr/>
        </p:nvSpPr>
        <p:spPr>
          <a:xfrm>
            <a:off x="7543800" y="2761488"/>
            <a:ext cx="914400" cy="329184"/>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Group 2</a:t>
            </a:r>
            <a:endParaRPr lang="en-US" sz="1100" dirty="0"/>
          </a:p>
        </p:txBody>
      </p:sp>
      <p:sp>
        <p:nvSpPr>
          <p:cNvPr id="47" name="Shape 45"/>
          <p:cNvSpPr/>
          <p:nvPr/>
        </p:nvSpPr>
        <p:spPr>
          <a:xfrm>
            <a:off x="8549640" y="2816352"/>
            <a:ext cx="1719072" cy="219456"/>
          </a:xfrm>
          <a:prstGeom prst="roundRect">
            <a:avLst>
              <a:gd name="adj" fmla="val 41667"/>
            </a:avLst>
          </a:prstGeom>
          <a:solidFill>
            <a:srgbClr val="3B528B"/>
          </a:solidFill>
          <a:ln w="12700">
            <a:solidFill>
              <a:srgbClr val="3B528B"/>
            </a:solidFill>
            <a:prstDash val="solid"/>
          </a:ln>
        </p:spPr>
      </p:sp>
      <p:sp>
        <p:nvSpPr>
          <p:cNvPr id="48" name="Shape 46"/>
          <p:cNvSpPr/>
          <p:nvPr/>
        </p:nvSpPr>
        <p:spPr>
          <a:xfrm>
            <a:off x="10049256" y="2926080"/>
            <a:ext cx="438912" cy="10973"/>
          </a:xfrm>
          <a:prstGeom prst="rect">
            <a:avLst/>
          </a:prstGeom>
          <a:solidFill>
            <a:srgbClr val="8C8C8C"/>
          </a:solidFill>
          <a:ln w="12700">
            <a:solidFill>
              <a:srgbClr val="8C8C8C"/>
            </a:solidFill>
            <a:prstDash val="solid"/>
          </a:ln>
        </p:spPr>
      </p:sp>
      <p:sp>
        <p:nvSpPr>
          <p:cNvPr id="49" name="Shape 47"/>
          <p:cNvSpPr/>
          <p:nvPr/>
        </p:nvSpPr>
        <p:spPr>
          <a:xfrm>
            <a:off x="10049256" y="2852928"/>
            <a:ext cx="10973" cy="146304"/>
          </a:xfrm>
          <a:prstGeom prst="rect">
            <a:avLst/>
          </a:prstGeom>
          <a:solidFill>
            <a:srgbClr val="8C8C8C"/>
          </a:solidFill>
          <a:ln w="12700">
            <a:solidFill>
              <a:srgbClr val="8C8C8C"/>
            </a:solidFill>
            <a:prstDash val="solid"/>
          </a:ln>
        </p:spPr>
      </p:sp>
      <p:sp>
        <p:nvSpPr>
          <p:cNvPr id="50" name="Shape 48"/>
          <p:cNvSpPr/>
          <p:nvPr/>
        </p:nvSpPr>
        <p:spPr>
          <a:xfrm>
            <a:off x="10488168" y="2852928"/>
            <a:ext cx="10973" cy="146304"/>
          </a:xfrm>
          <a:prstGeom prst="rect">
            <a:avLst/>
          </a:prstGeom>
          <a:solidFill>
            <a:srgbClr val="8C8C8C"/>
          </a:solidFill>
          <a:ln w="12700">
            <a:solidFill>
              <a:srgbClr val="8C8C8C"/>
            </a:solidFill>
            <a:prstDash val="solid"/>
          </a:ln>
        </p:spPr>
      </p:sp>
      <p:sp>
        <p:nvSpPr>
          <p:cNvPr id="51" name="Text 49"/>
          <p:cNvSpPr/>
          <p:nvPr/>
        </p:nvSpPr>
        <p:spPr>
          <a:xfrm>
            <a:off x="7543800" y="3273552"/>
            <a:ext cx="914400" cy="329184"/>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Group 3</a:t>
            </a:r>
            <a:endParaRPr lang="en-US" sz="1100" dirty="0"/>
          </a:p>
        </p:txBody>
      </p:sp>
      <p:sp>
        <p:nvSpPr>
          <p:cNvPr id="52" name="Shape 50"/>
          <p:cNvSpPr/>
          <p:nvPr/>
        </p:nvSpPr>
        <p:spPr>
          <a:xfrm>
            <a:off x="8549640" y="3328416"/>
            <a:ext cx="1316736" cy="219456"/>
          </a:xfrm>
          <a:prstGeom prst="roundRect">
            <a:avLst>
              <a:gd name="adj" fmla="val 41667"/>
            </a:avLst>
          </a:prstGeom>
          <a:solidFill>
            <a:srgbClr val="21918C"/>
          </a:solidFill>
          <a:ln w="12700">
            <a:solidFill>
              <a:srgbClr val="21918C"/>
            </a:solidFill>
            <a:prstDash val="solid"/>
          </a:ln>
        </p:spPr>
      </p:sp>
      <p:sp>
        <p:nvSpPr>
          <p:cNvPr id="53" name="Shape 51"/>
          <p:cNvSpPr/>
          <p:nvPr/>
        </p:nvSpPr>
        <p:spPr>
          <a:xfrm>
            <a:off x="9661550" y="3438144"/>
            <a:ext cx="409651" cy="10973"/>
          </a:xfrm>
          <a:prstGeom prst="rect">
            <a:avLst/>
          </a:prstGeom>
          <a:solidFill>
            <a:srgbClr val="8C8C8C"/>
          </a:solidFill>
          <a:ln w="12700">
            <a:solidFill>
              <a:srgbClr val="8C8C8C"/>
            </a:solidFill>
            <a:prstDash val="solid"/>
          </a:ln>
        </p:spPr>
      </p:sp>
      <p:sp>
        <p:nvSpPr>
          <p:cNvPr id="54" name="Shape 52"/>
          <p:cNvSpPr/>
          <p:nvPr/>
        </p:nvSpPr>
        <p:spPr>
          <a:xfrm>
            <a:off x="9661550" y="3364992"/>
            <a:ext cx="10973" cy="146304"/>
          </a:xfrm>
          <a:prstGeom prst="rect">
            <a:avLst/>
          </a:prstGeom>
          <a:solidFill>
            <a:srgbClr val="8C8C8C"/>
          </a:solidFill>
          <a:ln w="12700">
            <a:solidFill>
              <a:srgbClr val="8C8C8C"/>
            </a:solidFill>
            <a:prstDash val="solid"/>
          </a:ln>
        </p:spPr>
      </p:sp>
      <p:sp>
        <p:nvSpPr>
          <p:cNvPr id="55" name="Shape 53"/>
          <p:cNvSpPr/>
          <p:nvPr/>
        </p:nvSpPr>
        <p:spPr>
          <a:xfrm>
            <a:off x="10071202" y="3364992"/>
            <a:ext cx="10973" cy="146304"/>
          </a:xfrm>
          <a:prstGeom prst="rect">
            <a:avLst/>
          </a:prstGeom>
          <a:solidFill>
            <a:srgbClr val="8C8C8C"/>
          </a:solidFill>
          <a:ln w="12700">
            <a:solidFill>
              <a:srgbClr val="8C8C8C"/>
            </a:solidFill>
            <a:prstDash val="solid"/>
          </a:ln>
        </p:spPr>
      </p:sp>
      <p:sp>
        <p:nvSpPr>
          <p:cNvPr id="56" name="Text 54"/>
          <p:cNvSpPr/>
          <p:nvPr/>
        </p:nvSpPr>
        <p:spPr>
          <a:xfrm>
            <a:off x="7543800" y="3785616"/>
            <a:ext cx="914400" cy="329184"/>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Group 4</a:t>
            </a:r>
            <a:endParaRPr lang="en-US" sz="1100" dirty="0"/>
          </a:p>
        </p:txBody>
      </p:sp>
      <p:sp>
        <p:nvSpPr>
          <p:cNvPr id="57" name="Shape 55"/>
          <p:cNvSpPr/>
          <p:nvPr/>
        </p:nvSpPr>
        <p:spPr>
          <a:xfrm>
            <a:off x="8549640" y="3840480"/>
            <a:ext cx="936346" cy="219456"/>
          </a:xfrm>
          <a:prstGeom prst="roundRect">
            <a:avLst>
              <a:gd name="adj" fmla="val 41667"/>
            </a:avLst>
          </a:prstGeom>
          <a:solidFill>
            <a:srgbClr val="5EC962"/>
          </a:solidFill>
          <a:ln w="12700">
            <a:solidFill>
              <a:srgbClr val="5EC962"/>
            </a:solidFill>
            <a:prstDash val="solid"/>
          </a:ln>
        </p:spPr>
      </p:sp>
      <p:sp>
        <p:nvSpPr>
          <p:cNvPr id="58" name="Shape 56"/>
          <p:cNvSpPr/>
          <p:nvPr/>
        </p:nvSpPr>
        <p:spPr>
          <a:xfrm>
            <a:off x="9303106" y="3950208"/>
            <a:ext cx="365760" cy="10973"/>
          </a:xfrm>
          <a:prstGeom prst="rect">
            <a:avLst/>
          </a:prstGeom>
          <a:solidFill>
            <a:srgbClr val="8C8C8C"/>
          </a:solidFill>
          <a:ln w="12700">
            <a:solidFill>
              <a:srgbClr val="8C8C8C"/>
            </a:solidFill>
            <a:prstDash val="solid"/>
          </a:ln>
        </p:spPr>
      </p:sp>
      <p:sp>
        <p:nvSpPr>
          <p:cNvPr id="59" name="Shape 57"/>
          <p:cNvSpPr/>
          <p:nvPr/>
        </p:nvSpPr>
        <p:spPr>
          <a:xfrm>
            <a:off x="9303106" y="3877056"/>
            <a:ext cx="10973" cy="146304"/>
          </a:xfrm>
          <a:prstGeom prst="rect">
            <a:avLst/>
          </a:prstGeom>
          <a:solidFill>
            <a:srgbClr val="8C8C8C"/>
          </a:solidFill>
          <a:ln w="12700">
            <a:solidFill>
              <a:srgbClr val="8C8C8C"/>
            </a:solidFill>
            <a:prstDash val="solid"/>
          </a:ln>
        </p:spPr>
      </p:sp>
      <p:sp>
        <p:nvSpPr>
          <p:cNvPr id="60" name="Shape 58"/>
          <p:cNvSpPr/>
          <p:nvPr/>
        </p:nvSpPr>
        <p:spPr>
          <a:xfrm>
            <a:off x="9668866" y="3877056"/>
            <a:ext cx="10973" cy="146304"/>
          </a:xfrm>
          <a:prstGeom prst="rect">
            <a:avLst/>
          </a:prstGeom>
          <a:solidFill>
            <a:srgbClr val="8C8C8C"/>
          </a:solidFill>
          <a:ln w="12700">
            <a:solidFill>
              <a:srgbClr val="8C8C8C"/>
            </a:solidFill>
            <a:prstDash val="solid"/>
          </a:ln>
        </p:spPr>
      </p:sp>
      <p:sp>
        <p:nvSpPr>
          <p:cNvPr id="61" name="Text 59"/>
          <p:cNvSpPr/>
          <p:nvPr/>
        </p:nvSpPr>
        <p:spPr>
          <a:xfrm>
            <a:off x="7543800" y="4297680"/>
            <a:ext cx="914400" cy="329184"/>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Group 5</a:t>
            </a:r>
            <a:endParaRPr lang="en-US" sz="1100" dirty="0"/>
          </a:p>
        </p:txBody>
      </p:sp>
      <p:sp>
        <p:nvSpPr>
          <p:cNvPr id="62" name="Shape 60"/>
          <p:cNvSpPr/>
          <p:nvPr/>
        </p:nvSpPr>
        <p:spPr>
          <a:xfrm>
            <a:off x="8549640" y="4352544"/>
            <a:ext cx="599846" cy="219456"/>
          </a:xfrm>
          <a:prstGeom prst="roundRect">
            <a:avLst>
              <a:gd name="adj" fmla="val 41667"/>
            </a:avLst>
          </a:prstGeom>
          <a:solidFill>
            <a:srgbClr val="BBA800"/>
          </a:solidFill>
          <a:ln w="12700">
            <a:solidFill>
              <a:srgbClr val="BBA800"/>
            </a:solidFill>
            <a:prstDash val="solid"/>
          </a:ln>
        </p:spPr>
      </p:sp>
      <p:sp>
        <p:nvSpPr>
          <p:cNvPr id="63" name="Shape 61"/>
          <p:cNvSpPr/>
          <p:nvPr/>
        </p:nvSpPr>
        <p:spPr>
          <a:xfrm>
            <a:off x="8988552" y="4462272"/>
            <a:ext cx="321869" cy="10973"/>
          </a:xfrm>
          <a:prstGeom prst="rect">
            <a:avLst/>
          </a:prstGeom>
          <a:solidFill>
            <a:srgbClr val="8C8C8C"/>
          </a:solidFill>
          <a:ln w="12700">
            <a:solidFill>
              <a:srgbClr val="8C8C8C"/>
            </a:solidFill>
            <a:prstDash val="solid"/>
          </a:ln>
        </p:spPr>
      </p:sp>
      <p:sp>
        <p:nvSpPr>
          <p:cNvPr id="64" name="Shape 62"/>
          <p:cNvSpPr/>
          <p:nvPr/>
        </p:nvSpPr>
        <p:spPr>
          <a:xfrm>
            <a:off x="8988552" y="4389120"/>
            <a:ext cx="10973" cy="146304"/>
          </a:xfrm>
          <a:prstGeom prst="rect">
            <a:avLst/>
          </a:prstGeom>
          <a:solidFill>
            <a:srgbClr val="8C8C8C"/>
          </a:solidFill>
          <a:ln w="12700">
            <a:solidFill>
              <a:srgbClr val="8C8C8C"/>
            </a:solidFill>
            <a:prstDash val="solid"/>
          </a:ln>
        </p:spPr>
      </p:sp>
      <p:sp>
        <p:nvSpPr>
          <p:cNvPr id="65" name="Shape 63"/>
          <p:cNvSpPr/>
          <p:nvPr/>
        </p:nvSpPr>
        <p:spPr>
          <a:xfrm>
            <a:off x="9310421" y="4389120"/>
            <a:ext cx="10973" cy="146304"/>
          </a:xfrm>
          <a:prstGeom prst="rect">
            <a:avLst/>
          </a:prstGeom>
          <a:solidFill>
            <a:srgbClr val="8C8C8C"/>
          </a:solidFill>
          <a:ln w="12700">
            <a:solidFill>
              <a:srgbClr val="8C8C8C"/>
            </a:solidFill>
            <a:prstDash val="solid"/>
          </a:ln>
        </p:spPr>
      </p:sp>
      <p:sp>
        <p:nvSpPr>
          <p:cNvPr id="66" name="Text 64"/>
          <p:cNvSpPr/>
          <p:nvPr/>
        </p:nvSpPr>
        <p:spPr>
          <a:xfrm>
            <a:off x="7543800" y="4754880"/>
            <a:ext cx="3840480" cy="274320"/>
          </a:xfrm>
          <a:prstGeom prst="rect">
            <a:avLst/>
          </a:prstGeom>
          <a:noFill/>
          <a:ln/>
        </p:spPr>
        <p:txBody>
          <a:bodyPr wrap="square" lIns="0" tIns="0" rIns="0" bIns="0" rtlCol="0" anchor="ctr"/>
          <a:lstStyle/>
          <a:p>
            <a:pPr indent="0" marL="0">
              <a:buNone/>
            </a:pPr>
            <a:r>
              <a:rPr lang="en-US" sz="1100" dirty="0">
                <a:solidFill>
                  <a:srgbClr val="6B6B6B"/>
                </a:solidFill>
                <a:latin typeface="Calibri" pitchFamily="34" charset="0"/>
                <a:ea typeface="Calibri" pitchFamily="34" charset="-122"/>
                <a:cs typeface="Calibri" pitchFamily="34" charset="-120"/>
              </a:rPr>
              <a:t>share of the population, with its jackknife interval</a:t>
            </a:r>
            <a:endParaRPr lang="en-US" sz="1100" dirty="0"/>
          </a:p>
        </p:txBody>
      </p:sp>
      <p:sp>
        <p:nvSpPr>
          <p:cNvPr id="67" name="Text 65"/>
          <p:cNvSpPr/>
          <p:nvPr/>
        </p:nvSpPr>
        <p:spPr>
          <a:xfrm>
            <a:off x="685800" y="5486400"/>
            <a:ext cx="10789920" cy="457200"/>
          </a:xfrm>
          <a:prstGeom prst="rect">
            <a:avLst/>
          </a:prstGeom>
          <a:noFill/>
          <a:ln/>
        </p:spPr>
        <p:txBody>
          <a:bodyPr wrap="square" lIns="0" tIns="0" rIns="0" bIns="0" rtlCol="0" anchor="ctr"/>
          <a:lstStyle/>
          <a:p>
            <a:pPr indent="0" marL="0">
              <a:buNone/>
            </a:pPr>
            <a:r>
              <a:rPr lang="en-US" sz="1500" dirty="0">
                <a:solidFill>
                  <a:srgbClr val="1F1F1F"/>
                </a:solidFill>
                <a:latin typeface="Calibri" pitchFamily="34" charset="0"/>
                <a:ea typeface="Calibri" pitchFamily="34" charset="-122"/>
                <a:cs typeface="Calibri" pitchFamily="34" charset="-120"/>
              </a:rPr>
              <a:t>The interval is the deliverable. </a:t>
            </a:r>
            <a:pPr indent="0" marL="0">
              <a:buNone/>
            </a:pPr>
            <a:r>
              <a:rPr lang="en-US" sz="1500" b="1" dirty="0">
                <a:solidFill>
                  <a:srgbClr val="440154"/>
                </a:solidFill>
                <a:latin typeface="Calibri" pitchFamily="34" charset="0"/>
                <a:ea typeface="Calibri" pitchFamily="34" charset="-122"/>
                <a:cs typeface="Calibri" pitchFamily="34" charset="-120"/>
              </a:rPr>
              <a:t>A partition has nowhere to get one from.</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23</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How many groups is a judgment, not an output</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AND WE SHOW OUR WORK</a:t>
            </a:r>
            <a:endParaRPr lang="en-US" sz="1000" dirty="0"/>
          </a:p>
        </p:txBody>
      </p:sp>
      <p:pic>
        <p:nvPicPr>
          <p:cNvPr id="9" name="Image 0" descr="img/p17.png">    </p:cNvPr>
          <p:cNvPicPr>
            <a:picLocks noChangeAspect="1"/>
          </p:cNvPicPr>
          <p:nvPr/>
        </p:nvPicPr>
        <p:blipFill>
          <a:blip r:embed="rId1"/>
          <a:stretch>
            <a:fillRect/>
          </a:stretch>
        </p:blipFill>
        <p:spPr>
          <a:xfrm>
            <a:off x="960120" y="1600200"/>
            <a:ext cx="10241280" cy="3090672"/>
          </a:xfrm>
          <a:prstGeom prst="rect">
            <a:avLst/>
          </a:prstGeom>
        </p:spPr>
      </p:pic>
      <p:sp>
        <p:nvSpPr>
          <p:cNvPr id="10" name="Shape 7"/>
          <p:cNvSpPr/>
          <p:nvPr/>
        </p:nvSpPr>
        <p:spPr>
          <a:xfrm>
            <a:off x="685800" y="4937760"/>
            <a:ext cx="10789920" cy="658368"/>
          </a:xfrm>
          <a:prstGeom prst="roundRect">
            <a:avLst>
              <a:gd name="adj" fmla="val 6944"/>
            </a:avLst>
          </a:prstGeom>
          <a:solidFill>
            <a:srgbClr val="E8F3F2"/>
          </a:solidFill>
          <a:ln w="12700">
            <a:solidFill>
              <a:srgbClr val="E8F3F2"/>
            </a:solidFill>
            <a:prstDash val="solid"/>
          </a:ln>
        </p:spPr>
      </p:sp>
      <p:sp>
        <p:nvSpPr>
          <p:cNvPr id="11" name="Text 8"/>
          <p:cNvSpPr/>
          <p:nvPr/>
        </p:nvSpPr>
        <p:spPr>
          <a:xfrm>
            <a:off x="960120" y="4937760"/>
            <a:ext cx="10241280" cy="658368"/>
          </a:xfrm>
          <a:prstGeom prst="rect">
            <a:avLst/>
          </a:prstGeom>
          <a:noFill/>
          <a:ln/>
        </p:spPr>
        <p:txBody>
          <a:bodyPr wrap="square" lIns="0" tIns="0" rIns="0" bIns="0" rtlCol="0" anchor="ctr"/>
          <a:lstStyle/>
          <a:p>
            <a:pPr indent="0" marL="0">
              <a:buNone/>
            </a:pPr>
            <a:r>
              <a:rPr lang="en-US" sz="1500" dirty="0">
                <a:solidFill>
                  <a:srgbClr val="1F1F1F"/>
                </a:solidFill>
                <a:latin typeface="Calibri" pitchFamily="34" charset="0"/>
                <a:ea typeface="Calibri" pitchFamily="34" charset="-122"/>
                <a:cs typeface="Calibri" pitchFamily="34" charset="-120"/>
              </a:rPr>
              <a:t>Five and six fit almost equally well. We took five. </a:t>
            </a:r>
            <a:pPr indent="0" marL="0">
              <a:buNone/>
            </a:pPr>
            <a:r>
              <a:rPr lang="en-US" sz="1500" b="1" dirty="0">
                <a:solidFill>
                  <a:srgbClr val="440154"/>
                </a:solidFill>
                <a:latin typeface="Calibri" pitchFamily="34" charset="0"/>
                <a:ea typeface="Calibri" pitchFamily="34" charset="-122"/>
                <a:cs typeface="Calibri" pitchFamily="34" charset="-120"/>
              </a:rPr>
              <a:t>The software never picks this.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Here's real data: two opposite publics scored identically</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PROOF, ON REAL DATA</a:t>
            </a:r>
            <a:endParaRPr lang="en-US" sz="1000" dirty="0"/>
          </a:p>
        </p:txBody>
      </p:sp>
      <p:pic>
        <p:nvPicPr>
          <p:cNvPr id="9" name="Image 0" descr="img/p18.png">    </p:cNvPr>
          <p:cNvPicPr>
            <a:picLocks noChangeAspect="1"/>
          </p:cNvPicPr>
          <p:nvPr/>
        </p:nvPicPr>
        <p:blipFill>
          <a:blip r:embed="rId1"/>
          <a:stretch>
            <a:fillRect/>
          </a:stretch>
        </p:blipFill>
        <p:spPr>
          <a:xfrm>
            <a:off x="914400" y="1554480"/>
            <a:ext cx="10332720" cy="3913632"/>
          </a:xfrm>
          <a:prstGeom prst="rect">
            <a:avLst/>
          </a:prstGeom>
        </p:spPr>
      </p:pic>
      <p:sp>
        <p:nvSpPr>
          <p:cNvPr id="10" name="Text 7"/>
          <p:cNvSpPr/>
          <p:nvPr/>
        </p:nvSpPr>
        <p:spPr>
          <a:xfrm>
            <a:off x="685800" y="5577840"/>
            <a:ext cx="10789920" cy="457200"/>
          </a:xfrm>
          <a:prstGeom prst="rect">
            <a:avLst/>
          </a:prstGeom>
          <a:noFill/>
          <a:ln/>
        </p:spPr>
        <p:txBody>
          <a:bodyPr wrap="square" lIns="0" tIns="0" rIns="0" bIns="0" rtlCol="0" anchor="ctr"/>
          <a:lstStyle/>
          <a:p>
            <a:pPr indent="0" marL="0">
              <a:buNone/>
            </a:pPr>
            <a:r>
              <a:rPr lang="en-US" sz="1500" dirty="0">
                <a:solidFill>
                  <a:srgbClr val="1F1F1F"/>
                </a:solidFill>
                <a:latin typeface="Calibri" pitchFamily="34" charset="0"/>
                <a:ea typeface="Calibri" pitchFamily="34" charset="-122"/>
                <a:cs typeface="Calibri" pitchFamily="34" charset="-120"/>
              </a:rPr>
              <a:t>Two of the five segments land at </a:t>
            </a:r>
            <a:pPr indent="0" marL="0">
              <a:buNone/>
            </a:pPr>
            <a:r>
              <a:rPr lang="en-US" sz="1500" b="1" dirty="0">
                <a:solidFill>
                  <a:srgbClr val="440154"/>
                </a:solidFill>
                <a:latin typeface="Calibri" pitchFamily="34" charset="0"/>
                <a:ea typeface="Calibri" pitchFamily="34" charset="-122"/>
                <a:cs typeface="Calibri" pitchFamily="34" charset="-120"/>
              </a:rPr>
              <a:t>nearly the same overall trust score, but trust completely different institutions</a:t>
            </a:r>
            <a:pPr indent="0" marL="0">
              <a:buNone/>
            </a:pPr>
            <a:r>
              <a:rPr lang="en-US" sz="1500" dirty="0">
                <a:solidFill>
                  <a:srgbClr val="1F1F1F"/>
                </a:solidFill>
                <a:latin typeface="Calibri" pitchFamily="34" charset="0"/>
                <a:ea typeface="Calibri" pitchFamily="34" charset="-122"/>
                <a:cs typeface="Calibri" pitchFamily="34" charset="-120"/>
              </a:rPr>
              <a:t>. A single scale could never have told them apart.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How sure we are about each segment's size</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UNCERTAINTY, IN DETAIL</a:t>
            </a:r>
            <a:endParaRPr lang="en-US" sz="1000" dirty="0"/>
          </a:p>
        </p:txBody>
      </p:sp>
      <p:pic>
        <p:nvPicPr>
          <p:cNvPr id="9" name="Image 0" descr="img/p19.png">    </p:cNvPr>
          <p:cNvPicPr>
            <a:picLocks noChangeAspect="1"/>
          </p:cNvPicPr>
          <p:nvPr/>
        </p:nvPicPr>
        <p:blipFill>
          <a:blip r:embed="rId1"/>
          <a:stretch>
            <a:fillRect/>
          </a:stretch>
        </p:blipFill>
        <p:spPr>
          <a:xfrm>
            <a:off x="960120" y="1600200"/>
            <a:ext cx="10241280" cy="2971800"/>
          </a:xfrm>
          <a:prstGeom prst="rect">
            <a:avLst/>
          </a:prstGeom>
        </p:spPr>
      </p:pic>
      <p:sp>
        <p:nvSpPr>
          <p:cNvPr id="10" name="Shape 7"/>
          <p:cNvSpPr/>
          <p:nvPr/>
        </p:nvSpPr>
        <p:spPr>
          <a:xfrm>
            <a:off x="685800" y="4800600"/>
            <a:ext cx="10789920" cy="777240"/>
          </a:xfrm>
          <a:prstGeom prst="roundRect">
            <a:avLst>
              <a:gd name="adj" fmla="val 5882"/>
            </a:avLst>
          </a:prstGeom>
          <a:solidFill>
            <a:srgbClr val="E8F3F2"/>
          </a:solidFill>
          <a:ln w="12700">
            <a:solidFill>
              <a:srgbClr val="E8F3F2"/>
            </a:solidFill>
            <a:prstDash val="solid"/>
          </a:ln>
        </p:spPr>
      </p:sp>
      <p:sp>
        <p:nvSpPr>
          <p:cNvPr id="11" name="Text 8"/>
          <p:cNvSpPr/>
          <p:nvPr/>
        </p:nvSpPr>
        <p:spPr>
          <a:xfrm>
            <a:off x="960120" y="4800600"/>
            <a:ext cx="10241280" cy="777240"/>
          </a:xfrm>
          <a:prstGeom prst="rect">
            <a:avLst/>
          </a:prstGeom>
          <a:noFill/>
          <a:ln/>
        </p:spPr>
        <p:txBody>
          <a:bodyPr wrap="square" lIns="0" tIns="0" rIns="0" bIns="0" rtlCol="0" anchor="ctr"/>
          <a:lstStyle/>
          <a:p>
            <a:pPr indent="0" marL="0">
              <a:buNone/>
            </a:pPr>
            <a:r>
              <a:rPr lang="en-US" sz="1400" dirty="0">
                <a:solidFill>
                  <a:srgbClr val="1F1F1F"/>
                </a:solidFill>
                <a:latin typeface="Calibri" pitchFamily="34" charset="0"/>
                <a:ea typeface="Calibri" pitchFamily="34" charset="-122"/>
                <a:cs typeface="Calibri" pitchFamily="34" charset="-120"/>
              </a:rPr>
              <a:t>The solid dots count people the way they were actually reached. The hollow diamonds pretend everyone counted equally. Here the two nearly agree — but we cannot know that in advance, so we check every time. </a:t>
            </a:r>
            <a:pPr indent="0" marL="0">
              <a:buNone/>
            </a:pPr>
            <a:r>
              <a:rPr lang="en-US" sz="1400" b="1" dirty="0">
                <a:solidFill>
                  <a:srgbClr val="440154"/>
                </a:solidFill>
                <a:latin typeface="Calibri" pitchFamily="34" charset="0"/>
                <a:ea typeface="Calibri" pitchFamily="34" charset="-122"/>
                <a:cs typeface="Calibri" pitchFamily="34" charset="-120"/>
              </a:rPr>
              <a:t>Skip that check, and an ordinary-looking gap between two groups can be reported as real when it is just noise.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16</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Classification correction keeps contrasts honest</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PROFILING, CORRECTED</a:t>
            </a:r>
            <a:endParaRPr lang="en-US" sz="1000" dirty="0"/>
          </a:p>
        </p:txBody>
      </p:sp>
      <p:pic>
        <p:nvPicPr>
          <p:cNvPr id="9" name="Image 0" descr="img/p20.png">    </p:cNvPr>
          <p:cNvPicPr>
            <a:picLocks noChangeAspect="1"/>
          </p:cNvPicPr>
          <p:nvPr/>
        </p:nvPicPr>
        <p:blipFill>
          <a:blip r:embed="rId1"/>
          <a:stretch>
            <a:fillRect/>
          </a:stretch>
        </p:blipFill>
        <p:spPr>
          <a:xfrm>
            <a:off x="960120" y="1600200"/>
            <a:ext cx="10241280" cy="3502152"/>
          </a:xfrm>
          <a:prstGeom prst="rect">
            <a:avLst/>
          </a:prstGeom>
        </p:spPr>
      </p:pic>
      <p:sp>
        <p:nvSpPr>
          <p:cNvPr id="10" name="Text 7"/>
          <p:cNvSpPr/>
          <p:nvPr/>
        </p:nvSpPr>
        <p:spPr>
          <a:xfrm>
            <a:off x="685800" y="5394960"/>
            <a:ext cx="10789920" cy="457200"/>
          </a:xfrm>
          <a:prstGeom prst="rect">
            <a:avLst/>
          </a:prstGeom>
          <a:noFill/>
          <a:ln/>
        </p:spPr>
        <p:txBody>
          <a:bodyPr wrap="square" lIns="0" tIns="0" rIns="0" bIns="0" rtlCol="0" anchor="ctr"/>
          <a:lstStyle/>
          <a:p>
            <a:pPr indent="0" marL="0">
              <a:buNone/>
            </a:pPr>
            <a:r>
              <a:rPr lang="en-US" sz="1500" dirty="0">
                <a:solidFill>
                  <a:srgbClr val="1F1F1F"/>
                </a:solidFill>
                <a:latin typeface="Calibri" pitchFamily="34" charset="0"/>
                <a:ea typeface="Calibri" pitchFamily="34" charset="-122"/>
                <a:cs typeface="Calibri" pitchFamily="34" charset="-120"/>
              </a:rPr>
              <a:t>Corrected for classification error, so the contrasts are not diluted by people sitting in the wrong group.</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17</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AI may draft a label; it never decides a number</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A RULE, NOT A ONE-OFF</a:t>
            </a:r>
            <a:endParaRPr lang="en-US" sz="1000" dirty="0"/>
          </a:p>
        </p:txBody>
      </p:sp>
      <p:sp>
        <p:nvSpPr>
          <p:cNvPr id="9" name="Shape 7"/>
          <p:cNvSpPr/>
          <p:nvPr/>
        </p:nvSpPr>
        <p:spPr>
          <a:xfrm>
            <a:off x="685800" y="1600200"/>
            <a:ext cx="5212080" cy="2651760"/>
          </a:xfrm>
          <a:prstGeom prst="roundRect">
            <a:avLst>
              <a:gd name="adj" fmla="val 1724"/>
            </a:avLst>
          </a:prstGeom>
          <a:solidFill>
            <a:srgbClr val="E9F7EC"/>
          </a:solidFill>
          <a:ln w="12700">
            <a:solidFill>
              <a:srgbClr val="E9F7EC"/>
            </a:solidFill>
            <a:prstDash val="solid"/>
          </a:ln>
        </p:spPr>
      </p:sp>
      <p:sp>
        <p:nvSpPr>
          <p:cNvPr id="10" name="Text 8"/>
          <p:cNvSpPr/>
          <p:nvPr/>
        </p:nvSpPr>
        <p:spPr>
          <a:xfrm>
            <a:off x="1005840" y="1828800"/>
            <a:ext cx="4572000" cy="320040"/>
          </a:xfrm>
          <a:prstGeom prst="rect">
            <a:avLst/>
          </a:prstGeom>
          <a:noFill/>
          <a:ln/>
        </p:spPr>
        <p:txBody>
          <a:bodyPr wrap="square" lIns="0" tIns="0" rIns="0" bIns="0" rtlCol="0" anchor="ctr"/>
          <a:lstStyle/>
          <a:p>
            <a:pPr indent="0" marL="0">
              <a:buNone/>
            </a:pPr>
            <a:r>
              <a:rPr lang="en-US" sz="1700" b="1" dirty="0">
                <a:solidFill>
                  <a:srgbClr val="440154"/>
                </a:solidFill>
                <a:latin typeface="Calibri" pitchFamily="34" charset="0"/>
                <a:ea typeface="Calibri" pitchFamily="34" charset="-122"/>
                <a:cs typeface="Calibri" pitchFamily="34" charset="-120"/>
              </a:rPr>
              <a:t>A model may draft</a:t>
            </a:r>
            <a:endParaRPr lang="en-US" sz="1700" dirty="0"/>
          </a:p>
        </p:txBody>
      </p:sp>
      <p:sp>
        <p:nvSpPr>
          <p:cNvPr id="11" name="Shape 9"/>
          <p:cNvSpPr/>
          <p:nvPr/>
        </p:nvSpPr>
        <p:spPr>
          <a:xfrm>
            <a:off x="1051560" y="2377440"/>
            <a:ext cx="182880" cy="182880"/>
          </a:xfrm>
          <a:prstGeom prst="ellipse">
            <a:avLst/>
          </a:prstGeom>
          <a:solidFill>
            <a:srgbClr val="5EC962"/>
          </a:solidFill>
          <a:ln/>
        </p:spPr>
      </p:sp>
      <p:sp>
        <p:nvSpPr>
          <p:cNvPr id="12" name="Text 10"/>
          <p:cNvSpPr/>
          <p:nvPr/>
        </p:nvSpPr>
        <p:spPr>
          <a:xfrm>
            <a:off x="1399032" y="2286000"/>
            <a:ext cx="4297680" cy="365760"/>
          </a:xfrm>
          <a:prstGeom prst="rect">
            <a:avLst/>
          </a:prstGeom>
          <a:noFill/>
          <a:ln/>
        </p:spPr>
        <p:txBody>
          <a:bodyPr wrap="square" lIns="0" tIns="0" rIns="0" bIns="0" rtlCol="0" anchor="ctr"/>
          <a:lstStyle/>
          <a:p>
            <a:pPr indent="0" marL="0">
              <a:buNone/>
            </a:pPr>
            <a:r>
              <a:rPr lang="en-US" sz="1400" dirty="0">
                <a:solidFill>
                  <a:srgbClr val="1F1F1F"/>
                </a:solidFill>
                <a:latin typeface="Calibri" pitchFamily="34" charset="0"/>
                <a:ea typeface="Calibri" pitchFamily="34" charset="-122"/>
                <a:cs typeface="Calibri" pitchFamily="34" charset="-120"/>
              </a:rPr>
              <a:t>A candidate name for each group</a:t>
            </a:r>
            <a:endParaRPr lang="en-US" sz="1400" dirty="0"/>
          </a:p>
        </p:txBody>
      </p:sp>
      <p:sp>
        <p:nvSpPr>
          <p:cNvPr id="13" name="Shape 11"/>
          <p:cNvSpPr/>
          <p:nvPr/>
        </p:nvSpPr>
        <p:spPr>
          <a:xfrm>
            <a:off x="1051560" y="2926080"/>
            <a:ext cx="182880" cy="182880"/>
          </a:xfrm>
          <a:prstGeom prst="ellipse">
            <a:avLst/>
          </a:prstGeom>
          <a:solidFill>
            <a:srgbClr val="5EC962"/>
          </a:solidFill>
          <a:ln/>
        </p:spPr>
      </p:sp>
      <p:sp>
        <p:nvSpPr>
          <p:cNvPr id="14" name="Text 12"/>
          <p:cNvSpPr/>
          <p:nvPr/>
        </p:nvSpPr>
        <p:spPr>
          <a:xfrm>
            <a:off x="1399032" y="2834640"/>
            <a:ext cx="4297680" cy="365760"/>
          </a:xfrm>
          <a:prstGeom prst="rect">
            <a:avLst/>
          </a:prstGeom>
          <a:noFill/>
          <a:ln/>
        </p:spPr>
        <p:txBody>
          <a:bodyPr wrap="square" lIns="0" tIns="0" rIns="0" bIns="0" rtlCol="0" anchor="ctr"/>
          <a:lstStyle/>
          <a:p>
            <a:pPr indent="0" marL="0">
              <a:buNone/>
            </a:pPr>
            <a:r>
              <a:rPr lang="en-US" sz="1400" dirty="0">
                <a:solidFill>
                  <a:srgbClr val="1F1F1F"/>
                </a:solidFill>
                <a:latin typeface="Calibri" pitchFamily="34" charset="0"/>
                <a:ea typeface="Calibri" pitchFamily="34" charset="-122"/>
                <a:cs typeface="Calibri" pitchFamily="34" charset="-120"/>
              </a:rPr>
              <a:t>From the estimated numbers only</a:t>
            </a:r>
            <a:endParaRPr lang="en-US" sz="1400" dirty="0"/>
          </a:p>
        </p:txBody>
      </p:sp>
      <p:sp>
        <p:nvSpPr>
          <p:cNvPr id="15" name="Shape 13"/>
          <p:cNvSpPr/>
          <p:nvPr/>
        </p:nvSpPr>
        <p:spPr>
          <a:xfrm>
            <a:off x="1051560" y="3474720"/>
            <a:ext cx="182880" cy="182880"/>
          </a:xfrm>
          <a:prstGeom prst="ellipse">
            <a:avLst/>
          </a:prstGeom>
          <a:solidFill>
            <a:srgbClr val="5EC962"/>
          </a:solidFill>
          <a:ln/>
        </p:spPr>
      </p:sp>
      <p:sp>
        <p:nvSpPr>
          <p:cNvPr id="16" name="Text 14"/>
          <p:cNvSpPr/>
          <p:nvPr/>
        </p:nvSpPr>
        <p:spPr>
          <a:xfrm>
            <a:off x="1399032" y="3383280"/>
            <a:ext cx="4297680" cy="365760"/>
          </a:xfrm>
          <a:prstGeom prst="rect">
            <a:avLst/>
          </a:prstGeom>
          <a:noFill/>
          <a:ln/>
        </p:spPr>
        <p:txBody>
          <a:bodyPr wrap="square" lIns="0" tIns="0" rIns="0" bIns="0" rtlCol="0" anchor="ctr"/>
          <a:lstStyle/>
          <a:p>
            <a:pPr indent="0" marL="0">
              <a:buNone/>
            </a:pPr>
            <a:r>
              <a:rPr lang="en-US" sz="1400" dirty="0">
                <a:solidFill>
                  <a:srgbClr val="1F1F1F"/>
                </a:solidFill>
                <a:latin typeface="Calibri" pitchFamily="34" charset="0"/>
                <a:ea typeface="Calibri" pitchFamily="34" charset="-122"/>
                <a:cs typeface="Calibri" pitchFamily="34" charset="-120"/>
              </a:rPr>
              <a:t>Into a file the analyst owns and edits</a:t>
            </a:r>
            <a:endParaRPr lang="en-US" sz="1400" dirty="0"/>
          </a:p>
        </p:txBody>
      </p:sp>
      <p:sp>
        <p:nvSpPr>
          <p:cNvPr id="17" name="Shape 15"/>
          <p:cNvSpPr/>
          <p:nvPr/>
        </p:nvSpPr>
        <p:spPr>
          <a:xfrm>
            <a:off x="6537960" y="1600200"/>
            <a:ext cx="4937760" cy="2651760"/>
          </a:xfrm>
          <a:prstGeom prst="roundRect">
            <a:avLst>
              <a:gd name="adj" fmla="val 1724"/>
            </a:avLst>
          </a:prstGeom>
          <a:solidFill>
            <a:srgbClr val="F1EBF4"/>
          </a:solidFill>
          <a:ln w="12700">
            <a:solidFill>
              <a:srgbClr val="F1EBF4"/>
            </a:solidFill>
            <a:prstDash val="solid"/>
          </a:ln>
        </p:spPr>
      </p:sp>
      <p:sp>
        <p:nvSpPr>
          <p:cNvPr id="18" name="Text 16"/>
          <p:cNvSpPr/>
          <p:nvPr/>
        </p:nvSpPr>
        <p:spPr>
          <a:xfrm>
            <a:off x="6858000" y="1828800"/>
            <a:ext cx="4389120" cy="320040"/>
          </a:xfrm>
          <a:prstGeom prst="rect">
            <a:avLst/>
          </a:prstGeom>
          <a:noFill/>
          <a:ln/>
        </p:spPr>
        <p:txBody>
          <a:bodyPr wrap="square" lIns="0" tIns="0" rIns="0" bIns="0" rtlCol="0" anchor="ctr"/>
          <a:lstStyle/>
          <a:p>
            <a:pPr indent="0" marL="0">
              <a:buNone/>
            </a:pPr>
            <a:r>
              <a:rPr lang="en-US" sz="1700" b="1" dirty="0">
                <a:solidFill>
                  <a:srgbClr val="440154"/>
                </a:solidFill>
                <a:latin typeface="Calibri" pitchFamily="34" charset="0"/>
                <a:ea typeface="Calibri" pitchFamily="34" charset="-122"/>
                <a:cs typeface="Calibri" pitchFamily="34" charset="-120"/>
              </a:rPr>
              <a:t>It never decides</a:t>
            </a:r>
            <a:endParaRPr lang="en-US" sz="1700" dirty="0"/>
          </a:p>
        </p:txBody>
      </p:sp>
      <p:sp>
        <p:nvSpPr>
          <p:cNvPr id="19" name="Shape 17"/>
          <p:cNvSpPr/>
          <p:nvPr/>
        </p:nvSpPr>
        <p:spPr>
          <a:xfrm>
            <a:off x="6903720" y="2377440"/>
            <a:ext cx="182880" cy="182880"/>
          </a:xfrm>
          <a:prstGeom prst="ellipse">
            <a:avLst/>
          </a:prstGeom>
          <a:solidFill>
            <a:srgbClr val="440154"/>
          </a:solidFill>
          <a:ln/>
        </p:spPr>
      </p:sp>
      <p:sp>
        <p:nvSpPr>
          <p:cNvPr id="20" name="Text 18"/>
          <p:cNvSpPr/>
          <p:nvPr/>
        </p:nvSpPr>
        <p:spPr>
          <a:xfrm>
            <a:off x="7251192" y="2286000"/>
            <a:ext cx="4023360" cy="365760"/>
          </a:xfrm>
          <a:prstGeom prst="rect">
            <a:avLst/>
          </a:prstGeom>
          <a:noFill/>
          <a:ln/>
        </p:spPr>
        <p:txBody>
          <a:bodyPr wrap="square" lIns="0" tIns="0" rIns="0" bIns="0" rtlCol="0" anchor="ctr"/>
          <a:lstStyle/>
          <a:p>
            <a:pPr indent="0" marL="0">
              <a:buNone/>
            </a:pPr>
            <a:r>
              <a:rPr lang="en-US" sz="1400" dirty="0">
                <a:solidFill>
                  <a:srgbClr val="1F1F1F"/>
                </a:solidFill>
                <a:latin typeface="Calibri" pitchFamily="34" charset="0"/>
                <a:ea typeface="Calibri" pitchFamily="34" charset="-122"/>
                <a:cs typeface="Calibri" pitchFamily="34" charset="-120"/>
              </a:rPr>
              <a:t>How many groups there are</a:t>
            </a:r>
            <a:endParaRPr lang="en-US" sz="1400" dirty="0"/>
          </a:p>
        </p:txBody>
      </p:sp>
      <p:sp>
        <p:nvSpPr>
          <p:cNvPr id="21" name="Shape 19"/>
          <p:cNvSpPr/>
          <p:nvPr/>
        </p:nvSpPr>
        <p:spPr>
          <a:xfrm>
            <a:off x="6903720" y="2926080"/>
            <a:ext cx="182880" cy="182880"/>
          </a:xfrm>
          <a:prstGeom prst="ellipse">
            <a:avLst/>
          </a:prstGeom>
          <a:solidFill>
            <a:srgbClr val="440154"/>
          </a:solidFill>
          <a:ln/>
        </p:spPr>
      </p:sp>
      <p:sp>
        <p:nvSpPr>
          <p:cNvPr id="22" name="Text 20"/>
          <p:cNvSpPr/>
          <p:nvPr/>
        </p:nvSpPr>
        <p:spPr>
          <a:xfrm>
            <a:off x="7251192" y="2834640"/>
            <a:ext cx="4023360" cy="365760"/>
          </a:xfrm>
          <a:prstGeom prst="rect">
            <a:avLst/>
          </a:prstGeom>
          <a:noFill/>
          <a:ln/>
        </p:spPr>
        <p:txBody>
          <a:bodyPr wrap="square" lIns="0" tIns="0" rIns="0" bIns="0" rtlCol="0" anchor="ctr"/>
          <a:lstStyle/>
          <a:p>
            <a:pPr indent="0" marL="0">
              <a:buNone/>
            </a:pPr>
            <a:r>
              <a:rPr lang="en-US" sz="1400" dirty="0">
                <a:solidFill>
                  <a:srgbClr val="1F1F1F"/>
                </a:solidFill>
                <a:latin typeface="Calibri" pitchFamily="34" charset="0"/>
                <a:ea typeface="Calibri" pitchFamily="34" charset="-122"/>
                <a:cs typeface="Calibri" pitchFamily="34" charset="-120"/>
              </a:rPr>
              <a:t>Which items to keep or drop</a:t>
            </a:r>
            <a:endParaRPr lang="en-US" sz="1400" dirty="0"/>
          </a:p>
        </p:txBody>
      </p:sp>
      <p:sp>
        <p:nvSpPr>
          <p:cNvPr id="23" name="Shape 21"/>
          <p:cNvSpPr/>
          <p:nvPr/>
        </p:nvSpPr>
        <p:spPr>
          <a:xfrm>
            <a:off x="6903720" y="3474720"/>
            <a:ext cx="182880" cy="182880"/>
          </a:xfrm>
          <a:prstGeom prst="ellipse">
            <a:avLst/>
          </a:prstGeom>
          <a:solidFill>
            <a:srgbClr val="440154"/>
          </a:solidFill>
          <a:ln/>
        </p:spPr>
      </p:sp>
      <p:sp>
        <p:nvSpPr>
          <p:cNvPr id="24" name="Text 22"/>
          <p:cNvSpPr/>
          <p:nvPr/>
        </p:nvSpPr>
        <p:spPr>
          <a:xfrm>
            <a:off x="7251192" y="3383280"/>
            <a:ext cx="4023360" cy="365760"/>
          </a:xfrm>
          <a:prstGeom prst="rect">
            <a:avLst/>
          </a:prstGeom>
          <a:noFill/>
          <a:ln/>
        </p:spPr>
        <p:txBody>
          <a:bodyPr wrap="square" lIns="0" tIns="0" rIns="0" bIns="0" rtlCol="0" anchor="ctr"/>
          <a:lstStyle/>
          <a:p>
            <a:pPr indent="0" marL="0">
              <a:buNone/>
            </a:pPr>
            <a:r>
              <a:rPr lang="en-US" sz="1400" dirty="0">
                <a:solidFill>
                  <a:srgbClr val="1F1F1F"/>
                </a:solidFill>
                <a:latin typeface="Calibri" pitchFamily="34" charset="0"/>
                <a:ea typeface="Calibri" pitchFamily="34" charset="-122"/>
                <a:cs typeface="Calibri" pitchFamily="34" charset="-120"/>
              </a:rPr>
              <a:t>Anything that appears as a finding</a:t>
            </a:r>
            <a:endParaRPr lang="en-US" sz="1400" dirty="0"/>
          </a:p>
        </p:txBody>
      </p:sp>
      <p:sp>
        <p:nvSpPr>
          <p:cNvPr id="25" name="Shape 23"/>
          <p:cNvSpPr/>
          <p:nvPr/>
        </p:nvSpPr>
        <p:spPr>
          <a:xfrm>
            <a:off x="685800" y="4526280"/>
            <a:ext cx="10789920" cy="960120"/>
          </a:xfrm>
          <a:prstGeom prst="roundRect">
            <a:avLst>
              <a:gd name="adj" fmla="val 4762"/>
            </a:avLst>
          </a:prstGeom>
          <a:solidFill>
            <a:srgbClr val="E8F3F2"/>
          </a:solidFill>
          <a:ln w="12700">
            <a:solidFill>
              <a:srgbClr val="E8F3F2"/>
            </a:solidFill>
            <a:prstDash val="solid"/>
          </a:ln>
        </p:spPr>
      </p:sp>
      <p:sp>
        <p:nvSpPr>
          <p:cNvPr id="26" name="Text 24"/>
          <p:cNvSpPr/>
          <p:nvPr/>
        </p:nvSpPr>
        <p:spPr>
          <a:xfrm>
            <a:off x="685800" y="4526280"/>
            <a:ext cx="10789920" cy="960120"/>
          </a:xfrm>
          <a:prstGeom prst="rect">
            <a:avLst/>
          </a:prstGeom>
          <a:noFill/>
          <a:ln/>
        </p:spPr>
        <p:txBody>
          <a:bodyPr wrap="square" lIns="0" tIns="0" rIns="0" bIns="0" rtlCol="0" anchor="ctr"/>
          <a:lstStyle/>
          <a:p>
            <a:pPr algn="ctr" indent="0" marL="0">
              <a:buNone/>
            </a:pPr>
            <a:r>
              <a:rPr lang="en-US" sz="1900" b="1" dirty="0">
                <a:solidFill>
                  <a:srgbClr val="440154"/>
                </a:solidFill>
                <a:latin typeface="Cambria" pitchFamily="34" charset="0"/>
                <a:ea typeface="Cambria" pitchFamily="34" charset="-122"/>
                <a:cs typeface="Cambria" pitchFamily="34" charset="-120"/>
              </a:rPr>
              <a:t>A model may draft configuration. Never a decision, never a claim about results.</a:t>
            </a:r>
            <a:endParaRPr lang="en-US" sz="1900" dirty="0"/>
          </a:p>
        </p:txBody>
      </p:sp>
      <p:sp>
        <p:nvSpPr>
          <p:cNvPr id="27" name="Text 25"/>
          <p:cNvSpPr/>
          <p:nvPr/>
        </p:nvSpPr>
        <p:spPr>
          <a:xfrm>
            <a:off x="685800" y="5669280"/>
            <a:ext cx="10789920" cy="457200"/>
          </a:xfrm>
          <a:prstGeom prst="rect">
            <a:avLst/>
          </a:prstGeom>
          <a:noFill/>
          <a:ln/>
        </p:spPr>
        <p:txBody>
          <a:bodyPr wrap="square" lIns="0" tIns="0" rIns="0" bIns="0" rtlCol="0" anchor="ctr"/>
          <a:lstStyle/>
          <a:p>
            <a:pPr indent="0" marL="0">
              <a:buNone/>
            </a:pPr>
            <a:r>
              <a:rPr lang="en-US" sz="1500" dirty="0">
                <a:solidFill>
                  <a:srgbClr val="1F1F1F"/>
                </a:solidFill>
                <a:latin typeface="Calibri" pitchFamily="34" charset="0"/>
                <a:ea typeface="Calibri" pitchFamily="34" charset="-122"/>
                <a:cs typeface="Calibri" pitchFamily="34" charset="-120"/>
              </a:rPr>
              <a:t>Nothing in this briefing rests on anything a language model wrote.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51" name="Shape 51"/>
          <p:cNvSpPr/>
          <p:nvPr/>
        </p:nvSpPr>
        <p:spPr>
          <a:xfrm>
            <a:off x="0" y="0"/>
            <a:ext cx="12161520" cy="256032"/>
          </a:xfrm>
          <a:prstGeom prst="rect">
            <a:avLst/>
          </a:prstGeom>
          <a:solidFill>
            <a:srgbClr val="006400"/>
          </a:solidFill>
          <a:ln/>
        </p:spPr>
      </p:sp>
      <p:sp>
        <p:nvSpPr>
          <p:cNvPr id="53" name="Text 53"/>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52" name="Shape 52"/>
          <p:cNvSpPr/>
          <p:nvPr/>
        </p:nvSpPr>
        <p:spPr>
          <a:xfrm>
            <a:off x="0" y="6601968"/>
            <a:ext cx="12161520" cy="256032"/>
          </a:xfrm>
          <a:prstGeom prst="rect">
            <a:avLst/>
          </a:prstGeom>
          <a:solidFill>
            <a:srgbClr val="006400"/>
          </a:solidFill>
          <a:ln/>
        </p:spPr>
      </p:sp>
      <p:sp>
        <p:nvSpPr>
          <p:cNvPr id="54" name="Text 54"/>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55" name="Text 55"/>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56" name="Text 56"/>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Here's what it takes to put this into practice</a:t>
            </a:r>
            <a:endParaRPr lang="en-US" sz="1000" dirty="0"/>
          </a:p>
        </p:txBody>
      </p:sp>
      <p:sp>
        <p:nvSpPr>
          <p:cNvPr id="57" name="Text 57"/>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GETTING STARTED</a:t>
            </a:r>
            <a:endParaRPr lang="en-US" sz="1000" dirty="0"/>
          </a:p>
        </p:txBody>
      </p:sp>
      <p:sp>
        <p:nvSpPr>
          <p:cNvPr id="58" name="Shape 58"/>
          <p:cNvSpPr/>
          <p:nvPr/>
        </p:nvSpPr>
        <p:spPr>
          <a:xfrm>
            <a:off x="685800" y="1600200"/>
            <a:ext cx="5212080" cy="2651760"/>
          </a:xfrm>
          <a:prstGeom prst="roundRect">
            <a:avLst>
              <a:gd name="adj" fmla="val 1724"/>
            </a:avLst>
          </a:prstGeom>
          <a:solidFill>
            <a:srgbClr val="E9F7EC"/>
          </a:solidFill>
          <a:ln w="12700">
            <a:solidFill>
              <a:srgbClr val="E9F7EC"/>
            </a:solidFill>
            <a:prstDash val="solid"/>
          </a:ln>
        </p:spPr>
      </p:sp>
      <p:sp>
        <p:nvSpPr>
          <p:cNvPr id="59" name="Text 59"/>
          <p:cNvSpPr/>
          <p:nvPr/>
        </p:nvSpPr>
        <p:spPr>
          <a:xfrm>
            <a:off x="1005840" y="1828800"/>
            <a:ext cx="4572000" cy="320040"/>
          </a:xfrm>
          <a:prstGeom prst="rect">
            <a:avLst/>
          </a:prstGeom>
          <a:noFill/>
          <a:ln/>
        </p:spPr>
        <p:txBody>
          <a:bodyPr wrap="square" lIns="0" tIns="0" rIns="0" bIns="0" rtlCol="0" anchor="ctr"/>
          <a:lstStyle/>
          <a:p>
            <a:pPr indent="0" marL="0">
              <a:buNone/>
            </a:pPr>
            <a:r>
              <a:rPr lang="en-US" sz="1700" b="1" dirty="0">
                <a:solidFill>
                  <a:srgbClr val="440154"/>
                </a:solidFill>
                <a:latin typeface="Calibri" pitchFamily="34" charset="0"/>
                <a:ea typeface="Calibri" pitchFamily="34" charset="-122"/>
                <a:cs typeface="Calibri" pitchFamily="34" charset="-120"/>
              </a:rPr>
              <a:t>Three ways to capture this</a:t>
            </a:r>
            <a:endParaRPr lang="en-US" sz="1000" dirty="0"/>
          </a:p>
        </p:txBody>
      </p:sp>
      <p:sp>
        <p:nvSpPr>
          <p:cNvPr id="60" name="Shape 60"/>
          <p:cNvSpPr/>
          <p:nvPr/>
        </p:nvSpPr>
        <p:spPr>
          <a:xfrm>
            <a:off x="1051560" y="2404872"/>
            <a:ext cx="182880" cy="182880"/>
          </a:xfrm>
          <a:prstGeom prst="ellipse">
            <a:avLst/>
          </a:prstGeom>
          <a:solidFill>
            <a:srgbClr val="5EC962"/>
          </a:solidFill>
          <a:ln/>
        </p:spPr>
      </p:sp>
      <p:sp>
        <p:nvSpPr>
          <p:cNvPr id="61" name="Text 61"/>
          <p:cNvSpPr/>
          <p:nvPr/>
        </p:nvSpPr>
        <p:spPr>
          <a:xfrm>
            <a:off x="1399032" y="2377440"/>
            <a:ext cx="4297680" cy="548640"/>
          </a:xfrm>
          <a:prstGeom prst="rect">
            <a:avLst/>
          </a:prstGeom>
          <a:noFill/>
          <a:ln/>
        </p:spPr>
        <p:txBody>
          <a:bodyPr wrap="square" lIns="0" tIns="0" rIns="0" bIns="0" rtlCol="0" anchor="t"/>
          <a:lstStyle/>
          <a:p>
            <a:pPr indent="0" marL="0">
              <a:buNone/>
            </a:pPr>
            <a:r>
              <a:rPr lang="en-US" sz="1400" dirty="0">
                <a:solidFill>
                  <a:srgbClr val="1F1F1F"/>
                </a:solidFill>
                <a:latin typeface="Calibri" pitchFamily="34" charset="0"/>
                <a:ea typeface="Calibri" pitchFamily="34" charset="-122"/>
                <a:cs typeface="Calibri" pitchFamily="34" charset="-120"/>
              </a:rPr>
              <a:t>A standing methods annex per account that each product links to</a:t>
            </a:r>
            <a:endParaRPr lang="en-US" sz="1000" dirty="0"/>
          </a:p>
        </p:txBody>
      </p:sp>
      <p:sp>
        <p:nvSpPr>
          <p:cNvPr id="62" name="Shape 62"/>
          <p:cNvSpPr/>
          <p:nvPr/>
        </p:nvSpPr>
        <p:spPr>
          <a:xfrm>
            <a:off x="1051560" y="2953512"/>
            <a:ext cx="182880" cy="182880"/>
          </a:xfrm>
          <a:prstGeom prst="ellipse">
            <a:avLst/>
          </a:prstGeom>
          <a:solidFill>
            <a:srgbClr val="5EC962"/>
          </a:solidFill>
          <a:ln/>
        </p:spPr>
      </p:sp>
      <p:sp>
        <p:nvSpPr>
          <p:cNvPr id="63" name="Text 63"/>
          <p:cNvSpPr/>
          <p:nvPr/>
        </p:nvSpPr>
        <p:spPr>
          <a:xfrm>
            <a:off x="1399032" y="2926080"/>
            <a:ext cx="4297680" cy="548640"/>
          </a:xfrm>
          <a:prstGeom prst="rect">
            <a:avLst/>
          </a:prstGeom>
          <a:noFill/>
          <a:ln/>
        </p:spPr>
        <p:txBody>
          <a:bodyPr wrap="square" lIns="0" tIns="0" rIns="0" bIns="0" rtlCol="0" anchor="t"/>
          <a:lstStyle/>
          <a:p>
            <a:pPr indent="0" marL="0">
              <a:buNone/>
            </a:pPr>
            <a:r>
              <a:rPr lang="en-US" sz="1400" dirty="0">
                <a:solidFill>
                  <a:srgbClr val="1F1F1F"/>
                </a:solidFill>
                <a:latin typeface="Calibri" pitchFamily="34" charset="0"/>
                <a:ea typeface="Calibri" pitchFamily="34" charset="-122"/>
                <a:cs typeface="Calibri" pitchFamily="34" charset="-120"/>
              </a:rPr>
              <a:t>A shared archive: configuration, diagnostics, frozen names, citable per run</a:t>
            </a:r>
            <a:endParaRPr lang="en-US" sz="1000" dirty="0"/>
          </a:p>
        </p:txBody>
      </p:sp>
      <p:sp>
        <p:nvSpPr>
          <p:cNvPr id="64" name="Shape 64"/>
          <p:cNvSpPr/>
          <p:nvPr/>
        </p:nvSpPr>
        <p:spPr>
          <a:xfrm>
            <a:off x="1051560" y="3502152"/>
            <a:ext cx="182880" cy="182880"/>
          </a:xfrm>
          <a:prstGeom prst="ellipse">
            <a:avLst/>
          </a:prstGeom>
          <a:solidFill>
            <a:srgbClr val="5EC962"/>
          </a:solidFill>
          <a:ln/>
        </p:spPr>
      </p:sp>
      <p:sp>
        <p:nvSpPr>
          <p:cNvPr id="65" name="Text 65"/>
          <p:cNvSpPr/>
          <p:nvPr/>
        </p:nvSpPr>
        <p:spPr>
          <a:xfrm>
            <a:off x="1399032" y="3474720"/>
            <a:ext cx="4297680" cy="548640"/>
          </a:xfrm>
          <a:prstGeom prst="rect">
            <a:avLst/>
          </a:prstGeom>
          <a:noFill/>
          <a:ln/>
        </p:spPr>
        <p:txBody>
          <a:bodyPr wrap="square" lIns="0" tIns="0" rIns="0" bIns="0" rtlCol="0" anchor="t"/>
          <a:lstStyle/>
          <a:p>
            <a:pPr indent="0" marL="0">
              <a:buNone/>
            </a:pPr>
            <a:r>
              <a:rPr lang="en-US" sz="1400" dirty="0">
                <a:solidFill>
                  <a:srgbClr val="1F1F1F"/>
                </a:solidFill>
                <a:latin typeface="Calibri" pitchFamily="34" charset="0"/>
                <a:ea typeface="Calibri" pitchFamily="34" charset="-122"/>
                <a:cs typeface="Calibri" pitchFamily="34" charset="-120"/>
              </a:rPr>
              <a:t>A one-pager that travels with the product itself</a:t>
            </a:r>
            <a:endParaRPr lang="en-US" sz="1000" dirty="0"/>
          </a:p>
        </p:txBody>
      </p:sp>
      <p:sp>
        <p:nvSpPr>
          <p:cNvPr id="66" name="Shape 66"/>
          <p:cNvSpPr/>
          <p:nvPr/>
        </p:nvSpPr>
        <p:spPr>
          <a:xfrm>
            <a:off x="6537960" y="1600200"/>
            <a:ext cx="4937760" cy="2651760"/>
          </a:xfrm>
          <a:prstGeom prst="roundRect">
            <a:avLst>
              <a:gd name="adj" fmla="val 1724"/>
            </a:avLst>
          </a:prstGeom>
          <a:solidFill>
            <a:srgbClr val="F1EBF4"/>
          </a:solidFill>
          <a:ln w="12700">
            <a:solidFill>
              <a:srgbClr val="F1EBF4"/>
            </a:solidFill>
            <a:prstDash val="solid"/>
          </a:ln>
        </p:spPr>
      </p:sp>
      <p:sp>
        <p:nvSpPr>
          <p:cNvPr id="67" name="Text 67"/>
          <p:cNvSpPr/>
          <p:nvPr/>
        </p:nvSpPr>
        <p:spPr>
          <a:xfrm>
            <a:off x="6858000" y="1828800"/>
            <a:ext cx="4389120" cy="320040"/>
          </a:xfrm>
          <a:prstGeom prst="rect">
            <a:avLst/>
          </a:prstGeom>
          <a:noFill/>
          <a:ln/>
        </p:spPr>
        <p:txBody>
          <a:bodyPr wrap="square" lIns="0" tIns="0" rIns="0" bIns="0" rtlCol="0" anchor="ctr"/>
          <a:lstStyle/>
          <a:p>
            <a:pPr indent="0" marL="0">
              <a:buNone/>
            </a:pPr>
            <a:r>
              <a:rPr lang="en-US" sz="1700" b="1" dirty="0">
                <a:solidFill>
                  <a:srgbClr val="440154"/>
                </a:solidFill>
                <a:latin typeface="Calibri" pitchFamily="34" charset="0"/>
                <a:ea typeface="Calibri" pitchFamily="34" charset="-122"/>
                <a:cs typeface="Calibri" pitchFamily="34" charset="-120"/>
              </a:rPr>
              <a:t>Questions worth settling early</a:t>
            </a:r>
            <a:endParaRPr lang="en-US" sz="1000" dirty="0"/>
          </a:p>
        </p:txBody>
      </p:sp>
      <p:sp>
        <p:nvSpPr>
          <p:cNvPr id="68" name="Shape 68"/>
          <p:cNvSpPr/>
          <p:nvPr/>
        </p:nvSpPr>
        <p:spPr>
          <a:xfrm>
            <a:off x="6903720" y="2404872"/>
            <a:ext cx="182880" cy="182880"/>
          </a:xfrm>
          <a:prstGeom prst="ellipse">
            <a:avLst/>
          </a:prstGeom>
          <a:solidFill>
            <a:srgbClr val="440154"/>
          </a:solidFill>
          <a:ln/>
        </p:spPr>
      </p:sp>
      <p:sp>
        <p:nvSpPr>
          <p:cNvPr id="69" name="Text 69"/>
          <p:cNvSpPr/>
          <p:nvPr/>
        </p:nvSpPr>
        <p:spPr>
          <a:xfrm>
            <a:off x="7251192" y="2377440"/>
            <a:ext cx="4023360" cy="548640"/>
          </a:xfrm>
          <a:prstGeom prst="rect">
            <a:avLst/>
          </a:prstGeom>
          <a:noFill/>
          <a:ln/>
        </p:spPr>
        <p:txBody>
          <a:bodyPr wrap="square" lIns="0" tIns="0" rIns="0" bIns="0" rtlCol="0" anchor="t"/>
          <a:lstStyle/>
          <a:p>
            <a:pPr indent="0" marL="0">
              <a:buNone/>
            </a:pPr>
            <a:r>
              <a:rPr lang="en-US" sz="1400" dirty="0">
                <a:solidFill>
                  <a:srgbClr val="1F1F1F"/>
                </a:solidFill>
                <a:latin typeface="Calibri" pitchFamily="34" charset="0"/>
                <a:ea typeface="Calibri" pitchFamily="34" charset="-122"/>
                <a:cs typeface="Calibri" pitchFamily="34" charset="-120"/>
              </a:rPr>
              <a:t>What must be preserved to reproduce a published number two years from now?</a:t>
            </a:r>
            <a:endParaRPr lang="en-US" sz="1000" dirty="0"/>
          </a:p>
        </p:txBody>
      </p:sp>
      <p:sp>
        <p:nvSpPr>
          <p:cNvPr id="70" name="Shape 70"/>
          <p:cNvSpPr/>
          <p:nvPr/>
        </p:nvSpPr>
        <p:spPr>
          <a:xfrm>
            <a:off x="6903720" y="2953512"/>
            <a:ext cx="182880" cy="182880"/>
          </a:xfrm>
          <a:prstGeom prst="ellipse">
            <a:avLst/>
          </a:prstGeom>
          <a:solidFill>
            <a:srgbClr val="440154"/>
          </a:solidFill>
          <a:ln/>
        </p:spPr>
      </p:sp>
      <p:sp>
        <p:nvSpPr>
          <p:cNvPr id="71" name="Text 71"/>
          <p:cNvSpPr/>
          <p:nvPr/>
        </p:nvSpPr>
        <p:spPr>
          <a:xfrm>
            <a:off x="7251192" y="2926080"/>
            <a:ext cx="4023360" cy="548640"/>
          </a:xfrm>
          <a:prstGeom prst="rect">
            <a:avLst/>
          </a:prstGeom>
          <a:noFill/>
          <a:ln/>
        </p:spPr>
        <p:txBody>
          <a:bodyPr wrap="square" lIns="0" tIns="0" rIns="0" bIns="0" rtlCol="0" anchor="t"/>
          <a:lstStyle/>
          <a:p>
            <a:pPr indent="0" marL="0">
              <a:buNone/>
            </a:pPr>
            <a:r>
              <a:rPr lang="en-US" sz="1400" dirty="0">
                <a:solidFill>
                  <a:srgbClr val="1F1F1F"/>
                </a:solidFill>
                <a:latin typeface="Calibri" pitchFamily="34" charset="0"/>
                <a:ea typeface="Calibri" pitchFamily="34" charset="-122"/>
                <a:cs typeface="Calibri" pitchFamily="34" charset="-120"/>
              </a:rPr>
              <a:t>Who reviews a segment name before it reaches a briefing?</a:t>
            </a:r>
            <a:endParaRPr lang="en-US" sz="1000" dirty="0"/>
          </a:p>
        </p:txBody>
      </p:sp>
      <p:sp>
        <p:nvSpPr>
          <p:cNvPr id="72" name="Shape 72"/>
          <p:cNvSpPr/>
          <p:nvPr/>
        </p:nvSpPr>
        <p:spPr>
          <a:xfrm>
            <a:off x="6903720" y="3502152"/>
            <a:ext cx="182880" cy="182880"/>
          </a:xfrm>
          <a:prstGeom prst="ellipse">
            <a:avLst/>
          </a:prstGeom>
          <a:solidFill>
            <a:srgbClr val="440154"/>
          </a:solidFill>
          <a:ln/>
        </p:spPr>
      </p:sp>
      <p:sp>
        <p:nvSpPr>
          <p:cNvPr id="73" name="Text 73"/>
          <p:cNvSpPr/>
          <p:nvPr/>
        </p:nvSpPr>
        <p:spPr>
          <a:xfrm>
            <a:off x="7251192" y="3474720"/>
            <a:ext cx="4023360" cy="548640"/>
          </a:xfrm>
          <a:prstGeom prst="rect">
            <a:avLst/>
          </a:prstGeom>
          <a:noFill/>
          <a:ln/>
        </p:spPr>
        <p:txBody>
          <a:bodyPr wrap="square" lIns="0" tIns="0" rIns="0" bIns="0" rtlCol="0" anchor="t"/>
          <a:lstStyle/>
          <a:p>
            <a:pPr indent="0" marL="0">
              <a:buNone/>
            </a:pPr>
            <a:r>
              <a:rPr lang="en-US" sz="1400" dirty="0">
                <a:solidFill>
                  <a:srgbClr val="1F1F1F"/>
                </a:solidFill>
                <a:latin typeface="Calibri" pitchFamily="34" charset="0"/>
                <a:ea typeface="Calibri" pitchFamily="34" charset="-122"/>
                <a:cs typeface="Calibri" pitchFamily="34" charset="-120"/>
              </a:rPr>
              <a:t>What is the minimum caveat that must appear in the product itself?</a:t>
            </a:r>
            <a:endParaRPr lang="en-US" sz="1000" dirty="0"/>
          </a:p>
        </p:txBody>
      </p:sp>
      <p:sp>
        <p:nvSpPr>
          <p:cNvPr id="74" name="Shape 74"/>
          <p:cNvSpPr/>
          <p:nvPr/>
        </p:nvSpPr>
        <p:spPr>
          <a:xfrm>
            <a:off x="685800" y="4520000"/>
            <a:ext cx="10789920" cy="1508760"/>
          </a:xfrm>
          <a:prstGeom prst="roundRect">
            <a:avLst>
              <a:gd name="adj" fmla="val 3030"/>
            </a:avLst>
          </a:prstGeom>
          <a:solidFill>
            <a:srgbClr val="E8F3F2"/>
          </a:solidFill>
          <a:ln w="12700">
            <a:solidFill>
              <a:srgbClr val="E8F3F2"/>
            </a:solidFill>
            <a:prstDash val="solid"/>
          </a:ln>
        </p:spPr>
      </p:sp>
      <p:sp>
        <p:nvSpPr>
          <p:cNvPr id="75" name="Text 75"/>
          <p:cNvSpPr/>
          <p:nvPr/>
        </p:nvSpPr>
        <p:spPr>
          <a:xfrm>
            <a:off x="1143000" y="4520000"/>
            <a:ext cx="9875520" cy="1508760"/>
          </a:xfrm>
          <a:prstGeom prst="rect">
            <a:avLst/>
          </a:prstGeom>
          <a:noFill/>
          <a:ln/>
        </p:spPr>
        <p:txBody>
          <a:bodyPr wrap="square" lIns="0" tIns="0" rIns="0" bIns="0" rtlCol="0" anchor="ctr"/>
          <a:lstStyle/>
          <a:p>
            <a:pPr algn="ctr" indent="0" marL="0">
              <a:buNone/>
            </a:pPr>
            <a:r>
              <a:rPr lang="en-US" sz="1700" dirty="0">
                <a:solidFill>
                  <a:srgbClr val="1F1F1F"/>
                </a:solidFill>
                <a:latin typeface="Calibri" pitchFamily="34" charset="0"/>
                <a:ea typeface="Calibri" pitchFamily="34" charset="-122"/>
                <a:cs typeface="Calibri" pitchFamily="34" charset="-120"/>
              </a:rPr>
              <a:t>Send a battery of categorical items and its design variables. </a:t>
            </a:r>
            <a:r>
              <a:rPr lang="en-US" sz="1700" b="1" dirty="0">
                <a:solidFill>
                  <a:srgbClr val="440154"/>
                </a:solidFill>
                <a:latin typeface="Calibri" pitchFamily="34" charset="0"/>
                <a:ea typeface="Calibri" pitchFamily="34" charset="-122"/>
                <a:cs typeface="Calibri" pitchFamily="34" charset="-120"/>
              </a:rPr>
              <a:t>I'll tell you how many groups are really in there, how big they are in the population, and how sure we are — in a form a policy audience can act 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12</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Every stage of Total Survey Error is in scope</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THE FRAMEWORK THIS SITS IN</a:t>
            </a:r>
            <a:endParaRPr lang="en-US" sz="1000" dirty="0"/>
          </a:p>
        </p:txBody>
      </p:sp>
      <p:pic>
        <p:nvPicPr>
          <p:cNvPr id="9" name="Image 0" descr="img/p4.png">    </p:cNvPr>
          <p:cNvPicPr>
            <a:picLocks noChangeAspect="1"/>
          </p:cNvPicPr>
          <p:nvPr/>
        </p:nvPicPr>
        <p:blipFill>
          <a:blip r:embed="rId1"/>
          <a:stretch>
            <a:fillRect/>
          </a:stretch>
        </p:blipFill>
        <p:spPr>
          <a:xfrm>
            <a:off x="2194560" y="1554480"/>
            <a:ext cx="7772400" cy="3429000"/>
          </a:xfrm>
          <a:prstGeom prst="rect">
            <a:avLst/>
          </a:prstGeom>
        </p:spPr>
      </p:pic>
      <p:sp>
        <p:nvSpPr>
          <p:cNvPr id="10" name="Text 7"/>
          <p:cNvSpPr/>
          <p:nvPr/>
        </p:nvSpPr>
        <p:spPr>
          <a:xfrm>
            <a:off x="685800" y="5212080"/>
            <a:ext cx="10789920" cy="457200"/>
          </a:xfrm>
          <a:prstGeom prst="rect">
            <a:avLst/>
          </a:prstGeom>
          <a:noFill/>
          <a:ln/>
        </p:spPr>
        <p:txBody>
          <a:bodyPr wrap="square" lIns="0" tIns="0" rIns="0" bIns="0" rtlCol="0" anchor="ctr"/>
          <a:lstStyle/>
          <a:p>
            <a:pPr indent="0" marL="0">
              <a:buNone/>
            </a:pPr>
            <a:r>
              <a:rPr lang="en-US" sz="1500" dirty="0">
                <a:solidFill>
                  <a:srgbClr val="1F1F1F"/>
                </a:solidFill>
                <a:latin typeface="Calibri" pitchFamily="34" charset="0"/>
                <a:ea typeface="Calibri" pitchFamily="34" charset="-122"/>
                <a:cs typeface="Calibri" pitchFamily="34" charset="-120"/>
              </a:rPr>
              <a:t>This project touches validity, measurement error, processing error, sampling error, and adjustment error.</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15</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Four moves yield a defensible variance estimate</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IF ASKED HOW IT WORKS</a:t>
            </a:r>
            <a:endParaRPr lang="en-US" sz="1000" dirty="0"/>
          </a:p>
        </p:txBody>
      </p:sp>
      <p:sp>
        <p:nvSpPr>
          <p:cNvPr id="9" name="Shape 7"/>
          <p:cNvSpPr/>
          <p:nvPr/>
        </p:nvSpPr>
        <p:spPr>
          <a:xfrm>
            <a:off x="685800" y="1600200"/>
            <a:ext cx="5212080" cy="1554480"/>
          </a:xfrm>
          <a:prstGeom prst="roundRect">
            <a:avLst>
              <a:gd name="adj" fmla="val 2941"/>
            </a:avLst>
          </a:prstGeom>
          <a:solidFill>
            <a:srgbClr val="F7F7F7"/>
          </a:solidFill>
          <a:ln w="12700">
            <a:solidFill>
              <a:srgbClr val="E4E4E4"/>
            </a:solidFill>
            <a:prstDash val="solid"/>
          </a:ln>
        </p:spPr>
      </p:sp>
      <p:sp>
        <p:nvSpPr>
          <p:cNvPr id="10" name="Shape 8"/>
          <p:cNvSpPr/>
          <p:nvPr/>
        </p:nvSpPr>
        <p:spPr>
          <a:xfrm>
            <a:off x="960120" y="1856232"/>
            <a:ext cx="310896" cy="310896"/>
          </a:xfrm>
          <a:prstGeom prst="ellipse">
            <a:avLst/>
          </a:prstGeom>
          <a:solidFill>
            <a:srgbClr val="21918C"/>
          </a:solidFill>
          <a:ln/>
        </p:spPr>
      </p:sp>
      <p:sp>
        <p:nvSpPr>
          <p:cNvPr id="11" name="Text 9"/>
          <p:cNvSpPr/>
          <p:nvPr/>
        </p:nvSpPr>
        <p:spPr>
          <a:xfrm>
            <a:off x="1399032" y="1819656"/>
            <a:ext cx="4297680" cy="365760"/>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1. Weight the likelihood</a:t>
            </a:r>
            <a:endParaRPr lang="en-US" sz="1500" dirty="0"/>
          </a:p>
        </p:txBody>
      </p:sp>
      <p:sp>
        <p:nvSpPr>
          <p:cNvPr id="12" name="Text 10"/>
          <p:cNvSpPr/>
          <p:nvPr/>
        </p:nvSpPr>
        <p:spPr>
          <a:xfrm>
            <a:off x="960120" y="2286000"/>
            <a:ext cx="4663440" cy="731520"/>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Every respondent contributes in proportion to the population they represent.</a:t>
            </a:r>
            <a:endParaRPr lang="en-US" sz="1300" dirty="0"/>
          </a:p>
        </p:txBody>
      </p:sp>
      <p:sp>
        <p:nvSpPr>
          <p:cNvPr id="13" name="Shape 11"/>
          <p:cNvSpPr/>
          <p:nvPr/>
        </p:nvSpPr>
        <p:spPr>
          <a:xfrm>
            <a:off x="6263640" y="1600200"/>
            <a:ext cx="5212080" cy="1554480"/>
          </a:xfrm>
          <a:prstGeom prst="roundRect">
            <a:avLst>
              <a:gd name="adj" fmla="val 2941"/>
            </a:avLst>
          </a:prstGeom>
          <a:solidFill>
            <a:srgbClr val="F7F7F7"/>
          </a:solidFill>
          <a:ln w="12700">
            <a:solidFill>
              <a:srgbClr val="E4E4E4"/>
            </a:solidFill>
            <a:prstDash val="solid"/>
          </a:ln>
        </p:spPr>
      </p:sp>
      <p:sp>
        <p:nvSpPr>
          <p:cNvPr id="14" name="Shape 12"/>
          <p:cNvSpPr/>
          <p:nvPr/>
        </p:nvSpPr>
        <p:spPr>
          <a:xfrm>
            <a:off x="6537960" y="1856232"/>
            <a:ext cx="310896" cy="310896"/>
          </a:xfrm>
          <a:prstGeom prst="ellipse">
            <a:avLst/>
          </a:prstGeom>
          <a:solidFill>
            <a:srgbClr val="3B528B"/>
          </a:solidFill>
          <a:ln/>
        </p:spPr>
      </p:sp>
      <p:sp>
        <p:nvSpPr>
          <p:cNvPr id="15" name="Text 13"/>
          <p:cNvSpPr/>
          <p:nvPr/>
        </p:nvSpPr>
        <p:spPr>
          <a:xfrm>
            <a:off x="6976872" y="1819656"/>
            <a:ext cx="4297680" cy="365760"/>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2. Calibrate the criteria</a:t>
            </a:r>
            <a:endParaRPr lang="en-US" sz="1500" dirty="0"/>
          </a:p>
        </p:txBody>
      </p:sp>
      <p:sp>
        <p:nvSpPr>
          <p:cNvPr id="16" name="Text 14"/>
          <p:cNvSpPr/>
          <p:nvPr/>
        </p:nvSpPr>
        <p:spPr>
          <a:xfrm>
            <a:off x="6537960" y="2286000"/>
            <a:ext cx="4663440" cy="731520"/>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Base weights do not sum to n, so fit statistics are rescaled before comparison to a sample-size penalty.</a:t>
            </a:r>
            <a:endParaRPr lang="en-US" sz="1300" dirty="0"/>
          </a:p>
        </p:txBody>
      </p:sp>
      <p:sp>
        <p:nvSpPr>
          <p:cNvPr id="17" name="Shape 15"/>
          <p:cNvSpPr/>
          <p:nvPr/>
        </p:nvSpPr>
        <p:spPr>
          <a:xfrm>
            <a:off x="685800" y="3383280"/>
            <a:ext cx="5212080" cy="1554480"/>
          </a:xfrm>
          <a:prstGeom prst="roundRect">
            <a:avLst>
              <a:gd name="adj" fmla="val 2941"/>
            </a:avLst>
          </a:prstGeom>
          <a:solidFill>
            <a:srgbClr val="F7F7F7"/>
          </a:solidFill>
          <a:ln w="12700">
            <a:solidFill>
              <a:srgbClr val="E4E4E4"/>
            </a:solidFill>
            <a:prstDash val="solid"/>
          </a:ln>
        </p:spPr>
      </p:sp>
      <p:sp>
        <p:nvSpPr>
          <p:cNvPr id="18" name="Shape 16"/>
          <p:cNvSpPr/>
          <p:nvPr/>
        </p:nvSpPr>
        <p:spPr>
          <a:xfrm>
            <a:off x="960120" y="3639312"/>
            <a:ext cx="310896" cy="310896"/>
          </a:xfrm>
          <a:prstGeom prst="ellipse">
            <a:avLst/>
          </a:prstGeom>
          <a:solidFill>
            <a:srgbClr val="440154"/>
          </a:solidFill>
          <a:ln/>
        </p:spPr>
      </p:sp>
      <p:sp>
        <p:nvSpPr>
          <p:cNvPr id="19" name="Text 17"/>
          <p:cNvSpPr/>
          <p:nvPr/>
        </p:nvSpPr>
        <p:spPr>
          <a:xfrm>
            <a:off x="1399032" y="3602736"/>
            <a:ext cx="4297680" cy="365760"/>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3. Replicate the variance</a:t>
            </a:r>
            <a:endParaRPr lang="en-US" sz="1500" dirty="0"/>
          </a:p>
        </p:txBody>
      </p:sp>
      <p:sp>
        <p:nvSpPr>
          <p:cNvPr id="20" name="Text 18"/>
          <p:cNvSpPr/>
          <p:nvPr/>
        </p:nvSpPr>
        <p:spPr>
          <a:xfrm>
            <a:off x="960120" y="4069080"/>
            <a:ext cx="4663440" cy="731520"/>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A weighted likelihood gives no usable information matrix, so the model is refit on 130 jackknife replicates.</a:t>
            </a:r>
            <a:endParaRPr lang="en-US" sz="1300" dirty="0"/>
          </a:p>
        </p:txBody>
      </p:sp>
      <p:sp>
        <p:nvSpPr>
          <p:cNvPr id="21" name="Shape 19"/>
          <p:cNvSpPr/>
          <p:nvPr/>
        </p:nvSpPr>
        <p:spPr>
          <a:xfrm>
            <a:off x="6263640" y="3383280"/>
            <a:ext cx="5212080" cy="1554480"/>
          </a:xfrm>
          <a:prstGeom prst="roundRect">
            <a:avLst>
              <a:gd name="adj" fmla="val 2941"/>
            </a:avLst>
          </a:prstGeom>
          <a:solidFill>
            <a:srgbClr val="F7F7F7"/>
          </a:solidFill>
          <a:ln w="12700">
            <a:solidFill>
              <a:srgbClr val="E4E4E4"/>
            </a:solidFill>
            <a:prstDash val="solid"/>
          </a:ln>
        </p:spPr>
      </p:sp>
      <p:sp>
        <p:nvSpPr>
          <p:cNvPr id="22" name="Shape 20"/>
          <p:cNvSpPr/>
          <p:nvPr/>
        </p:nvSpPr>
        <p:spPr>
          <a:xfrm>
            <a:off x="6537960" y="3639312"/>
            <a:ext cx="310896" cy="310896"/>
          </a:xfrm>
          <a:prstGeom prst="ellipse">
            <a:avLst/>
          </a:prstGeom>
          <a:solidFill>
            <a:srgbClr val="BBA800"/>
          </a:solidFill>
          <a:ln/>
        </p:spPr>
      </p:sp>
      <p:sp>
        <p:nvSpPr>
          <p:cNvPr id="23" name="Text 21"/>
          <p:cNvSpPr/>
          <p:nvPr/>
        </p:nvSpPr>
        <p:spPr>
          <a:xfrm>
            <a:off x="6976872" y="3602736"/>
            <a:ext cx="4297680" cy="365760"/>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4. Correct the classification</a:t>
            </a:r>
            <a:endParaRPr lang="en-US" sz="1500" dirty="0"/>
          </a:p>
        </p:txBody>
      </p:sp>
      <p:sp>
        <p:nvSpPr>
          <p:cNvPr id="24" name="Text 22"/>
          <p:cNvSpPr/>
          <p:nvPr/>
        </p:nvSpPr>
        <p:spPr>
          <a:xfrm>
            <a:off x="6537960" y="4069080"/>
            <a:ext cx="4663440" cy="731520"/>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Assignment is imperfect. BCH removes the resulting bias before any demographic comparison.</a:t>
            </a:r>
            <a:endParaRPr lang="en-US" sz="1300" dirty="0"/>
          </a:p>
        </p:txBody>
      </p:sp>
      <p:sp>
        <p:nvSpPr>
          <p:cNvPr id="25" name="Text 23"/>
          <p:cNvSpPr/>
          <p:nvPr/>
        </p:nvSpPr>
        <p:spPr>
          <a:xfrm>
            <a:off x="685800" y="5349240"/>
            <a:ext cx="10789920" cy="457200"/>
          </a:xfrm>
          <a:prstGeom prst="rect">
            <a:avLst/>
          </a:prstGeom>
          <a:noFill/>
          <a:ln/>
        </p:spPr>
        <p:txBody>
          <a:bodyPr wrap="square" lIns="0" tIns="0" rIns="0" bIns="0" rtlCol="0" anchor="ctr"/>
          <a:lstStyle/>
          <a:p>
            <a:pPr indent="0" marL="0">
              <a:buNone/>
            </a:pPr>
            <a:r>
              <a:rPr lang="en-US" sz="1500" dirty="0">
                <a:solidFill>
                  <a:srgbClr val="1F1F1F"/>
                </a:solidFill>
                <a:latin typeface="Calibri" pitchFamily="34" charset="0"/>
                <a:ea typeface="Calibri" pitchFamily="34" charset="-122"/>
                <a:cs typeface="Calibri" pitchFamily="34" charset="-120"/>
              </a:rPr>
              <a:t>Design: 4 strata, 130 PSUs, 126 degrees of freedom for every interval in this deck.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18</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Clustering and latent class analysis differ in kind</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IF ASKED ABOUT PEW</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85800" y="1600200"/>
          <a:ext cx="10789920" cy="914400"/>
        </p:xfrm>
        <a:graphic>
          <a:graphicData uri="http://schemas.openxmlformats.org/drawingml/2006/table">
            <a:tbl>
              <a:tblPr/>
              <a:tblGrid>
                <a:gridCol w="2651760"/>
                <a:gridCol w="4069080"/>
                <a:gridCol w="4069080"/>
              </a:tblGrid>
              <a:tr h="402336">
                <a:tc>
                  <a:txBody>
                    <a:bodyPr/>
                    <a:lstStyle/>
                    <a:p>
                      <a:pPr indent="0" marL="0">
                        <a:buNone/>
                      </a:pP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44015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Distance-based partition</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44015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Latent class analysis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440154"/>
                    </a:solidFill>
                  </a:tcPr>
                </a:tc>
              </a:tr>
              <a:tr h="402336">
                <a:tc>
                  <a:txBody>
                    <a:bodyPr/>
                    <a:lstStyle/>
                    <a:p>
                      <a:pPr indent="0" marL="0">
                        <a:buNone/>
                      </a:pPr>
                      <a:r>
                        <a:rPr lang="en-US" sz="1300" b="1" dirty="0">
                          <a:solidFill>
                            <a:srgbClr val="440154"/>
                          </a:solidFill>
                          <a:latin typeface="Calibri" pitchFamily="34" charset="0"/>
                          <a:ea typeface="Calibri" pitchFamily="34" charset="-122"/>
                          <a:cs typeface="Calibri" pitchFamily="34" charset="-120"/>
                        </a:rPr>
                        <a:t>What it is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An algorithm that partitions this sample</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A model of the population</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440154"/>
                          </a:solidFill>
                          <a:latin typeface="Calibri" pitchFamily="34" charset="0"/>
                          <a:ea typeface="Calibri" pitchFamily="34" charset="-122"/>
                          <a:cs typeface="Calibri" pitchFamily="34" charset="-120"/>
                        </a:rPr>
                        <a:t>Requires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A distance you choose</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A likelihood the data imply</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440154"/>
                          </a:solidFill>
                          <a:latin typeface="Calibri" pitchFamily="34" charset="0"/>
                          <a:ea typeface="Calibri" pitchFamily="34" charset="-122"/>
                          <a:cs typeface="Calibri" pitchFamily="34" charset="-120"/>
                        </a:rPr>
                        <a:t>Number of groups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Elbow or silhouette heuristics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AIC, BIC, entropy: comparable fit</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440154"/>
                          </a:solidFill>
                          <a:latin typeface="Calibri" pitchFamily="34" charset="0"/>
                          <a:ea typeface="Calibri" pitchFamily="34" charset="-122"/>
                          <a:cs typeface="Calibri" pitchFamily="34" charset="-120"/>
                        </a:rPr>
                        <a:t>Assignment</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Hard. One label per person</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A probability per person</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440154"/>
                          </a:solidFill>
                          <a:latin typeface="Calibri" pitchFamily="34" charset="0"/>
                          <a:ea typeface="Calibri" pitchFamily="34" charset="-122"/>
                          <a:cs typeface="Calibri" pitchFamily="34" charset="-120"/>
                        </a:rPr>
                        <a:t>Survey weights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Can size the groups, not the variance</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Enter the likelihood directly</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440154"/>
                          </a:solidFill>
                          <a:latin typeface="Calibri" pitchFamily="34" charset="0"/>
                          <a:ea typeface="Calibri" pitchFamily="34" charset="-122"/>
                          <a:cs typeface="Calibri" pitchFamily="34" charset="-120"/>
                        </a:rPr>
                        <a:t>What you report</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Shares in this file</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Population shares with intervals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r>
            </a:tbl>
          </a:graphicData>
        </a:graphic>
      </p:graphicFrame>
      <p:sp>
        <p:nvSpPr>
          <p:cNvPr id="10" name="Shape 7"/>
          <p:cNvSpPr/>
          <p:nvPr/>
        </p:nvSpPr>
        <p:spPr>
          <a:xfrm>
            <a:off x="685800" y="4572000"/>
            <a:ext cx="10789920" cy="914400"/>
          </a:xfrm>
          <a:prstGeom prst="roundRect">
            <a:avLst>
              <a:gd name="adj" fmla="val 5000"/>
            </a:avLst>
          </a:prstGeom>
          <a:solidFill>
            <a:srgbClr val="E8F3F2"/>
          </a:solidFill>
          <a:ln w="12700">
            <a:solidFill>
              <a:srgbClr val="E8F3F2"/>
            </a:solidFill>
            <a:prstDash val="solid"/>
          </a:ln>
        </p:spPr>
      </p:sp>
      <p:sp>
        <p:nvSpPr>
          <p:cNvPr id="11" name="Text 8"/>
          <p:cNvSpPr/>
          <p:nvPr/>
        </p:nvSpPr>
        <p:spPr>
          <a:xfrm>
            <a:off x="685800" y="4572000"/>
            <a:ext cx="10789920" cy="914400"/>
          </a:xfrm>
          <a:prstGeom prst="rect">
            <a:avLst/>
          </a:prstGeom>
          <a:noFill/>
          <a:ln/>
        </p:spPr>
        <p:txBody>
          <a:bodyPr wrap="square" lIns="0" tIns="0" rIns="0" bIns="0" rtlCol="0" anchor="ctr"/>
          <a:lstStyle/>
          <a:p>
            <a:pPr algn="ctr" indent="0" marL="0">
              <a:buNone/>
            </a:pPr>
            <a:r>
              <a:rPr lang="en-US" sz="1500" dirty="0">
                <a:solidFill>
                  <a:srgbClr val="1F1F1F"/>
                </a:solidFill>
                <a:latin typeface="Calibri" pitchFamily="34" charset="0"/>
                <a:ea typeface="Calibri" pitchFamily="34" charset="-122"/>
                <a:cs typeface="Calibri" pitchFamily="34" charset="-120"/>
              </a:rPr>
              <a:t>Clustering is a fine exploratory tool. The objection is to reporting a cluster share as a population estimate.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19</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The open-source gap is weighted LCA with variance</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THE TOOLING GAP</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85800" y="1645920"/>
          <a:ext cx="10789920" cy="914400"/>
        </p:xfrm>
        <a:graphic>
          <a:graphicData uri="http://schemas.openxmlformats.org/drawingml/2006/table">
            <a:tbl>
              <a:tblPr/>
              <a:tblGrid>
                <a:gridCol w="3108960"/>
                <a:gridCol w="2834640"/>
                <a:gridCol w="3108960"/>
                <a:gridCol w="1737360"/>
              </a:tblGrid>
              <a:tr h="42062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Tool</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44015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Weighted likelihood</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44015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Design-based variance</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44015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Open</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440154"/>
                    </a:solidFill>
                  </a:tcPr>
                </a:tc>
              </a:tr>
              <a:tr h="420624">
                <a:tc>
                  <a:txBody>
                    <a:bodyPr/>
                    <a:lstStyle/>
                    <a:p>
                      <a:pPr algn="l" indent="0" marL="0">
                        <a:buNone/>
                      </a:pPr>
                      <a:r>
                        <a:rPr lang="en-US" sz="1300" dirty="0">
                          <a:solidFill>
                            <a:srgbClr val="1F1F1F"/>
                          </a:solidFill>
                          <a:latin typeface="Calibri" pitchFamily="34" charset="0"/>
                          <a:ea typeface="Calibri" pitchFamily="34" charset="-122"/>
                          <a:cs typeface="Calibri" pitchFamily="34" charset="-120"/>
                        </a:rPr>
                        <a:t>poLCA (R)</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r>
              <a:tr h="420624">
                <a:tc>
                  <a:txBody>
                    <a:bodyPr/>
                    <a:lstStyle/>
                    <a:p>
                      <a:pPr algn="l" indent="0" marL="0">
                        <a:buNone/>
                      </a:pPr>
                      <a:r>
                        <a:rPr lang="en-US" sz="1300" dirty="0">
                          <a:solidFill>
                            <a:srgbClr val="1F1F1F"/>
                          </a:solidFill>
                          <a:latin typeface="Calibri" pitchFamily="34" charset="0"/>
                          <a:ea typeface="Calibri" pitchFamily="34" charset="-122"/>
                          <a:cs typeface="Calibri" pitchFamily="34" charset="-120"/>
                        </a:rPr>
                        <a:t>survey (R)</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no mixture models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r>
              <a:tr h="420624">
                <a:tc>
                  <a:txBody>
                    <a:bodyPr/>
                    <a:lstStyle/>
                    <a:p>
                      <a:pPr algn="l" indent="0" marL="0">
                        <a:buNone/>
                      </a:pPr>
                      <a:r>
                        <a:rPr lang="en-US" sz="1300" dirty="0">
                          <a:solidFill>
                            <a:srgbClr val="1F1F1F"/>
                          </a:solidFill>
                          <a:latin typeface="Calibri" pitchFamily="34" charset="0"/>
                          <a:ea typeface="Calibri" pitchFamily="34" charset="-122"/>
                          <a:cs typeface="Calibri" pitchFamily="34" charset="-120"/>
                        </a:rPr>
                        <a:t>Mplus, Latent GOLD</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linearization</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r>
              <a:tr h="420624">
                <a:tc>
                  <a:txBody>
                    <a:bodyPr/>
                    <a:lstStyle/>
                    <a:p>
                      <a:pPr algn="l" indent="0" marL="0">
                        <a:buNone/>
                      </a:pPr>
                      <a:r>
                        <a:rPr lang="en-US" sz="1300" dirty="0">
                          <a:solidFill>
                            <a:srgbClr val="1F1F1F"/>
                          </a:solidFill>
                          <a:latin typeface="Calibri" pitchFamily="34" charset="0"/>
                          <a:ea typeface="Calibri" pitchFamily="34" charset="-122"/>
                          <a:cs typeface="Calibri" pitchFamily="34" charset="-120"/>
                        </a:rPr>
                        <a:t>baysc (R)</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yes, Bayesian</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sandwich adjustment</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r>
              <a:tr h="420624">
                <a:tc>
                  <a:txBody>
                    <a:bodyPr/>
                    <a:lstStyle/>
                    <a:p>
                      <a:pPr algn="l" indent="0" marL="0">
                        <a:buNone/>
                      </a:pPr>
                      <a:r>
                        <a:rPr lang="en-US" sz="1300" b="1" dirty="0">
                          <a:solidFill>
                            <a:srgbClr val="440154"/>
                          </a:solidFill>
                          <a:latin typeface="Calibri" pitchFamily="34" charset="0"/>
                          <a:ea typeface="Calibri" pitchFamily="34" charset="-122"/>
                          <a:cs typeface="Calibri" pitchFamily="34" charset="-120"/>
                        </a:rPr>
                        <a:t>This pipeline</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E8F3F2"/>
                    </a:solidFill>
                  </a:tcPr>
                </a:tc>
                <a:tc>
                  <a:txBody>
                    <a:bodyPr/>
                    <a:lstStyle/>
                    <a:p>
                      <a:pPr algn="ctr" indent="0" marL="0">
                        <a:buNone/>
                      </a:pPr>
                      <a:r>
                        <a:rPr lang="en-US" sz="1300" b="1" dirty="0">
                          <a:solidFill>
                            <a:srgbClr val="440154"/>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E8F3F2"/>
                    </a:solidFill>
                  </a:tcPr>
                </a:tc>
                <a:tc>
                  <a:txBody>
                    <a:bodyPr/>
                    <a:lstStyle/>
                    <a:p>
                      <a:pPr algn="ctr" indent="0" marL="0">
                        <a:buNone/>
                      </a:pPr>
                      <a:r>
                        <a:rPr lang="en-US" sz="1300" b="1" dirty="0">
                          <a:solidFill>
                            <a:srgbClr val="440154"/>
                          </a:solidFill>
                          <a:latin typeface="Calibri" pitchFamily="34" charset="0"/>
                          <a:ea typeface="Calibri" pitchFamily="34" charset="-122"/>
                          <a:cs typeface="Calibri" pitchFamily="34" charset="-120"/>
                        </a:rPr>
                        <a:t>replicate (JKn)</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E8F3F2"/>
                    </a:solidFill>
                  </a:tcPr>
                </a:tc>
                <a:tc>
                  <a:txBody>
                    <a:bodyPr/>
                    <a:lstStyle/>
                    <a:p>
                      <a:pPr algn="ctr" indent="0" marL="0">
                        <a:buNone/>
                      </a:pPr>
                      <a:r>
                        <a:rPr lang="en-US" sz="1300" b="1" dirty="0">
                          <a:solidFill>
                            <a:srgbClr val="440154"/>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E8F3F2"/>
                    </a:solidFill>
                  </a:tcPr>
                </a:tc>
              </a:tr>
            </a:tbl>
          </a:graphicData>
        </a:graphic>
      </p:graphicFrame>
      <p:sp>
        <p:nvSpPr>
          <p:cNvPr id="10" name="Text 7"/>
          <p:cNvSpPr/>
          <p:nvPr/>
        </p:nvSpPr>
        <p:spPr>
          <a:xfrm>
            <a:off x="685800" y="4663440"/>
            <a:ext cx="10789920" cy="457200"/>
          </a:xfrm>
          <a:prstGeom prst="rect">
            <a:avLst/>
          </a:prstGeom>
          <a:noFill/>
          <a:ln/>
        </p:spPr>
        <p:txBody>
          <a:bodyPr wrap="square" lIns="0" tIns="0" rIns="0" bIns="0" rtlCol="0" anchor="ctr"/>
          <a:lstStyle/>
          <a:p>
            <a:pPr indent="0" marL="0">
              <a:buNone/>
            </a:pPr>
            <a:r>
              <a:rPr lang="en-US" sz="1500" dirty="0">
                <a:solidFill>
                  <a:srgbClr val="1F1F1F"/>
                </a:solidFill>
                <a:latin typeface="Calibri" pitchFamily="34" charset="0"/>
                <a:ea typeface="Calibri" pitchFamily="34" charset="-122"/>
                <a:cs typeface="Calibri" pitchFamily="34" charset="-120"/>
              </a:rPr>
              <a:t>Mplus and Latent GOLD do this well and cost money. The gap is specific, not a claim that nobody solved segmentation.</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20</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Four safeguards make the numbers reproducible</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REPRODUCIBILITY</a:t>
            </a:r>
            <a:endParaRPr lang="en-US" sz="1000" dirty="0"/>
          </a:p>
        </p:txBody>
      </p:sp>
      <p:sp>
        <p:nvSpPr>
          <p:cNvPr id="9" name="Shape 7"/>
          <p:cNvSpPr/>
          <p:nvPr/>
        </p:nvSpPr>
        <p:spPr>
          <a:xfrm>
            <a:off x="685800" y="1600200"/>
            <a:ext cx="10789920" cy="914400"/>
          </a:xfrm>
          <a:prstGeom prst="roundRect">
            <a:avLst>
              <a:gd name="adj" fmla="val 5000"/>
            </a:avLst>
          </a:prstGeom>
          <a:solidFill>
            <a:srgbClr val="E8F3F2"/>
          </a:solidFill>
          <a:ln w="12700">
            <a:solidFill>
              <a:srgbClr val="E8F3F2"/>
            </a:solidFill>
            <a:prstDash val="solid"/>
          </a:ln>
        </p:spPr>
      </p:sp>
      <p:sp>
        <p:nvSpPr>
          <p:cNvPr id="10" name="Text 8"/>
          <p:cNvSpPr/>
          <p:nvPr/>
        </p:nvSpPr>
        <p:spPr>
          <a:xfrm>
            <a:off x="1005840" y="1600200"/>
            <a:ext cx="10149840" cy="914400"/>
          </a:xfrm>
          <a:prstGeom prst="rect">
            <a:avLst/>
          </a:prstGeom>
          <a:noFill/>
          <a:ln/>
        </p:spPr>
        <p:txBody>
          <a:bodyPr wrap="square" lIns="0" tIns="0" rIns="0" bIns="0" rtlCol="0" anchor="ctr"/>
          <a:lstStyle/>
          <a:p>
            <a:pPr indent="0" marL="0">
              <a:buNone/>
            </a:pPr>
            <a:r>
              <a:rPr lang="en-US" sz="1400" b="1" dirty="0">
                <a:solidFill>
                  <a:srgbClr val="440154"/>
                </a:solidFill>
                <a:latin typeface="Calibri" pitchFamily="34" charset="0"/>
                <a:ea typeface="Calibri" pitchFamily="34" charset="-122"/>
                <a:cs typeface="Calibri" pitchFamily="34" charset="-120"/>
              </a:rPr>
              <a:t>Validation.  </a:t>
            </a:r>
            <a:pPr indent="0" marL="0">
              <a:buNone/>
            </a:pPr>
            <a:r>
              <a:rPr lang="en-US" sz="1400" dirty="0">
                <a:solidFill>
                  <a:srgbClr val="1F1F1F"/>
                </a:solidFill>
                <a:latin typeface="Calibri" pitchFamily="34" charset="0"/>
                <a:ea typeface="Calibri" pitchFamily="34" charset="-122"/>
                <a:cs typeface="Calibri" pitchFamily="34" charset="-120"/>
              </a:rPr>
              <a:t>At equal weights this estimator and an independent published implementation agree to 0.00000 on every segment share and every response probability.</a:t>
            </a:r>
            <a:endParaRPr lang="en-US" sz="1400" dirty="0"/>
          </a:p>
        </p:txBody>
      </p:sp>
      <p:sp>
        <p:nvSpPr>
          <p:cNvPr id="11" name="Shape 9"/>
          <p:cNvSpPr/>
          <p:nvPr/>
        </p:nvSpPr>
        <p:spPr>
          <a:xfrm>
            <a:off x="685800" y="2843784"/>
            <a:ext cx="256032" cy="256032"/>
          </a:xfrm>
          <a:prstGeom prst="ellipse">
            <a:avLst/>
          </a:prstGeom>
          <a:solidFill>
            <a:srgbClr val="5EC962"/>
          </a:solidFill>
          <a:ln/>
        </p:spPr>
      </p:sp>
      <p:sp>
        <p:nvSpPr>
          <p:cNvPr id="12" name="Text 10"/>
          <p:cNvSpPr/>
          <p:nvPr/>
        </p:nvSpPr>
        <p:spPr>
          <a:xfrm>
            <a:off x="1124712" y="2788920"/>
            <a:ext cx="10332720" cy="640080"/>
          </a:xfrm>
          <a:prstGeom prst="rect">
            <a:avLst/>
          </a:prstGeom>
          <a:noFill/>
          <a:ln/>
        </p:spPr>
        <p:txBody>
          <a:bodyPr wrap="square" lIns="0" tIns="0" rIns="0" bIns="0" rtlCol="0" anchor="ctr"/>
          <a:lstStyle/>
          <a:p>
            <a:pPr indent="0" marL="0">
              <a:buNone/>
            </a:pPr>
            <a:r>
              <a:rPr lang="en-US" sz="1400" b="1" dirty="0">
                <a:solidFill>
                  <a:srgbClr val="440154"/>
                </a:solidFill>
                <a:latin typeface="Calibri" pitchFamily="34" charset="0"/>
                <a:ea typeface="Calibri" pitchFamily="34" charset="-122"/>
                <a:cs typeface="Calibri" pitchFamily="34" charset="-120"/>
              </a:rPr>
              <a:t>One verdict, one place.  </a:t>
            </a:r>
            <a:pPr indent="0" marL="0">
              <a:buNone/>
            </a:pPr>
            <a:r>
              <a:rPr lang="en-US" sz="1400" dirty="0">
                <a:solidFill>
                  <a:srgbClr val="1F1F1F"/>
                </a:solidFill>
                <a:latin typeface="Calibri" pitchFamily="34" charset="0"/>
                <a:ea typeface="Calibri" pitchFamily="34" charset="-122"/>
                <a:cs typeface="Calibri" pitchFamily="34" charset="-120"/>
              </a:rPr>
              <a:t>The validation result is written to disk and read by every downstream document.</a:t>
            </a:r>
            <a:endParaRPr lang="en-US" sz="1400" dirty="0"/>
          </a:p>
        </p:txBody>
      </p:sp>
      <p:sp>
        <p:nvSpPr>
          <p:cNvPr id="13" name="Shape 11"/>
          <p:cNvSpPr/>
          <p:nvPr/>
        </p:nvSpPr>
        <p:spPr>
          <a:xfrm>
            <a:off x="685800" y="3593592"/>
            <a:ext cx="256032" cy="256032"/>
          </a:xfrm>
          <a:prstGeom prst="ellipse">
            <a:avLst/>
          </a:prstGeom>
          <a:solidFill>
            <a:srgbClr val="5EC962"/>
          </a:solidFill>
          <a:ln/>
        </p:spPr>
      </p:sp>
      <p:sp>
        <p:nvSpPr>
          <p:cNvPr id="14" name="Text 12"/>
          <p:cNvSpPr/>
          <p:nvPr/>
        </p:nvSpPr>
        <p:spPr>
          <a:xfrm>
            <a:off x="1124712" y="3538728"/>
            <a:ext cx="10332720" cy="640080"/>
          </a:xfrm>
          <a:prstGeom prst="rect">
            <a:avLst/>
          </a:prstGeom>
          <a:noFill/>
          <a:ln/>
        </p:spPr>
        <p:txBody>
          <a:bodyPr wrap="square" lIns="0" tIns="0" rIns="0" bIns="0" rtlCol="0" anchor="ctr"/>
          <a:lstStyle/>
          <a:p>
            <a:pPr indent="0" marL="0">
              <a:buNone/>
            </a:pPr>
            <a:r>
              <a:rPr lang="en-US" sz="1400" b="1" dirty="0">
                <a:solidFill>
                  <a:srgbClr val="440154"/>
                </a:solidFill>
                <a:latin typeface="Calibri" pitchFamily="34" charset="0"/>
                <a:ea typeface="Calibri" pitchFamily="34" charset="-122"/>
                <a:cs typeface="Calibri" pitchFamily="34" charset="-120"/>
              </a:rPr>
              <a:t>Frozen decisions.  </a:t>
            </a:r>
            <a:pPr indent="0" marL="0">
              <a:buNone/>
            </a:pPr>
            <a:r>
              <a:rPr lang="en-US" sz="1400" dirty="0">
                <a:solidFill>
                  <a:srgbClr val="1F1F1F"/>
                </a:solidFill>
                <a:latin typeface="Calibri" pitchFamily="34" charset="0"/>
                <a:ea typeface="Calibri" pitchFamily="34" charset="-122"/>
                <a:cs typeface="Calibri" pitchFamily="34" charset="-120"/>
              </a:rPr>
              <a:t>The number of groups and their names live in version control, not in someone's memory.</a:t>
            </a:r>
            <a:endParaRPr lang="en-US" sz="1400" dirty="0"/>
          </a:p>
        </p:txBody>
      </p:sp>
      <p:sp>
        <p:nvSpPr>
          <p:cNvPr id="15" name="Shape 13"/>
          <p:cNvSpPr/>
          <p:nvPr/>
        </p:nvSpPr>
        <p:spPr>
          <a:xfrm>
            <a:off x="685800" y="4343400"/>
            <a:ext cx="256032" cy="256032"/>
          </a:xfrm>
          <a:prstGeom prst="ellipse">
            <a:avLst/>
          </a:prstGeom>
          <a:solidFill>
            <a:srgbClr val="5EC962"/>
          </a:solidFill>
          <a:ln/>
        </p:spPr>
      </p:sp>
      <p:sp>
        <p:nvSpPr>
          <p:cNvPr id="16" name="Text 14"/>
          <p:cNvSpPr/>
          <p:nvPr/>
        </p:nvSpPr>
        <p:spPr>
          <a:xfrm>
            <a:off x="1124712" y="4288536"/>
            <a:ext cx="10332720" cy="640080"/>
          </a:xfrm>
          <a:prstGeom prst="rect">
            <a:avLst/>
          </a:prstGeom>
          <a:noFill/>
          <a:ln/>
        </p:spPr>
        <p:txBody>
          <a:bodyPr wrap="square" lIns="0" tIns="0" rIns="0" bIns="0" rtlCol="0" anchor="ctr"/>
          <a:lstStyle/>
          <a:p>
            <a:pPr indent="0" marL="0">
              <a:buNone/>
            </a:pPr>
            <a:r>
              <a:rPr lang="en-US" sz="1400" b="1" dirty="0">
                <a:solidFill>
                  <a:srgbClr val="440154"/>
                </a:solidFill>
                <a:latin typeface="Calibri" pitchFamily="34" charset="0"/>
                <a:ea typeface="Calibri" pitchFamily="34" charset="-122"/>
                <a:cs typeface="Calibri" pitchFamily="34" charset="-120"/>
              </a:rPr>
              <a:t>Rendered from source.  </a:t>
            </a:r>
            <a:pPr indent="0" marL="0">
              <a:buNone/>
            </a:pPr>
            <a:r>
              <a:rPr lang="en-US" sz="1400" dirty="0">
                <a:solidFill>
                  <a:srgbClr val="1F1F1F"/>
                </a:solidFill>
                <a:latin typeface="Calibri" pitchFamily="34" charset="0"/>
                <a:ea typeface="Calibri" pitchFamily="34" charset="-122"/>
                <a:cs typeface="Calibri" pitchFamily="34" charset="-120"/>
              </a:rPr>
              <a:t>Every figure was generated from stored model objects at compile time. Nothing was pasted.</a:t>
            </a:r>
            <a:endParaRPr lang="en-US" sz="1400" dirty="0"/>
          </a:p>
        </p:txBody>
      </p:sp>
      <p:sp>
        <p:nvSpPr>
          <p:cNvPr id="17" name="Shape 15"/>
          <p:cNvSpPr/>
          <p:nvPr/>
        </p:nvSpPr>
        <p:spPr>
          <a:xfrm>
            <a:off x="685800" y="5029200"/>
            <a:ext cx="10789920" cy="685800"/>
          </a:xfrm>
          <a:prstGeom prst="roundRect">
            <a:avLst>
              <a:gd name="adj" fmla="val 6667"/>
            </a:avLst>
          </a:prstGeom>
          <a:solidFill>
            <a:srgbClr val="F7F7F7"/>
          </a:solidFill>
          <a:ln w="12700">
            <a:solidFill>
              <a:srgbClr val="F7F7F7"/>
            </a:solidFill>
            <a:prstDash val="solid"/>
          </a:ln>
        </p:spPr>
      </p:sp>
      <p:sp>
        <p:nvSpPr>
          <p:cNvPr id="18" name="Text 16"/>
          <p:cNvSpPr/>
          <p:nvPr/>
        </p:nvSpPr>
        <p:spPr>
          <a:xfrm>
            <a:off x="685800" y="5029200"/>
            <a:ext cx="10789920" cy="685800"/>
          </a:xfrm>
          <a:prstGeom prst="rect">
            <a:avLst/>
          </a:prstGeom>
          <a:noFill/>
          <a:ln/>
        </p:spPr>
        <p:txBody>
          <a:bodyPr wrap="square" lIns="0" tIns="0" rIns="0" bIns="0" rtlCol="0" anchor="ctr"/>
          <a:lstStyle/>
          <a:p>
            <a:pPr algn="ctr" indent="0" marL="0">
              <a:buNone/>
            </a:pPr>
            <a:r>
              <a:rPr lang="en-US" sz="1400" dirty="0">
                <a:solidFill>
                  <a:srgbClr val="1F1F1F"/>
                </a:solidFill>
                <a:latin typeface="Calibri" pitchFamily="34" charset="0"/>
                <a:ea typeface="Calibri" pitchFamily="34" charset="-122"/>
                <a:cs typeface="Calibri" pitchFamily="34" charset="-120"/>
              </a:rPr>
              <a:t>1618 of 1622 respondents received a group, including 188 who skipped items but answered enough to be scored.</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21</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The full response profile is what a label must match</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IF A LABEL IS CHALLENGED</a:t>
            </a:r>
            <a:endParaRPr lang="en-US" sz="1000" dirty="0"/>
          </a:p>
        </p:txBody>
      </p:sp>
      <p:pic>
        <p:nvPicPr>
          <p:cNvPr id="9" name="Image 0" descr="img/p29.png">    </p:cNvPr>
          <p:cNvPicPr>
            <a:picLocks noChangeAspect="1"/>
          </p:cNvPicPr>
          <p:nvPr/>
        </p:nvPicPr>
        <p:blipFill>
          <a:blip r:embed="rId1"/>
          <a:stretch>
            <a:fillRect/>
          </a:stretch>
        </p:blipFill>
        <p:spPr>
          <a:xfrm>
            <a:off x="1371600" y="1600200"/>
            <a:ext cx="9418320" cy="378561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24</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References</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SOURCES CITED</a:t>
            </a:r>
            <a:endParaRPr lang="en-US" sz="1000" dirty="0"/>
          </a:p>
        </p:txBody>
      </p:sp>
      <p:sp>
        <p:nvSpPr>
          <p:cNvPr id="9" name="Text 7"/>
          <p:cNvSpPr/>
          <p:nvPr/>
        </p:nvSpPr>
        <p:spPr>
          <a:xfrm>
            <a:off x="685800" y="1554480"/>
            <a:ext cx="5120640" cy="274320"/>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Method</a:t>
            </a:r>
            <a:endParaRPr lang="en-US" sz="1500" dirty="0"/>
          </a:p>
        </p:txBody>
      </p:sp>
      <p:sp>
        <p:nvSpPr>
          <p:cNvPr id="10" name="Text 8"/>
          <p:cNvSpPr/>
          <p:nvPr/>
        </p:nvSpPr>
        <p:spPr>
          <a:xfrm>
            <a:off x="685800" y="1920240"/>
            <a:ext cx="5120640" cy="3657600"/>
          </a:xfrm>
          <a:prstGeom prst="rect">
            <a:avLst/>
          </a:prstGeom>
          <a:noFill/>
          <a:ln/>
        </p:spPr>
        <p:txBody>
          <a:bodyPr wrap="square" lIns="0" tIns="0" rIns="0" bIns="0" rtlCol="0" anchor="t"/>
          <a:lstStyle/>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Goodman, L. (1974). Exploratory latent structure analysis. Biometrika 61(2).</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Patterson, Dayton and Graubard (2002). Latent class analysis of complex sample survey data. JASA 97(459), 721 to 728.</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Bolck, Croon and Hagenaars (2004). Estimating latent structure models with categorical variables. Political Analysis 12(1), 3 to 27.</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Vermunt, J. (2010). Latent class modeling with covariates. Political Analysis 18(4), 450 to 469.</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Bakk, Oberski and Vermunt (2014). Relating latent class assignments to external variables. Political Analysis 22(4), 520 to 540.</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Lumley and Scott (2015). AIC and BIC for modeling with complex survey data. JSSAM 3(1), 1 to 18.</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Linzer and Lewis (2011). poLCA: polytomous variable latent class analysis. JSS 42(10).</a:t>
            </a:r>
            <a:endParaRPr lang="en-US" sz="1050" dirty="0"/>
          </a:p>
        </p:txBody>
      </p:sp>
      <p:sp>
        <p:nvSpPr>
          <p:cNvPr id="11" name="Text 9"/>
          <p:cNvSpPr/>
          <p:nvPr/>
        </p:nvSpPr>
        <p:spPr>
          <a:xfrm>
            <a:off x="6263640" y="1554480"/>
            <a:ext cx="5120640" cy="274320"/>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Applications in public opinion</a:t>
            </a:r>
            <a:endParaRPr lang="en-US" sz="1500" dirty="0"/>
          </a:p>
        </p:txBody>
      </p:sp>
      <p:sp>
        <p:nvSpPr>
          <p:cNvPr id="12" name="Text 10"/>
          <p:cNvSpPr/>
          <p:nvPr/>
        </p:nvSpPr>
        <p:spPr>
          <a:xfrm>
            <a:off x="6263640" y="1920240"/>
            <a:ext cx="5120640" cy="3657600"/>
          </a:xfrm>
          <a:prstGeom prst="rect">
            <a:avLst/>
          </a:prstGeom>
          <a:noFill/>
          <a:ln/>
        </p:spPr>
        <p:txBody>
          <a:bodyPr wrap="square" lIns="0" tIns="0" rIns="0" bIns="0" rtlCol="0" anchor="t"/>
          <a:lstStyle/>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Breen, R. (2000). Why is support for extreme parties underestimated by surveys? BJPS 30(2), 375 to 382.</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Blaydes and Linzer (2008). The political economy of women's support for fundamentalist Islam. World Politics 60(4), 576 to 609.</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Oser, Hooghe and Marien (2013). Is online participation distinct from offline? PRQ 66(1), 91 to 101.</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Bonikowski and DiMaggio (2016). Varieties of American popular nationalism. ASR 81(5).</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Alvarez, Levin and Núñez (2017). The four faces of political participation in Argentina. Journal of Politics 79(4), 1386 to 1402.</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Pew Research Center (2026). Beyond Red vs. Blue: The Political Typology, 10 June 2026. Appendix B: weighted clustering around medoids.</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76" name="Shape 76"/>
          <p:cNvSpPr/>
          <p:nvPr/>
        </p:nvSpPr>
        <p:spPr>
          <a:xfrm>
            <a:off x="0" y="0"/>
            <a:ext cx="12161520" cy="256032"/>
          </a:xfrm>
          <a:prstGeom prst="rect">
            <a:avLst/>
          </a:prstGeom>
          <a:solidFill>
            <a:srgbClr val="006400"/>
          </a:solidFill>
          <a:ln/>
        </p:spPr>
      </p:sp>
      <p:sp>
        <p:nvSpPr>
          <p:cNvPr id="78" name="Text 78"/>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77" name="Shape 77"/>
          <p:cNvSpPr/>
          <p:nvPr/>
        </p:nvSpPr>
        <p:spPr>
          <a:xfrm>
            <a:off x="0" y="6601968"/>
            <a:ext cx="12161520" cy="256032"/>
          </a:xfrm>
          <a:prstGeom prst="rect">
            <a:avLst/>
          </a:prstGeom>
          <a:solidFill>
            <a:srgbClr val="006400"/>
          </a:solidFill>
          <a:ln/>
        </p:spPr>
      </p:sp>
      <p:sp>
        <p:nvSpPr>
          <p:cNvPr id="79" name="Text 79"/>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80" name="Text 80"/>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81" name="Text 81"/>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One-page summary of this briefing</a:t>
            </a:r>
            <a:endParaRPr lang="en-US" sz="1000" dirty="0"/>
          </a:p>
        </p:txBody>
      </p:sp>
      <p:sp>
        <p:nvSpPr>
          <p:cNvPr id="82" name="Text 82"/>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LEAVE-BEHIND SUMMARY</a:t>
            </a:r>
            <a:endParaRPr lang="en-US" sz="1000" dirty="0"/>
          </a:p>
        </p:txBody>
      </p:sp>
      <p:sp>
        <p:nvSpPr>
          <p:cNvPr id="83" name="Shape 83"/>
          <p:cNvSpPr/>
          <p:nvPr/>
        </p:nvSpPr>
        <p:spPr>
          <a:xfrm>
            <a:off x="960120" y="1550000"/>
            <a:ext cx="457200" cy="457200"/>
          </a:xfrm>
          <a:prstGeom prst="ellipse">
            <a:avLst/>
          </a:prstGeom>
          <a:solidFill>
            <a:srgbClr val="21918C"/>
          </a:solidFill>
          <a:ln/>
        </p:spPr>
      </p:sp>
      <p:sp>
        <p:nvSpPr>
          <p:cNvPr id="84" name="Text 84"/>
          <p:cNvSpPr/>
          <p:nvPr/>
        </p:nvSpPr>
        <p:spPr>
          <a:xfrm>
            <a:off x="960120" y="1550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000" dirty="0"/>
          </a:p>
        </p:txBody>
      </p:sp>
      <p:sp>
        <p:nvSpPr>
          <p:cNvPr id="85" name="Text 85"/>
          <p:cNvSpPr/>
          <p:nvPr/>
        </p:nvSpPr>
        <p:spPr>
          <a:xfrm>
            <a:off x="1600200" y="1550000"/>
            <a:ext cx="9500000" cy="457200"/>
          </a:xfrm>
          <a:prstGeom prst="rect">
            <a:avLst/>
          </a:prstGeom>
          <a:noFill/>
          <a:ln/>
        </p:spPr>
        <p:txBody>
          <a:bodyPr wrap="square" lIns="0" tIns="0" rIns="0" bIns="0" rtlCol="0" anchor="ctr"/>
          <a:lstStyle/>
          <a:p>
            <a:pPr indent="0" marL="0">
              <a:buNone/>
            </a:pPr>
            <a:r>
              <a:rPr lang="en-US" sz="1800" b="1" dirty="0">
                <a:solidFill>
                  <a:srgbClr val="440154"/>
                </a:solidFill>
                <a:latin typeface="Calibri" pitchFamily="34" charset="0"/>
                <a:ea typeface="Calibri" pitchFamily="34" charset="-122"/>
                <a:cs typeface="Calibri" pitchFamily="34" charset="-120"/>
              </a:rPr>
              <a:t>What this capability is</a:t>
            </a:r>
            <a:endParaRPr lang="en-US" sz="1000" dirty="0"/>
          </a:p>
        </p:txBody>
      </p:sp>
      <p:sp>
        <p:nvSpPr>
          <p:cNvPr id="86" name="Text 86"/>
          <p:cNvSpPr/>
          <p:nvPr/>
        </p:nvSpPr>
        <p:spPr>
          <a:xfrm>
            <a:off x="1600200" y="2052920"/>
            <a:ext cx="9500000" cy="320040"/>
          </a:xfrm>
          <a:prstGeom prst="rect">
            <a:avLst/>
          </a:prstGeom>
          <a:noFill/>
          <a:ln/>
        </p:spPr>
        <p:txBody>
          <a:bodyPr wrap="square" lIns="0" tIns="0" rIns="0" bIns="0" rtlCol="0" anchor="t"/>
          <a:lstStyle/>
          <a:p>
            <a:pPr indent="0" marL="0">
              <a:buNone/>
            </a:pPr>
            <a:r>
              <a:rPr lang="en-US" sz="1300" dirty="0">
                <a:solidFill>
                  <a:srgbClr val="1F1F1F"/>
                </a:solidFill>
                <a:latin typeface="Calibri" pitchFamily="34" charset="0"/>
                <a:ea typeface="Calibri" pitchFamily="34" charset="-122"/>
                <a:cs typeface="Calibri" pitchFamily="34" charset="-120"/>
              </a:rPr>
              <a:t>A tool that replaces one guess about a population with a map of its real publics.</a:t>
            </a:r>
            <a:endParaRPr lang="en-US" sz="1000" dirty="0"/>
          </a:p>
        </p:txBody>
      </p:sp>
      <p:sp>
        <p:nvSpPr>
          <p:cNvPr id="87" name="Shape 87"/>
          <p:cNvSpPr/>
          <p:nvPr/>
        </p:nvSpPr>
        <p:spPr>
          <a:xfrm>
            <a:off x="960120" y="2450000"/>
            <a:ext cx="457200" cy="457200"/>
          </a:xfrm>
          <a:prstGeom prst="ellipse">
            <a:avLst/>
          </a:prstGeom>
          <a:solidFill>
            <a:srgbClr val="3B528B"/>
          </a:solidFill>
          <a:ln/>
        </p:spPr>
      </p:sp>
      <p:sp>
        <p:nvSpPr>
          <p:cNvPr id="88" name="Text 88"/>
          <p:cNvSpPr/>
          <p:nvPr/>
        </p:nvSpPr>
        <p:spPr>
          <a:xfrm>
            <a:off x="960120" y="2450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000" dirty="0"/>
          </a:p>
        </p:txBody>
      </p:sp>
      <p:sp>
        <p:nvSpPr>
          <p:cNvPr id="89" name="Text 89"/>
          <p:cNvSpPr/>
          <p:nvPr/>
        </p:nvSpPr>
        <p:spPr>
          <a:xfrm>
            <a:off x="1600200" y="2450000"/>
            <a:ext cx="9500000" cy="457200"/>
          </a:xfrm>
          <a:prstGeom prst="rect">
            <a:avLst/>
          </a:prstGeom>
          <a:noFill/>
          <a:ln/>
        </p:spPr>
        <p:txBody>
          <a:bodyPr wrap="square" lIns="0" tIns="0" rIns="0" bIns="0" rtlCol="0" anchor="ctr"/>
          <a:lstStyle/>
          <a:p>
            <a:pPr indent="0" marL="0">
              <a:buNone/>
            </a:pPr>
            <a:r>
              <a:rPr lang="en-US" sz="1800" b="1" dirty="0">
                <a:solidFill>
                  <a:srgbClr val="440154"/>
                </a:solidFill>
                <a:latin typeface="Calibri" pitchFamily="34" charset="0"/>
                <a:ea typeface="Calibri" pitchFamily="34" charset="-122"/>
                <a:cs typeface="Calibri" pitchFamily="34" charset="-120"/>
              </a:rPr>
              <a:t>What it is costing us today</a:t>
            </a:r>
            <a:endParaRPr lang="en-US" sz="1000" dirty="0"/>
          </a:p>
        </p:txBody>
      </p:sp>
      <p:sp>
        <p:nvSpPr>
          <p:cNvPr id="90" name="Text 90"/>
          <p:cNvSpPr/>
          <p:nvPr/>
        </p:nvSpPr>
        <p:spPr>
          <a:xfrm>
            <a:off x="1600200" y="2952920"/>
            <a:ext cx="9500000" cy="320040"/>
          </a:xfrm>
          <a:prstGeom prst="rect">
            <a:avLst/>
          </a:prstGeom>
          <a:noFill/>
          <a:ln/>
        </p:spPr>
        <p:txBody>
          <a:bodyPr wrap="square" lIns="0" tIns="0" rIns="0" bIns="0" rtlCol="0" anchor="t"/>
          <a:lstStyle/>
          <a:p>
            <a:pPr indent="0" marL="0">
              <a:buNone/>
            </a:pPr>
            <a:r>
              <a:rPr lang="en-US" sz="1300" dirty="0">
                <a:solidFill>
                  <a:srgbClr val="1F1F1F"/>
                </a:solidFill>
                <a:latin typeface="Calibri" pitchFamily="34" charset="0"/>
                <a:ea typeface="Calibri" pitchFamily="34" charset="-122"/>
                <a:cs typeface="Calibri" pitchFamily="34" charset="-120"/>
              </a:rPr>
              <a:t>Every average we brief is a real difference between publics, erased before anyone sees it.</a:t>
            </a:r>
            <a:endParaRPr lang="en-US" sz="1000" dirty="0"/>
          </a:p>
        </p:txBody>
      </p:sp>
      <p:sp>
        <p:nvSpPr>
          <p:cNvPr id="91" name="Shape 91"/>
          <p:cNvSpPr/>
          <p:nvPr/>
        </p:nvSpPr>
        <p:spPr>
          <a:xfrm>
            <a:off x="960120" y="3350000"/>
            <a:ext cx="457200" cy="457200"/>
          </a:xfrm>
          <a:prstGeom prst="ellipse">
            <a:avLst/>
          </a:prstGeom>
          <a:solidFill>
            <a:srgbClr val="440154"/>
          </a:solidFill>
          <a:ln/>
        </p:spPr>
      </p:sp>
      <p:sp>
        <p:nvSpPr>
          <p:cNvPr id="92" name="Text 92"/>
          <p:cNvSpPr/>
          <p:nvPr/>
        </p:nvSpPr>
        <p:spPr>
          <a:xfrm>
            <a:off x="960120" y="3350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000" dirty="0"/>
          </a:p>
        </p:txBody>
      </p:sp>
      <p:sp>
        <p:nvSpPr>
          <p:cNvPr id="93" name="Text 93"/>
          <p:cNvSpPr/>
          <p:nvPr/>
        </p:nvSpPr>
        <p:spPr>
          <a:xfrm>
            <a:off x="1600200" y="3350000"/>
            <a:ext cx="9500000" cy="457200"/>
          </a:xfrm>
          <a:prstGeom prst="rect">
            <a:avLst/>
          </a:prstGeom>
          <a:noFill/>
          <a:ln/>
        </p:spPr>
        <p:txBody>
          <a:bodyPr wrap="square" lIns="0" tIns="0" rIns="0" bIns="0" rtlCol="0" anchor="ctr"/>
          <a:lstStyle/>
          <a:p>
            <a:pPr indent="0" marL="0">
              <a:buNone/>
            </a:pPr>
            <a:r>
              <a:rPr lang="en-US" sz="1800" b="1" dirty="0">
                <a:solidFill>
                  <a:srgbClr val="440154"/>
                </a:solidFill>
                <a:latin typeface="Calibri" pitchFamily="34" charset="0"/>
                <a:ea typeface="Calibri" pitchFamily="34" charset="-122"/>
                <a:cs typeface="Calibri" pitchFamily="34" charset="-120"/>
              </a:rPr>
              <a:t>Why no one else has built this</a:t>
            </a:r>
            <a:endParaRPr lang="en-US" sz="1000" dirty="0"/>
          </a:p>
        </p:txBody>
      </p:sp>
      <p:sp>
        <p:nvSpPr>
          <p:cNvPr id="94" name="Text 94"/>
          <p:cNvSpPr/>
          <p:nvPr/>
        </p:nvSpPr>
        <p:spPr>
          <a:xfrm>
            <a:off x="1600200" y="3852920"/>
            <a:ext cx="9500000" cy="320040"/>
          </a:xfrm>
          <a:prstGeom prst="rect">
            <a:avLst/>
          </a:prstGeom>
          <a:noFill/>
          <a:ln/>
        </p:spPr>
        <p:txBody>
          <a:bodyPr wrap="square" lIns="0" tIns="0" rIns="0" bIns="0" rtlCol="0" anchor="t"/>
          <a:lstStyle/>
          <a:p>
            <a:pPr indent="0" marL="0">
              <a:buNone/>
            </a:pPr>
            <a:r>
              <a:rPr lang="en-US" sz="1300" dirty="0">
                <a:solidFill>
                  <a:srgbClr val="1F1F1F"/>
                </a:solidFill>
                <a:latin typeface="Calibri" pitchFamily="34" charset="0"/>
                <a:ea typeface="Calibri" pitchFamily="34" charset="-122"/>
                <a:cs typeface="Calibri" pitchFamily="34" charset="-120"/>
              </a:rPr>
              <a:t>The idea is old. Making it correct and self-service, without a statistician, is not.</a:t>
            </a:r>
            <a:endParaRPr lang="en-US" sz="1000" dirty="0"/>
          </a:p>
        </p:txBody>
      </p:sp>
      <p:sp>
        <p:nvSpPr>
          <p:cNvPr id="95" name="Shape 95"/>
          <p:cNvSpPr/>
          <p:nvPr/>
        </p:nvSpPr>
        <p:spPr>
          <a:xfrm>
            <a:off x="960120" y="4250000"/>
            <a:ext cx="457200" cy="457200"/>
          </a:xfrm>
          <a:prstGeom prst="ellipse">
            <a:avLst/>
          </a:prstGeom>
          <a:solidFill>
            <a:srgbClr val="BBA800"/>
          </a:solidFill>
          <a:ln/>
        </p:spPr>
      </p:sp>
      <p:sp>
        <p:nvSpPr>
          <p:cNvPr id="96" name="Text 96"/>
          <p:cNvSpPr/>
          <p:nvPr/>
        </p:nvSpPr>
        <p:spPr>
          <a:xfrm>
            <a:off x="960120" y="4250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000" dirty="0"/>
          </a:p>
        </p:txBody>
      </p:sp>
      <p:sp>
        <p:nvSpPr>
          <p:cNvPr id="97" name="Text 97"/>
          <p:cNvSpPr/>
          <p:nvPr/>
        </p:nvSpPr>
        <p:spPr>
          <a:xfrm>
            <a:off x="1600200" y="4250000"/>
            <a:ext cx="9500000" cy="457200"/>
          </a:xfrm>
          <a:prstGeom prst="rect">
            <a:avLst/>
          </a:prstGeom>
          <a:noFill/>
          <a:ln/>
        </p:spPr>
        <p:txBody>
          <a:bodyPr wrap="square" lIns="0" tIns="0" rIns="0" bIns="0" rtlCol="0" anchor="ctr"/>
          <a:lstStyle/>
          <a:p>
            <a:pPr indent="0" marL="0">
              <a:buNone/>
            </a:pPr>
            <a:r>
              <a:rPr lang="en-US" sz="1800" b="1" dirty="0">
                <a:solidFill>
                  <a:srgbClr val="440154"/>
                </a:solidFill>
                <a:latin typeface="Calibri" pitchFamily="34" charset="0"/>
                <a:ea typeface="Calibri" pitchFamily="34" charset="-122"/>
                <a:cs typeface="Calibri" pitchFamily="34" charset="-120"/>
              </a:rPr>
              <a:t>What it buys us</a:t>
            </a:r>
            <a:endParaRPr lang="en-US" sz="1000" dirty="0"/>
          </a:p>
        </p:txBody>
      </p:sp>
      <p:sp>
        <p:nvSpPr>
          <p:cNvPr id="98" name="Text 98"/>
          <p:cNvSpPr/>
          <p:nvPr/>
        </p:nvSpPr>
        <p:spPr>
          <a:xfrm>
            <a:off x="1600200" y="4752920"/>
            <a:ext cx="9500000" cy="320040"/>
          </a:xfrm>
          <a:prstGeom prst="rect">
            <a:avLst/>
          </a:prstGeom>
          <a:noFill/>
          <a:ln/>
        </p:spPr>
        <p:txBody>
          <a:bodyPr wrap="square" lIns="0" tIns="0" rIns="0" bIns="0" rtlCol="0" anchor="t"/>
          <a:lstStyle/>
          <a:p>
            <a:pPr indent="0" marL="0">
              <a:buNone/>
            </a:pPr>
            <a:r>
              <a:rPr lang="en-US" sz="1300" dirty="0">
                <a:solidFill>
                  <a:srgbClr val="1F1F1F"/>
                </a:solidFill>
                <a:latin typeface="Calibri" pitchFamily="34" charset="0"/>
                <a:ea typeface="Calibri" pitchFamily="34" charset="-122"/>
                <a:cs typeface="Calibri" pitchFamily="34" charset="-120"/>
              </a:rPr>
              <a:t>Segment-level intelligence on any foreign population we already survey.</a:t>
            </a:r>
            <a:endParaRPr lang="en-US" sz="1000" dirty="0"/>
          </a:p>
        </p:txBody>
      </p:sp>
      <p:sp>
        <p:nvSpPr>
          <p:cNvPr id="99" name="Shape 99"/>
          <p:cNvSpPr/>
          <p:nvPr/>
        </p:nvSpPr>
        <p:spPr>
          <a:xfrm>
            <a:off x="960120" y="5150000"/>
            <a:ext cx="457200" cy="457200"/>
          </a:xfrm>
          <a:prstGeom prst="ellipse">
            <a:avLst/>
          </a:prstGeom>
          <a:solidFill>
            <a:srgbClr val="5EC962"/>
          </a:solidFill>
          <a:ln/>
        </p:spPr>
      </p:sp>
      <p:sp>
        <p:nvSpPr>
          <p:cNvPr id="100" name="Text 100"/>
          <p:cNvSpPr/>
          <p:nvPr/>
        </p:nvSpPr>
        <p:spPr>
          <a:xfrm>
            <a:off x="960120" y="5150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000" dirty="0"/>
          </a:p>
        </p:txBody>
      </p:sp>
      <p:sp>
        <p:nvSpPr>
          <p:cNvPr id="101" name="Text 101"/>
          <p:cNvSpPr/>
          <p:nvPr/>
        </p:nvSpPr>
        <p:spPr>
          <a:xfrm>
            <a:off x="1600200" y="5150000"/>
            <a:ext cx="9500000" cy="457200"/>
          </a:xfrm>
          <a:prstGeom prst="rect">
            <a:avLst/>
          </a:prstGeom>
          <a:noFill/>
          <a:ln/>
        </p:spPr>
        <p:txBody>
          <a:bodyPr wrap="square" lIns="0" tIns="0" rIns="0" bIns="0" rtlCol="0" anchor="ctr"/>
          <a:lstStyle/>
          <a:p>
            <a:pPr indent="0" marL="0">
              <a:buNone/>
            </a:pPr>
            <a:r>
              <a:rPr lang="en-US" sz="1800" b="1" dirty="0">
                <a:solidFill>
                  <a:srgbClr val="440154"/>
                </a:solidFill>
                <a:latin typeface="Calibri" pitchFamily="34" charset="0"/>
                <a:ea typeface="Calibri" pitchFamily="34" charset="-122"/>
                <a:cs typeface="Calibri" pitchFamily="34" charset="-120"/>
              </a:rPr>
              <a:t>Getting started</a:t>
            </a:r>
            <a:endParaRPr lang="en-US" sz="1000" dirty="0"/>
          </a:p>
        </p:txBody>
      </p:sp>
      <p:sp>
        <p:nvSpPr>
          <p:cNvPr id="102" name="Text 102"/>
          <p:cNvSpPr/>
          <p:nvPr/>
        </p:nvSpPr>
        <p:spPr>
          <a:xfrm>
            <a:off x="1600200" y="5652920"/>
            <a:ext cx="9500000" cy="320040"/>
          </a:xfrm>
          <a:prstGeom prst="rect">
            <a:avLst/>
          </a:prstGeom>
          <a:noFill/>
          <a:ln/>
        </p:spPr>
        <p:txBody>
          <a:bodyPr wrap="square" lIns="0" tIns="0" rIns="0" bIns="0" rtlCol="0" anchor="t"/>
          <a:lstStyle/>
          <a:p>
            <a:pPr indent="0" marL="0">
              <a:buNone/>
            </a:pPr>
            <a:r>
              <a:rPr lang="en-US" sz="1300" dirty="0">
                <a:solidFill>
                  <a:srgbClr val="1F1F1F"/>
                </a:solidFill>
                <a:latin typeface="Calibri" pitchFamily="34" charset="0"/>
                <a:ea typeface="Calibri" pitchFamily="34" charset="-122"/>
                <a:cs typeface="Calibri" pitchFamily="34" charset="-120"/>
              </a:rPr>
              <a:t>Three things that make this how we always do it.</a:t>
            </a:r>
            <a:endParaRPr lang="en-US" sz="1000" dirty="0"/>
          </a:p>
        </p:txBody>
      </p:sp>
      <p:sp>
        <p:nvSpPr>
          <p:cNvPr id="103" name="Text 103"/>
          <p:cNvSpPr/>
          <p:nvPr/>
        </p:nvSpPr>
        <p:spPr>
          <a:xfrm>
            <a:off x="685800" y="5980000"/>
            <a:ext cx="10789920" cy="400000"/>
          </a:xfrm>
          <a:prstGeom prst="rect">
            <a:avLst/>
          </a:prstGeom>
          <a:noFill/>
          <a:ln/>
        </p:spPr>
        <p:txBody>
          <a:bodyPr wrap="square" lIns="0" tIns="0" rIns="0" bIns="0" rtlCol="0" anchor="ctr"/>
          <a:lstStyle/>
          <a:p>
            <a:pPr algn="ctr" indent="0" marL="0">
              <a:buNone/>
            </a:pPr>
            <a:r>
              <a:rPr lang="en-US" sz="1400" dirty="0">
                <a:solidFill>
                  <a:srgbClr val="6B6B6B"/>
                </a:solidFill>
                <a:latin typeface="Calibri" pitchFamily="34" charset="0"/>
                <a:ea typeface="Calibri" pitchFamily="34" charset="-122"/>
                <a:cs typeface="Calibri" pitchFamily="34" charset="-120"/>
              </a:rPr>
              <a:t>This is the one-pager — forward it to anyone who missed the briefing.</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2"/>
          <p:cNvSpPr/>
          <p:nvPr/>
        </p:nvSpPr>
        <p:spPr>
          <a:xfrm>
            <a:off x="0" y="0"/>
            <a:ext cx="12161520" cy="256032"/>
          </a:xfrm>
          <a:prstGeom prst="rect">
            <a:avLst/>
          </a:prstGeom>
          <a:solidFill>
            <a:srgbClr val="006400"/>
          </a:solidFill>
          <a:ln/>
        </p:spPr>
      </p:sp>
      <p:sp>
        <p:nvSpPr>
          <p:cNvPr id="4" name="Text 4"/>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3" name="Shape 3"/>
          <p:cNvSpPr/>
          <p:nvPr/>
        </p:nvSpPr>
        <p:spPr>
          <a:xfrm>
            <a:off x="0" y="6601968"/>
            <a:ext cx="12161520" cy="256032"/>
          </a:xfrm>
          <a:prstGeom prst="rect">
            <a:avLst/>
          </a:prstGeom>
          <a:solidFill>
            <a:srgbClr val="006400"/>
          </a:solidFill>
          <a:ln/>
        </p:spPr>
      </p:sp>
      <p:sp>
        <p:nvSpPr>
          <p:cNvPr id="5" name="Text 5"/>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6"/>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7" name="Text 7"/>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A capability that finds the real publics behind every average</a:t>
            </a:r>
            <a:endParaRPr lang="en-US" sz="1000" dirty="0"/>
          </a:p>
        </p:txBody>
      </p:sp>
      <p:sp>
        <p:nvSpPr>
          <p:cNvPr id="8" name="Text 8"/>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THE CAPABILITY</a:t>
            </a:r>
            <a:endParaRPr lang="en-US" sz="1000" dirty="0"/>
          </a:p>
        </p:txBody>
      </p:sp>
      <p:sp>
        <p:nvSpPr>
          <p:cNvPr id="9" name="Shape 9"/>
          <p:cNvSpPr/>
          <p:nvPr/>
        </p:nvSpPr>
        <p:spPr>
          <a:xfrm>
            <a:off x="685800" y="1600200"/>
            <a:ext cx="10789920" cy="1234440"/>
          </a:xfrm>
          <a:prstGeom prst="roundRect">
            <a:avLst>
              <a:gd name="adj" fmla="val 1724"/>
            </a:avLst>
          </a:prstGeom>
          <a:solidFill>
            <a:srgbClr val="E8F3F2"/>
          </a:solidFill>
          <a:ln w="12700">
            <a:solidFill>
              <a:srgbClr val="E8F3F2"/>
            </a:solidFill>
            <a:prstDash val="solid"/>
          </a:ln>
        </p:spPr>
      </p:sp>
      <p:sp>
        <p:nvSpPr>
          <p:cNvPr id="10" name="Text 10"/>
          <p:cNvSpPr/>
          <p:nvPr/>
        </p:nvSpPr>
        <p:spPr>
          <a:xfrm>
            <a:off x="1143000" y="1600200"/>
            <a:ext cx="9875520" cy="1234440"/>
          </a:xfrm>
          <a:prstGeom prst="rect">
            <a:avLst/>
          </a:prstGeom>
          <a:noFill/>
          <a:ln/>
        </p:spPr>
        <p:txBody>
          <a:bodyPr wrap="square" lIns="0" tIns="0" rIns="0" bIns="0" rtlCol="0" anchor="ctr"/>
          <a:lstStyle/>
          <a:p>
            <a:pPr algn="ctr" indent="0" marL="0">
              <a:buNone/>
            </a:pPr>
            <a:r>
              <a:rPr lang="en-US" sz="1550" dirty="0">
                <a:solidFill>
                  <a:srgbClr val="1F1F1F"/>
                </a:solidFill>
                <a:latin typeface="Calibri" pitchFamily="34" charset="0"/>
                <a:ea typeface="Calibri" pitchFamily="34" charset="-122"/>
                <a:cs typeface="Calibri" pitchFamily="34" charset="-120"/>
              </a:rPr>
              <a:t>Every foreign population surveyed today gets reported as one number — and that number quietly erases the real differences inside it.</a:t>
            </a:r>
          </a:p>
          <a:p>
            <a:pPr algn="ctr" indent="0" marL="0">
              <a:buNone/>
            </a:pPr>
            <a:r>
              <a:rPr lang="en-US" sz="1600" b="1" dirty="0">
                <a:solidFill>
                  <a:srgbClr val="440154"/>
                </a:solidFill>
                <a:latin typeface="Calibri" pitchFamily="34" charset="0"/>
                <a:ea typeface="Calibri" pitchFamily="34" charset="-122"/>
                <a:cs typeface="Calibri" pitchFamily="34" charset="-120"/>
              </a:rPr>
              <a:t>This capability finds the actual publics hiding behind that number.</a:t>
            </a:r>
          </a:p>
        </p:txBody>
      </p:sp>
      <p:sp>
        <p:nvSpPr>
          <p:cNvPr id="11" name="Shape 11"/>
          <p:cNvSpPr/>
          <p:nvPr/>
        </p:nvSpPr>
        <p:spPr>
          <a:xfrm>
            <a:off x="1805940.0" y="3150000"/>
            <a:ext cx="457200" cy="457200"/>
          </a:xfrm>
          <a:prstGeom prst="ellipse">
            <a:avLst/>
          </a:prstGeom>
          <a:solidFill>
            <a:srgbClr val="21918C"/>
          </a:solidFill>
          <a:ln/>
        </p:spPr>
      </p:sp>
      <p:sp>
        <p:nvSpPr>
          <p:cNvPr id="12" name="Text 12"/>
          <p:cNvSpPr/>
          <p:nvPr/>
        </p:nvSpPr>
        <p:spPr>
          <a:xfrm>
            <a:off x="1805940.0" y="31500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000" dirty="0"/>
          </a:p>
        </p:txBody>
      </p:sp>
      <p:sp>
        <p:nvSpPr>
          <p:cNvPr id="13" name="Text 13"/>
          <p:cNvSpPr/>
          <p:nvPr/>
        </p:nvSpPr>
        <p:spPr>
          <a:xfrm>
            <a:off x="685800" y="3707200"/>
            <a:ext cx="2697480" cy="320040"/>
          </a:xfrm>
          <a:prstGeom prst="rect">
            <a:avLst/>
          </a:prstGeom>
          <a:noFill/>
          <a:ln/>
        </p:spPr>
        <p:txBody>
          <a:bodyPr wrap="square" lIns="0" tIns="0" rIns="0" bIns="0" rtlCol="0" anchor="ctr"/>
          <a:lstStyle/>
          <a:p>
            <a:pPr algn="ctr" indent="0" marL="0">
              <a:buNone/>
            </a:pPr>
            <a:r>
              <a:rPr lang="en-US" sz="1450" b="1" dirty="0">
                <a:solidFill>
                  <a:srgbClr val="440154"/>
                </a:solidFill>
                <a:latin typeface="Calibri" pitchFamily="34" charset="0"/>
                <a:ea typeface="Calibri" pitchFamily="34" charset="-122"/>
                <a:cs typeface="Calibri" pitchFamily="34" charset="-120"/>
              </a:rPr>
              <a:t>Finds the real groups</a:t>
            </a:r>
            <a:endParaRPr lang="en-US" sz="1000" dirty="0"/>
          </a:p>
        </p:txBody>
      </p:sp>
      <p:sp>
        <p:nvSpPr>
          <p:cNvPr id="14" name="Text 14"/>
          <p:cNvSpPr/>
          <p:nvPr/>
        </p:nvSpPr>
        <p:spPr>
          <a:xfrm>
            <a:off x="777240" y="4073940"/>
            <a:ext cx="2514600" cy="640000"/>
          </a:xfrm>
          <a:prstGeom prst="rect">
            <a:avLst/>
          </a:prstGeom>
          <a:noFill/>
          <a:ln/>
        </p:spPr>
        <p:txBody>
          <a:bodyPr wrap="square" lIns="0" tIns="0" rIns="0" bIns="0" rtlCol="0" anchor="t"/>
          <a:lstStyle/>
          <a:p>
            <a:pPr algn="ctr" indent="0" marL="0">
              <a:buNone/>
            </a:pPr>
            <a:r>
              <a:rPr lang="en-US" sz="1150" dirty="0">
                <a:solidFill>
                  <a:srgbClr val="1F1F1F"/>
                </a:solidFill>
                <a:latin typeface="Calibri" pitchFamily="34" charset="0"/>
                <a:ea typeface="Calibri" pitchFamily="34" charset="-122"/>
                <a:cs typeface="Calibri" pitchFamily="34" charset="-120"/>
              </a:rPr>
              <a:t>Replaces a guess with a map of the publics actually there.</a:t>
            </a:r>
            <a:endParaRPr lang="en-US" sz="1000" dirty="0"/>
          </a:p>
        </p:txBody>
      </p:sp>
      <p:sp>
        <p:nvSpPr>
          <p:cNvPr id="15" name="Shape 15"/>
          <p:cNvSpPr/>
          <p:nvPr/>
        </p:nvSpPr>
        <p:spPr>
          <a:xfrm>
            <a:off x="4503420.0" y="3150000"/>
            <a:ext cx="457200" cy="457200"/>
          </a:xfrm>
          <a:prstGeom prst="ellipse">
            <a:avLst/>
          </a:prstGeom>
          <a:solidFill>
            <a:srgbClr val="3B528B"/>
          </a:solidFill>
          <a:ln/>
        </p:spPr>
      </p:sp>
      <p:sp>
        <p:nvSpPr>
          <p:cNvPr id="16" name="Text 16"/>
          <p:cNvSpPr/>
          <p:nvPr/>
        </p:nvSpPr>
        <p:spPr>
          <a:xfrm>
            <a:off x="4503420.0" y="31500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000" dirty="0"/>
          </a:p>
        </p:txBody>
      </p:sp>
      <p:sp>
        <p:nvSpPr>
          <p:cNvPr id="17" name="Text 17"/>
          <p:cNvSpPr/>
          <p:nvPr/>
        </p:nvSpPr>
        <p:spPr>
          <a:xfrm>
            <a:off x="3383280" y="3707200"/>
            <a:ext cx="2697480" cy="320040"/>
          </a:xfrm>
          <a:prstGeom prst="rect">
            <a:avLst/>
          </a:prstGeom>
          <a:noFill/>
          <a:ln/>
        </p:spPr>
        <p:txBody>
          <a:bodyPr wrap="square" lIns="0" tIns="0" rIns="0" bIns="0" rtlCol="0" anchor="ctr"/>
          <a:lstStyle/>
          <a:p>
            <a:pPr algn="ctr" indent="0" marL="0">
              <a:buNone/>
            </a:pPr>
            <a:r>
              <a:rPr lang="en-US" sz="1450" b="1" dirty="0">
                <a:solidFill>
                  <a:srgbClr val="440154"/>
                </a:solidFill>
                <a:latin typeface="Calibri" pitchFamily="34" charset="0"/>
                <a:ea typeface="Calibri" pitchFamily="34" charset="-122"/>
                <a:cs typeface="Calibri" pitchFamily="34" charset="-120"/>
              </a:rPr>
              <a:t>Counts everyone fairly</a:t>
            </a:r>
            <a:endParaRPr lang="en-US" sz="1000" dirty="0"/>
          </a:p>
        </p:txBody>
      </p:sp>
      <p:sp>
        <p:nvSpPr>
          <p:cNvPr id="18" name="Text 18"/>
          <p:cNvSpPr/>
          <p:nvPr/>
        </p:nvSpPr>
        <p:spPr>
          <a:xfrm>
            <a:off x="3474720" y="4073940"/>
            <a:ext cx="2514600" cy="640000"/>
          </a:xfrm>
          <a:prstGeom prst="rect">
            <a:avLst/>
          </a:prstGeom>
          <a:noFill/>
          <a:ln/>
        </p:spPr>
        <p:txBody>
          <a:bodyPr wrap="square" lIns="0" tIns="0" rIns="0" bIns="0" rtlCol="0" anchor="t"/>
          <a:lstStyle/>
          <a:p>
            <a:pPr algn="ctr" indent="0" marL="0">
              <a:buNone/>
            </a:pPr>
            <a:r>
              <a:rPr lang="en-US" sz="1150" dirty="0">
                <a:solidFill>
                  <a:srgbClr val="1F1F1F"/>
                </a:solidFill>
                <a:latin typeface="Calibri" pitchFamily="34" charset="0"/>
                <a:ea typeface="Calibri" pitchFamily="34" charset="-122"/>
                <a:cs typeface="Calibri" pitchFamily="34" charset="-120"/>
              </a:rPr>
              <a:t>No one's voice quietly counts for less than it should.</a:t>
            </a:r>
            <a:endParaRPr lang="en-US" sz="1000" dirty="0"/>
          </a:p>
        </p:txBody>
      </p:sp>
      <p:sp>
        <p:nvSpPr>
          <p:cNvPr id="19" name="Shape 19"/>
          <p:cNvSpPr/>
          <p:nvPr/>
        </p:nvSpPr>
        <p:spPr>
          <a:xfrm>
            <a:off x="7200900.0" y="3150000"/>
            <a:ext cx="457200" cy="457200"/>
          </a:xfrm>
          <a:prstGeom prst="ellipse">
            <a:avLst/>
          </a:prstGeom>
          <a:solidFill>
            <a:srgbClr val="440154"/>
          </a:solidFill>
          <a:ln/>
        </p:spPr>
      </p:sp>
      <p:sp>
        <p:nvSpPr>
          <p:cNvPr id="20" name="Text 20"/>
          <p:cNvSpPr/>
          <p:nvPr/>
        </p:nvSpPr>
        <p:spPr>
          <a:xfrm>
            <a:off x="7200900.0" y="31500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000" dirty="0"/>
          </a:p>
        </p:txBody>
      </p:sp>
      <p:sp>
        <p:nvSpPr>
          <p:cNvPr id="21" name="Text 21"/>
          <p:cNvSpPr/>
          <p:nvPr/>
        </p:nvSpPr>
        <p:spPr>
          <a:xfrm>
            <a:off x="6080760" y="3707200"/>
            <a:ext cx="2697480" cy="320040"/>
          </a:xfrm>
          <a:prstGeom prst="rect">
            <a:avLst/>
          </a:prstGeom>
          <a:noFill/>
          <a:ln/>
        </p:spPr>
        <p:txBody>
          <a:bodyPr wrap="square" lIns="0" tIns="0" rIns="0" bIns="0" rtlCol="0" anchor="ctr"/>
          <a:lstStyle/>
          <a:p>
            <a:pPr algn="ctr" indent="0" marL="0">
              <a:buNone/>
            </a:pPr>
            <a:r>
              <a:rPr lang="en-US" sz="1450" b="1" dirty="0">
                <a:solidFill>
                  <a:srgbClr val="440154"/>
                </a:solidFill>
                <a:latin typeface="Calibri" pitchFamily="34" charset="0"/>
                <a:ea typeface="Calibri" pitchFamily="34" charset="-122"/>
                <a:cs typeface="Calibri" pitchFamily="34" charset="-120"/>
              </a:rPr>
              <a:t>Keeps AI on a leash</a:t>
            </a:r>
            <a:endParaRPr lang="en-US" sz="1000" dirty="0"/>
          </a:p>
        </p:txBody>
      </p:sp>
      <p:sp>
        <p:nvSpPr>
          <p:cNvPr id="22" name="Text 22"/>
          <p:cNvSpPr/>
          <p:nvPr/>
        </p:nvSpPr>
        <p:spPr>
          <a:xfrm>
            <a:off x="6172200" y="4073940"/>
            <a:ext cx="2514600" cy="640000"/>
          </a:xfrm>
          <a:prstGeom prst="rect">
            <a:avLst/>
          </a:prstGeom>
          <a:noFill/>
          <a:ln/>
        </p:spPr>
        <p:txBody>
          <a:bodyPr wrap="square" lIns="0" tIns="0" rIns="0" bIns="0" rtlCol="0" anchor="t"/>
          <a:lstStyle/>
          <a:p>
            <a:pPr algn="ctr" indent="0" marL="0">
              <a:buNone/>
            </a:pPr>
            <a:r>
              <a:rPr lang="en-US" sz="1150" dirty="0">
                <a:solidFill>
                  <a:srgbClr val="1F1F1F"/>
                </a:solidFill>
                <a:latin typeface="Calibri" pitchFamily="34" charset="0"/>
                <a:ea typeface="Calibri" pitchFamily="34" charset="-122"/>
                <a:cs typeface="Calibri" pitchFamily="34" charset="-120"/>
              </a:rPr>
              <a:t>Drafts language. Never a number. Never a finding.</a:t>
            </a:r>
            <a:endParaRPr lang="en-US" sz="1000" dirty="0"/>
          </a:p>
        </p:txBody>
      </p:sp>
      <p:sp>
        <p:nvSpPr>
          <p:cNvPr id="23" name="Shape 23"/>
          <p:cNvSpPr/>
          <p:nvPr/>
        </p:nvSpPr>
        <p:spPr>
          <a:xfrm>
            <a:off x="9898380.0" y="3150000"/>
            <a:ext cx="457200" cy="457200"/>
          </a:xfrm>
          <a:prstGeom prst="ellipse">
            <a:avLst/>
          </a:prstGeom>
          <a:solidFill>
            <a:srgbClr val="BBA800"/>
          </a:solidFill>
          <a:ln/>
        </p:spPr>
      </p:sp>
      <p:sp>
        <p:nvSpPr>
          <p:cNvPr id="24" name="Text 24"/>
          <p:cNvSpPr/>
          <p:nvPr/>
        </p:nvSpPr>
        <p:spPr>
          <a:xfrm>
            <a:off x="9898380.0" y="31500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000" dirty="0"/>
          </a:p>
        </p:txBody>
      </p:sp>
      <p:sp>
        <p:nvSpPr>
          <p:cNvPr id="25" name="Text 25"/>
          <p:cNvSpPr/>
          <p:nvPr/>
        </p:nvSpPr>
        <p:spPr>
          <a:xfrm>
            <a:off x="8778240" y="3707200"/>
            <a:ext cx="2697480" cy="320040"/>
          </a:xfrm>
          <a:prstGeom prst="rect">
            <a:avLst/>
          </a:prstGeom>
          <a:noFill/>
          <a:ln/>
        </p:spPr>
        <p:txBody>
          <a:bodyPr wrap="square" lIns="0" tIns="0" rIns="0" bIns="0" rtlCol="0" anchor="ctr"/>
          <a:lstStyle/>
          <a:p>
            <a:pPr algn="ctr" indent="0" marL="0">
              <a:buNone/>
            </a:pPr>
            <a:r>
              <a:rPr lang="en-US" sz="1450" b="1" dirty="0">
                <a:solidFill>
                  <a:srgbClr val="440154"/>
                </a:solidFill>
                <a:latin typeface="Calibri" pitchFamily="34" charset="0"/>
                <a:ea typeface="Calibri" pitchFamily="34" charset="-122"/>
                <a:cs typeface="Calibri" pitchFamily="34" charset="-120"/>
              </a:rPr>
              <a:t>Puts an analyst in charge</a:t>
            </a:r>
            <a:endParaRPr lang="en-US" sz="1000" dirty="0"/>
          </a:p>
        </p:txBody>
      </p:sp>
      <p:sp>
        <p:nvSpPr>
          <p:cNvPr id="26" name="Text 26"/>
          <p:cNvSpPr/>
          <p:nvPr/>
        </p:nvSpPr>
        <p:spPr>
          <a:xfrm>
            <a:off x="8869680" y="4073940"/>
            <a:ext cx="2514600" cy="640000"/>
          </a:xfrm>
          <a:prstGeom prst="rect">
            <a:avLst/>
          </a:prstGeom>
          <a:noFill/>
          <a:ln/>
        </p:spPr>
        <p:txBody>
          <a:bodyPr wrap="square" lIns="0" tIns="0" rIns="0" bIns="0" rtlCol="0" anchor="t"/>
          <a:lstStyle/>
          <a:p>
            <a:pPr algn="ctr" indent="0" marL="0">
              <a:buNone/>
            </a:pPr>
            <a:r>
              <a:rPr lang="en-US" sz="1150" dirty="0">
                <a:solidFill>
                  <a:srgbClr val="1F1F1F"/>
                </a:solidFill>
                <a:latin typeface="Calibri" pitchFamily="34" charset="0"/>
                <a:ea typeface="Calibri" pitchFamily="34" charset="-122"/>
                <a:cs typeface="Calibri" pitchFamily="34" charset="-120"/>
              </a:rPr>
              <a:t>No coding or statistics background required to run it.</a:t>
            </a:r>
            <a:endParaRPr lang="en-US" sz="1000" dirty="0"/>
          </a:p>
        </p:txBody>
      </p:sp>
      <p:sp>
        <p:nvSpPr>
          <p:cNvPr id="27" name="Text 27"/>
          <p:cNvSpPr/>
          <p:nvPr/>
        </p:nvSpPr>
        <p:spPr>
          <a:xfrm>
            <a:off x="685800" y="5550000"/>
            <a:ext cx="10789920" cy="500000"/>
          </a:xfrm>
          <a:prstGeom prst="rect">
            <a:avLst/>
          </a:prstGeom>
          <a:noFill/>
          <a:ln/>
        </p:spPr>
        <p:txBody>
          <a:bodyPr wrap="square" lIns="0" tIns="0" rIns="0" bIns="0" rtlCol="0" anchor="ctr"/>
          <a:lstStyle/>
          <a:p>
            <a:pPr algn="ctr" indent="0" marL="0">
              <a:buNone/>
            </a:pPr>
            <a:r>
              <a:rPr lang="en-US" sz="1350" dirty="0">
                <a:solidFill>
                  <a:srgbClr val="6B6B6B"/>
                </a:solidFill>
                <a:latin typeface="Calibri" pitchFamily="34" charset="0"/>
                <a:ea typeface="Calibri" pitchFamily="34" charset="-122"/>
                <a:cs typeface="Calibri" pitchFamily="34" charset="-120"/>
              </a:rPr>
              <a:t>Built to run as a standing capability across every foreign-population account — not a one-off study.</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8" name="Shape 28"/>
          <p:cNvSpPr/>
          <p:nvPr/>
        </p:nvSpPr>
        <p:spPr>
          <a:xfrm>
            <a:off x="0" y="0"/>
            <a:ext cx="12161520" cy="256032"/>
          </a:xfrm>
          <a:prstGeom prst="rect">
            <a:avLst/>
          </a:prstGeom>
          <a:solidFill>
            <a:srgbClr val="006400"/>
          </a:solidFill>
          <a:ln/>
        </p:spPr>
      </p:sp>
      <p:sp>
        <p:nvSpPr>
          <p:cNvPr id="30" name="Text 30"/>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29" name="Shape 29"/>
          <p:cNvSpPr/>
          <p:nvPr/>
        </p:nvSpPr>
        <p:spPr>
          <a:xfrm>
            <a:off x="0" y="6601968"/>
            <a:ext cx="12161520" cy="256032"/>
          </a:xfrm>
          <a:prstGeom prst="rect">
            <a:avLst/>
          </a:prstGeom>
          <a:solidFill>
            <a:srgbClr val="006400"/>
          </a:solidFill>
          <a:ln/>
        </p:spPr>
      </p:sp>
      <p:sp>
        <p:nvSpPr>
          <p:cNvPr id="31" name="Text 31"/>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32" name="Text 32"/>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3" name="Text 33"/>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This turns a guess about any foreign public into real intelligence</a:t>
            </a:r>
            <a:endParaRPr lang="en-US" sz="1000" dirty="0"/>
          </a:p>
        </p:txBody>
      </p:sp>
      <p:sp>
        <p:nvSpPr>
          <p:cNvPr id="34" name="Text 34"/>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WHAT YOU GET</a:t>
            </a:r>
            <a:endParaRPr lang="en-US" sz="1000" dirty="0"/>
          </a:p>
        </p:txBody>
      </p:sp>
      <p:sp>
        <p:nvSpPr>
          <p:cNvPr id="35" name="Shape 35"/>
          <p:cNvSpPr/>
          <p:nvPr/>
        </p:nvSpPr>
        <p:spPr>
          <a:xfrm>
            <a:off x="685800" y="1554480"/>
            <a:ext cx="10789920" cy="1097280"/>
          </a:xfrm>
          <a:prstGeom prst="roundRect">
            <a:avLst>
              <a:gd name="adj" fmla="val 1724"/>
            </a:avLst>
          </a:prstGeom>
          <a:solidFill>
            <a:srgbClr val="E8F3F2"/>
          </a:solidFill>
          <a:ln w="12700">
            <a:solidFill>
              <a:srgbClr val="E8F3F2"/>
            </a:solidFill>
            <a:prstDash val="solid"/>
          </a:ln>
        </p:spPr>
      </p:sp>
      <p:sp>
        <p:nvSpPr>
          <p:cNvPr id="36" name="Text 36"/>
          <p:cNvSpPr/>
          <p:nvPr/>
        </p:nvSpPr>
        <p:spPr>
          <a:xfrm>
            <a:off x="1143000" y="1554480"/>
            <a:ext cx="9875520" cy="1097280"/>
          </a:xfrm>
          <a:prstGeom prst="rect">
            <a:avLst/>
          </a:prstGeom>
          <a:noFill/>
          <a:ln/>
        </p:spPr>
        <p:txBody>
          <a:bodyPr wrap="square" lIns="0" tIns="0" rIns="0" bIns="0" rtlCol="0" anchor="ctr"/>
          <a:lstStyle/>
          <a:p>
            <a:pPr algn="ctr" indent="0" marL="0">
              <a:buNone/>
            </a:pPr>
            <a:r>
              <a:rPr lang="en-US" sz="1600" dirty="0">
                <a:solidFill>
                  <a:srgbClr val="1F1F1F"/>
                </a:solidFill>
                <a:latin typeface="Calibri" pitchFamily="34" charset="0"/>
                <a:ea typeface="Calibri" pitchFamily="34" charset="-122"/>
                <a:cs typeface="Calibri" pitchFamily="34" charset="-120"/>
              </a:rPr>
              <a:t>Instead of briefing “trust in government is at 42 percent,”</a:t>
            </a:r>
          </a:p>
          <a:p>
            <a:pPr algn="ctr" indent="0" marL="0">
              <a:buNone/>
            </a:pPr>
            <a:r>
              <a:rPr lang="en-US" sz="1600" b="1" dirty="0">
                <a:solidFill>
                  <a:srgbClr val="440154"/>
                </a:solidFill>
                <a:latin typeface="Calibri" pitchFamily="34" charset="0"/>
                <a:ea typeface="Calibri" pitchFamily="34" charset="-122"/>
                <a:cs typeface="Calibri" pitchFamily="34" charset="-120"/>
              </a:rPr>
              <a:t>we can brief which publics make up that number, how big each is, and how sure we are.</a:t>
            </a:r>
          </a:p>
        </p:txBody>
      </p:sp>
      <p:sp>
        <p:nvSpPr>
          <p:cNvPr id="37" name="Shape 37"/>
          <p:cNvSpPr/>
          <p:nvPr/>
        </p:nvSpPr>
        <p:spPr>
          <a:xfrm>
            <a:off x="685800" y="2937000"/>
            <a:ext cx="3368040" cy="2011680"/>
          </a:xfrm>
          <a:prstGeom prst="roundRect">
            <a:avLst>
              <a:gd name="adj" fmla="val 2273"/>
            </a:avLst>
          </a:prstGeom>
          <a:solidFill>
            <a:srgbClr val="F7F7F7"/>
          </a:solidFill>
          <a:ln w="12700">
            <a:solidFill>
              <a:srgbClr val="E4E4E4"/>
            </a:solidFill>
            <a:prstDash val="solid"/>
          </a:ln>
        </p:spPr>
      </p:sp>
      <p:sp>
        <p:nvSpPr>
          <p:cNvPr id="38" name="Shape 38"/>
          <p:cNvSpPr/>
          <p:nvPr/>
        </p:nvSpPr>
        <p:spPr>
          <a:xfrm>
            <a:off x="960120" y="3211320"/>
            <a:ext cx="365760" cy="365760"/>
          </a:xfrm>
          <a:prstGeom prst="ellipse">
            <a:avLst/>
          </a:prstGeom>
          <a:solidFill>
            <a:srgbClr val="21918C"/>
          </a:solidFill>
          <a:ln/>
        </p:spPr>
      </p:sp>
      <p:sp>
        <p:nvSpPr>
          <p:cNvPr id="39" name="Text 39"/>
          <p:cNvSpPr/>
          <p:nvPr/>
        </p:nvSpPr>
        <p:spPr>
          <a:xfrm>
            <a:off x="960120" y="3714240"/>
            <a:ext cx="2819400" cy="320040"/>
          </a:xfrm>
          <a:prstGeom prst="rect">
            <a:avLst/>
          </a:prstGeom>
          <a:noFill/>
          <a:ln/>
        </p:spPr>
        <p:txBody>
          <a:bodyPr wrap="square" lIns="0" tIns="0" rIns="0" bIns="0" rtlCol="0" anchor="ctr"/>
          <a:lstStyle/>
          <a:p>
            <a:pPr indent="0" marL="0">
              <a:buNone/>
            </a:pPr>
            <a:r>
              <a:rPr lang="en-US" sz="1600" b="1" dirty="0">
                <a:solidFill>
                  <a:srgbClr val="440154"/>
                </a:solidFill>
                <a:latin typeface="Calibri" pitchFamily="34" charset="0"/>
                <a:ea typeface="Calibri" pitchFamily="34" charset="-122"/>
                <a:cs typeface="Calibri" pitchFamily="34" charset="-120"/>
              </a:rPr>
              <a:t>A real audience to aim at</a:t>
            </a:r>
            <a:endParaRPr lang="en-US" sz="1000" dirty="0"/>
          </a:p>
        </p:txBody>
      </p:sp>
      <p:sp>
        <p:nvSpPr>
          <p:cNvPr id="40" name="Text 40"/>
          <p:cNvSpPr/>
          <p:nvPr/>
        </p:nvSpPr>
        <p:spPr>
          <a:xfrm>
            <a:off x="960120" y="4080000"/>
            <a:ext cx="2819400" cy="731520"/>
          </a:xfrm>
          <a:prstGeom prst="rect">
            <a:avLst/>
          </a:prstGeom>
          <a:noFill/>
          <a:ln/>
        </p:spPr>
        <p:txBody>
          <a:bodyPr wrap="square" lIns="0" tIns="0" rIns="0" bIns="0" rtlCol="0" anchor="t"/>
          <a:lstStyle/>
          <a:p>
            <a:pPr indent="0" marL="0">
              <a:buNone/>
            </a:pPr>
            <a:r>
              <a:rPr lang="en-US" sz="1300" dirty="0">
                <a:solidFill>
                  <a:srgbClr val="1F1F1F"/>
                </a:solidFill>
                <a:latin typeface="Calibri" pitchFamily="34" charset="0"/>
                <a:ea typeface="Calibri" pitchFamily="34" charset="-122"/>
                <a:cs typeface="Calibri" pitchFamily="34" charset="-120"/>
              </a:rPr>
              <a:t>Programs and messaging get pointed at an actual public, not a mean that describes no one.</a:t>
            </a:r>
            <a:endParaRPr lang="en-US" sz="1000" dirty="0"/>
          </a:p>
        </p:txBody>
      </p:sp>
      <p:sp>
        <p:nvSpPr>
          <p:cNvPr id="41" name="Shape 41"/>
          <p:cNvSpPr/>
          <p:nvPr/>
        </p:nvSpPr>
        <p:spPr>
          <a:xfrm>
            <a:off x="4328160" y="2937000"/>
            <a:ext cx="3368040" cy="2011680"/>
          </a:xfrm>
          <a:prstGeom prst="roundRect">
            <a:avLst>
              <a:gd name="adj" fmla="val 2273"/>
            </a:avLst>
          </a:prstGeom>
          <a:solidFill>
            <a:srgbClr val="F7F7F7"/>
          </a:solidFill>
          <a:ln w="12700">
            <a:solidFill>
              <a:srgbClr val="E4E4E4"/>
            </a:solidFill>
            <a:prstDash val="solid"/>
          </a:ln>
        </p:spPr>
      </p:sp>
      <p:sp>
        <p:nvSpPr>
          <p:cNvPr id="42" name="Shape 42"/>
          <p:cNvSpPr/>
          <p:nvPr/>
        </p:nvSpPr>
        <p:spPr>
          <a:xfrm>
            <a:off x="4602480" y="3211320"/>
            <a:ext cx="365760" cy="365760"/>
          </a:xfrm>
          <a:prstGeom prst="ellipse">
            <a:avLst/>
          </a:prstGeom>
          <a:solidFill>
            <a:srgbClr val="3B528B"/>
          </a:solidFill>
          <a:ln/>
        </p:spPr>
      </p:sp>
      <p:sp>
        <p:nvSpPr>
          <p:cNvPr id="43" name="Text 43"/>
          <p:cNvSpPr/>
          <p:nvPr/>
        </p:nvSpPr>
        <p:spPr>
          <a:xfrm>
            <a:off x="4602480" y="3714240"/>
            <a:ext cx="2819400" cy="320040"/>
          </a:xfrm>
          <a:prstGeom prst="rect">
            <a:avLst/>
          </a:prstGeom>
          <a:noFill/>
          <a:ln/>
        </p:spPr>
        <p:txBody>
          <a:bodyPr wrap="square" lIns="0" tIns="0" rIns="0" bIns="0" rtlCol="0" anchor="ctr"/>
          <a:lstStyle/>
          <a:p>
            <a:pPr indent="0" marL="0">
              <a:buNone/>
            </a:pPr>
            <a:r>
              <a:rPr lang="en-US" sz="1600" b="1" dirty="0">
                <a:solidFill>
                  <a:srgbClr val="440154"/>
                </a:solidFill>
                <a:latin typeface="Calibri" pitchFamily="34" charset="0"/>
                <a:ea typeface="Calibri" pitchFamily="34" charset="-122"/>
                <a:cs typeface="Calibri" pitchFamily="34" charset="-120"/>
              </a:rPr>
              <a:t>One method, any battery</a:t>
            </a:r>
            <a:endParaRPr lang="en-US" sz="1000" dirty="0"/>
          </a:p>
        </p:txBody>
      </p:sp>
      <p:sp>
        <p:nvSpPr>
          <p:cNvPr id="44" name="Text 44"/>
          <p:cNvSpPr/>
          <p:nvPr/>
        </p:nvSpPr>
        <p:spPr>
          <a:xfrm>
            <a:off x="4602480" y="4080000"/>
            <a:ext cx="2819400" cy="731520"/>
          </a:xfrm>
          <a:prstGeom prst="rect">
            <a:avLst/>
          </a:prstGeom>
          <a:noFill/>
          <a:ln/>
        </p:spPr>
        <p:txBody>
          <a:bodyPr wrap="square" lIns="0" tIns="0" rIns="0" bIns="0" rtlCol="0" anchor="t"/>
          <a:lstStyle/>
          <a:p>
            <a:pPr indent="0" marL="0">
              <a:buNone/>
            </a:pPr>
            <a:r>
              <a:rPr lang="en-US" sz="1300" dirty="0">
                <a:solidFill>
                  <a:srgbClr val="1F1F1F"/>
                </a:solidFill>
                <a:latin typeface="Calibri" pitchFamily="34" charset="0"/>
                <a:ea typeface="Calibri" pitchFamily="34" charset="-122"/>
                <a:cs typeface="Calibri" pitchFamily="34" charset="-120"/>
              </a:rPr>
              <a:t>The same pipeline segments trust, media use, or economic anxiety in any foreign population we already survey.</a:t>
            </a:r>
            <a:endParaRPr lang="en-US" sz="1000" dirty="0"/>
          </a:p>
        </p:txBody>
      </p:sp>
      <p:sp>
        <p:nvSpPr>
          <p:cNvPr id="45" name="Shape 45"/>
          <p:cNvSpPr/>
          <p:nvPr/>
        </p:nvSpPr>
        <p:spPr>
          <a:xfrm>
            <a:off x="7970520" y="2937000"/>
            <a:ext cx="3368040" cy="2011680"/>
          </a:xfrm>
          <a:prstGeom prst="roundRect">
            <a:avLst>
              <a:gd name="adj" fmla="val 2273"/>
            </a:avLst>
          </a:prstGeom>
          <a:solidFill>
            <a:srgbClr val="F7F7F7"/>
          </a:solidFill>
          <a:ln w="12700">
            <a:solidFill>
              <a:srgbClr val="E4E4E4"/>
            </a:solidFill>
            <a:prstDash val="solid"/>
          </a:ln>
        </p:spPr>
      </p:sp>
      <p:sp>
        <p:nvSpPr>
          <p:cNvPr id="46" name="Shape 46"/>
          <p:cNvSpPr/>
          <p:nvPr/>
        </p:nvSpPr>
        <p:spPr>
          <a:xfrm>
            <a:off x="8244840" y="3211320"/>
            <a:ext cx="365760" cy="365760"/>
          </a:xfrm>
          <a:prstGeom prst="ellipse">
            <a:avLst/>
          </a:prstGeom>
          <a:solidFill>
            <a:srgbClr val="440154"/>
          </a:solidFill>
          <a:ln/>
        </p:spPr>
      </p:sp>
      <p:sp>
        <p:nvSpPr>
          <p:cNvPr id="47" name="Text 47"/>
          <p:cNvSpPr/>
          <p:nvPr/>
        </p:nvSpPr>
        <p:spPr>
          <a:xfrm>
            <a:off x="8244840" y="3714240"/>
            <a:ext cx="2819400" cy="320040"/>
          </a:xfrm>
          <a:prstGeom prst="rect">
            <a:avLst/>
          </a:prstGeom>
          <a:noFill/>
          <a:ln/>
        </p:spPr>
        <p:txBody>
          <a:bodyPr wrap="square" lIns="0" tIns="0" rIns="0" bIns="0" rtlCol="0" anchor="ctr"/>
          <a:lstStyle/>
          <a:p>
            <a:pPr indent="0" marL="0">
              <a:buNone/>
            </a:pPr>
            <a:r>
              <a:rPr lang="en-US" sz="1600" b="1" dirty="0">
                <a:solidFill>
                  <a:srgbClr val="440154"/>
                </a:solidFill>
                <a:latin typeface="Calibri" pitchFamily="34" charset="0"/>
                <a:ea typeface="Calibri" pitchFamily="34" charset="-122"/>
                <a:cs typeface="Calibri" pitchFamily="34" charset="-120"/>
              </a:rPr>
              <a:t>Honesty about our uncertainty</a:t>
            </a:r>
            <a:endParaRPr lang="en-US" sz="1000" dirty="0"/>
          </a:p>
        </p:txBody>
      </p:sp>
      <p:sp>
        <p:nvSpPr>
          <p:cNvPr id="48" name="Text 48"/>
          <p:cNvSpPr/>
          <p:nvPr/>
        </p:nvSpPr>
        <p:spPr>
          <a:xfrm>
            <a:off x="8244840" y="4080000"/>
            <a:ext cx="2819400" cy="731520"/>
          </a:xfrm>
          <a:prstGeom prst="rect">
            <a:avLst/>
          </a:prstGeom>
          <a:noFill/>
          <a:ln/>
        </p:spPr>
        <p:txBody>
          <a:bodyPr wrap="square" lIns="0" tIns="0" rIns="0" bIns="0" rtlCol="0" anchor="t"/>
          <a:lstStyle/>
          <a:p>
            <a:pPr indent="0" marL="0">
              <a:buNone/>
            </a:pPr>
            <a:r>
              <a:rPr lang="en-US" sz="1300" dirty="0">
                <a:solidFill>
                  <a:srgbClr val="1F1F1F"/>
                </a:solidFill>
                <a:latin typeface="Calibri" pitchFamily="34" charset="0"/>
                <a:ea typeface="Calibri" pitchFamily="34" charset="-122"/>
                <a:cs typeface="Calibri" pitchFamily="34" charset="-120"/>
              </a:rPr>
              <a:t>Every group's size comes with how confident we are, so a recommendation never claims more precision than the sample supports.</a:t>
            </a:r>
            <a:endParaRPr lang="en-US" sz="1000" dirty="0"/>
          </a:p>
        </p:txBody>
      </p:sp>
      <p:sp>
        <p:nvSpPr>
          <p:cNvPr id="49" name="Shape 49"/>
          <p:cNvSpPr/>
          <p:nvPr/>
        </p:nvSpPr>
        <p:spPr>
          <a:xfrm>
            <a:off x="685800" y="5269200"/>
            <a:ext cx="10789920" cy="1097280"/>
          </a:xfrm>
          <a:prstGeom prst="roundRect">
            <a:avLst>
              <a:gd name="adj" fmla="val 2300"/>
            </a:avLst>
          </a:prstGeom>
          <a:solidFill>
            <a:srgbClr val="F1EBF4"/>
          </a:solidFill>
          <a:ln w="12700">
            <a:solidFill>
              <a:srgbClr val="F1EBF4"/>
            </a:solidFill>
            <a:prstDash val="solid"/>
          </a:ln>
        </p:spPr>
      </p:sp>
      <p:sp>
        <p:nvSpPr>
          <p:cNvPr id="50" name="Text 50"/>
          <p:cNvSpPr/>
          <p:nvPr/>
        </p:nvSpPr>
        <p:spPr>
          <a:xfrm>
            <a:off x="1143000" y="5269200"/>
            <a:ext cx="9875520" cy="1097280"/>
          </a:xfrm>
          <a:prstGeom prst="rect">
            <a:avLst/>
          </a:prstGeom>
          <a:noFill/>
          <a:ln/>
        </p:spPr>
        <p:txBody>
          <a:bodyPr wrap="square" lIns="0" tIns="0" rIns="0" bIns="0" rtlCol="0" anchor="ctr"/>
          <a:lstStyle/>
          <a:p>
            <a:pPr algn="ctr" indent="0" marL="0">
              <a:buNone/>
            </a:pPr>
            <a:r>
              <a:rPr lang="en-US" sz="1600" dirty="0">
                <a:solidFill>
                  <a:srgbClr val="1F1F1F"/>
                </a:solidFill>
                <a:latin typeface="Calibri" pitchFamily="34" charset="0"/>
                <a:ea typeface="Calibri" pitchFamily="34" charset="-122"/>
                <a:cs typeface="Calibri" pitchFamily="34" charset="-120"/>
              </a:rPr>
              <a:t>This is not one study's finding.</a:t>
            </a:r>
          </a:p>
          <a:p>
            <a:pPr algn="ctr" indent="0" marL="0">
              <a:buNone/>
            </a:pPr>
            <a:r>
              <a:rPr lang="en-US" sz="1600" b="1" dirty="0">
                <a:solidFill>
                  <a:srgbClr val="440154"/>
                </a:solidFill>
                <a:latin typeface="Calibri" pitchFamily="34" charset="0"/>
                <a:ea typeface="Calibri" pitchFamily="34" charset="-122"/>
                <a:cs typeface="Calibri" pitchFamily="34" charset="-120"/>
              </a:rPr>
              <a:t>It's a standing capability, ready to run across every foreign-population account.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8" name="Shape 28"/>
          <p:cNvSpPr/>
          <p:nvPr/>
        </p:nvSpPr>
        <p:spPr>
          <a:xfrm>
            <a:off x="0" y="0"/>
            <a:ext cx="12161520" cy="256032"/>
          </a:xfrm>
          <a:prstGeom prst="rect">
            <a:avLst/>
          </a:prstGeom>
          <a:solidFill>
            <a:srgbClr val="006400"/>
          </a:solidFill>
          <a:ln/>
        </p:spPr>
      </p:sp>
      <p:sp>
        <p:nvSpPr>
          <p:cNvPr id="30" name="Text 30"/>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29" name="Shape 29"/>
          <p:cNvSpPr/>
          <p:nvPr/>
        </p:nvSpPr>
        <p:spPr>
          <a:xfrm>
            <a:off x="0" y="6601968"/>
            <a:ext cx="12161520" cy="256032"/>
          </a:xfrm>
          <a:prstGeom prst="rect">
            <a:avLst/>
          </a:prstGeom>
          <a:solidFill>
            <a:srgbClr val="006400"/>
          </a:solidFill>
          <a:ln/>
        </p:spPr>
      </p:sp>
      <p:sp>
        <p:nvSpPr>
          <p:cNvPr id="31" name="Text 31"/>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32" name="Text 32"/>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3" name="Text 33"/>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What I built gives you four things a single score never could</a:t>
            </a:r>
            <a:endParaRPr lang="en-US" sz="1000" dirty="0"/>
          </a:p>
        </p:txBody>
      </p:sp>
      <p:sp>
        <p:nvSpPr>
          <p:cNvPr id="34" name="Text 34"/>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WHAT I BUILT</a:t>
            </a:r>
            <a:endParaRPr lang="en-US" sz="1000" dirty="0"/>
          </a:p>
        </p:txBody>
      </p:sp>
      <p:sp>
        <p:nvSpPr>
          <p:cNvPr id="35" name="Shape 35"/>
          <p:cNvSpPr/>
          <p:nvPr/>
        </p:nvSpPr>
        <p:spPr>
          <a:xfrm>
            <a:off x="685800" y="1600200"/>
            <a:ext cx="5212080" cy="1554480"/>
          </a:xfrm>
          <a:prstGeom prst="roundRect">
            <a:avLst>
              <a:gd name="adj" fmla="val 2941"/>
            </a:avLst>
          </a:prstGeom>
          <a:solidFill>
            <a:srgbClr val="F7F7F7"/>
          </a:solidFill>
          <a:ln w="12700">
            <a:solidFill>
              <a:srgbClr val="E4E4E4"/>
            </a:solidFill>
            <a:prstDash val="solid"/>
          </a:ln>
        </p:spPr>
      </p:sp>
      <p:sp>
        <p:nvSpPr>
          <p:cNvPr id="36" name="Shape 36"/>
          <p:cNvSpPr/>
          <p:nvPr/>
        </p:nvSpPr>
        <p:spPr>
          <a:xfrm>
            <a:off x="960120" y="1856232"/>
            <a:ext cx="310896" cy="310896"/>
          </a:xfrm>
          <a:prstGeom prst="ellipse">
            <a:avLst/>
          </a:prstGeom>
          <a:solidFill>
            <a:srgbClr val="21918C"/>
          </a:solidFill>
          <a:ln/>
        </p:spPr>
      </p:sp>
      <p:sp>
        <p:nvSpPr>
          <p:cNvPr id="37" name="Text 37"/>
          <p:cNvSpPr/>
          <p:nvPr/>
        </p:nvSpPr>
        <p:spPr>
          <a:xfrm>
            <a:off x="1399032" y="1819656"/>
            <a:ext cx="4297680" cy="365760"/>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It finds the real groups</a:t>
            </a:r>
            <a:endParaRPr lang="en-US" sz="1000" dirty="0"/>
          </a:p>
        </p:txBody>
      </p:sp>
      <p:sp>
        <p:nvSpPr>
          <p:cNvPr id="38" name="Text 38"/>
          <p:cNvSpPr/>
          <p:nvPr/>
        </p:nvSpPr>
        <p:spPr>
          <a:xfrm>
            <a:off x="960120" y="2286000"/>
            <a:ext cx="4663440" cy="731520"/>
          </a:xfrm>
          <a:prstGeom prst="rect">
            <a:avLst/>
          </a:prstGeom>
          <a:noFill/>
          <a:ln/>
        </p:spPr>
        <p:txBody>
          <a:bodyPr wrap="square" lIns="0" tIns="0" rIns="0" bIns="0" rtlCol="0" anchor="t"/>
          <a:lstStyle/>
          <a:p>
            <a:pPr indent="0" marL="0">
              <a:buNone/>
            </a:pPr>
            <a:r>
              <a:rPr lang="en-US" sz="1200" dirty="0">
                <a:solidFill>
                  <a:srgbClr val="1F1F1F"/>
                </a:solidFill>
                <a:latin typeface="Calibri" pitchFamily="34" charset="0"/>
                <a:ea typeface="Calibri" pitchFamily="34" charset="-122"/>
                <a:cs typeface="Calibri" pitchFamily="34" charset="-120"/>
              </a:rPr>
              <a:t>Fits directly to how people actually answered. The number and kind of groups comes from the data, not a guess.</a:t>
            </a:r>
            <a:endParaRPr lang="en-US" sz="1000" dirty="0"/>
          </a:p>
        </p:txBody>
      </p:sp>
      <p:sp>
        <p:nvSpPr>
          <p:cNvPr id="39" name="Shape 39"/>
          <p:cNvSpPr/>
          <p:nvPr/>
        </p:nvSpPr>
        <p:spPr>
          <a:xfrm>
            <a:off x="6263640" y="1600200"/>
            <a:ext cx="5212080" cy="1554480"/>
          </a:xfrm>
          <a:prstGeom prst="roundRect">
            <a:avLst>
              <a:gd name="adj" fmla="val 2941"/>
            </a:avLst>
          </a:prstGeom>
          <a:solidFill>
            <a:srgbClr val="F7F7F7"/>
          </a:solidFill>
          <a:ln w="12700">
            <a:solidFill>
              <a:srgbClr val="E4E4E4"/>
            </a:solidFill>
            <a:prstDash val="solid"/>
          </a:ln>
        </p:spPr>
      </p:sp>
      <p:sp>
        <p:nvSpPr>
          <p:cNvPr id="40" name="Shape 40"/>
          <p:cNvSpPr/>
          <p:nvPr/>
        </p:nvSpPr>
        <p:spPr>
          <a:xfrm>
            <a:off x="6537960" y="1856232"/>
            <a:ext cx="310896" cy="310896"/>
          </a:xfrm>
          <a:prstGeom prst="ellipse">
            <a:avLst/>
          </a:prstGeom>
          <a:solidFill>
            <a:srgbClr val="3B528B"/>
          </a:solidFill>
          <a:ln/>
        </p:spPr>
      </p:sp>
      <p:sp>
        <p:nvSpPr>
          <p:cNvPr id="41" name="Text 41"/>
          <p:cNvSpPr/>
          <p:nvPr/>
        </p:nvSpPr>
        <p:spPr>
          <a:xfrm>
            <a:off x="6976872" y="1819656"/>
            <a:ext cx="4297680" cy="365760"/>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It counts people fairly</a:t>
            </a:r>
            <a:endParaRPr lang="en-US" sz="1000" dirty="0"/>
          </a:p>
        </p:txBody>
      </p:sp>
      <p:sp>
        <p:nvSpPr>
          <p:cNvPr id="42" name="Text 42"/>
          <p:cNvSpPr/>
          <p:nvPr/>
        </p:nvSpPr>
        <p:spPr>
          <a:xfrm>
            <a:off x="6537960" y="2286000"/>
            <a:ext cx="4663440" cy="731520"/>
          </a:xfrm>
          <a:prstGeom prst="rect">
            <a:avLst/>
          </a:prstGeom>
          <a:noFill/>
          <a:ln/>
        </p:spPr>
        <p:txBody>
          <a:bodyPr wrap="square" lIns="0" tIns="0" rIns="0" bIns="0" rtlCol="0" anchor="t"/>
          <a:lstStyle/>
          <a:p>
            <a:pPr indent="0" marL="0">
              <a:buNone/>
            </a:pPr>
            <a:r>
              <a:rPr lang="en-US" sz="1200" dirty="0">
                <a:solidFill>
                  <a:srgbClr val="1F1F1F"/>
                </a:solidFill>
                <a:latin typeface="Calibri" pitchFamily="34" charset="0"/>
                <a:ea typeface="Calibri" pitchFamily="34" charset="-122"/>
                <a:cs typeface="Calibri" pitchFamily="34" charset="-120"/>
              </a:rPr>
              <a:t>Respondents who stand in for more of the population count more, and every group's size comes with an honest confidence range.</a:t>
            </a:r>
            <a:endParaRPr lang="en-US" sz="1000" dirty="0"/>
          </a:p>
        </p:txBody>
      </p:sp>
      <p:sp>
        <p:nvSpPr>
          <p:cNvPr id="43" name="Shape 43"/>
          <p:cNvSpPr/>
          <p:nvPr/>
        </p:nvSpPr>
        <p:spPr>
          <a:xfrm>
            <a:off x="685800" y="3383280"/>
            <a:ext cx="5212080" cy="1554480"/>
          </a:xfrm>
          <a:prstGeom prst="roundRect">
            <a:avLst>
              <a:gd name="adj" fmla="val 2941"/>
            </a:avLst>
          </a:prstGeom>
          <a:solidFill>
            <a:srgbClr val="F7F7F7"/>
          </a:solidFill>
          <a:ln w="12700">
            <a:solidFill>
              <a:srgbClr val="E4E4E4"/>
            </a:solidFill>
            <a:prstDash val="solid"/>
          </a:ln>
        </p:spPr>
      </p:sp>
      <p:sp>
        <p:nvSpPr>
          <p:cNvPr id="44" name="Shape 44"/>
          <p:cNvSpPr/>
          <p:nvPr/>
        </p:nvSpPr>
        <p:spPr>
          <a:xfrm>
            <a:off x="960120" y="3639312"/>
            <a:ext cx="310896" cy="310896"/>
          </a:xfrm>
          <a:prstGeom prst="ellipse">
            <a:avLst/>
          </a:prstGeom>
          <a:solidFill>
            <a:srgbClr val="440154"/>
          </a:solidFill>
          <a:ln/>
        </p:spPr>
      </p:sp>
      <p:sp>
        <p:nvSpPr>
          <p:cNvPr id="45" name="Text 45"/>
          <p:cNvSpPr/>
          <p:nvPr/>
        </p:nvSpPr>
        <p:spPr>
          <a:xfrm>
            <a:off x="1399032" y="3602736"/>
            <a:ext cx="4297680" cy="365760"/>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It keeps AI on a leash</a:t>
            </a:r>
            <a:endParaRPr lang="en-US" sz="1000" dirty="0"/>
          </a:p>
        </p:txBody>
      </p:sp>
      <p:sp>
        <p:nvSpPr>
          <p:cNvPr id="46" name="Text 46"/>
          <p:cNvSpPr/>
          <p:nvPr/>
        </p:nvSpPr>
        <p:spPr>
          <a:xfrm>
            <a:off x="960120" y="4069080"/>
            <a:ext cx="4663440" cy="731520"/>
          </a:xfrm>
          <a:prstGeom prst="rect">
            <a:avLst/>
          </a:prstGeom>
          <a:noFill/>
          <a:ln/>
        </p:spPr>
        <p:txBody>
          <a:bodyPr wrap="square" lIns="0" tIns="0" rIns="0" bIns="0" rtlCol="0" anchor="t"/>
          <a:lstStyle/>
          <a:p>
            <a:pPr indent="0" marL="0">
              <a:buNone/>
            </a:pPr>
            <a:r>
              <a:rPr lang="en-US" sz="1200" dirty="0">
                <a:solidFill>
                  <a:srgbClr val="1F1F1F"/>
                </a:solidFill>
                <a:latin typeface="Calibri" pitchFamily="34" charset="0"/>
                <a:ea typeface="Calibri" pitchFamily="34" charset="-122"/>
                <a:cs typeface="Calibri" pitchFamily="34" charset="-120"/>
              </a:rPr>
              <a:t>A fixed, sourced list of rules the assistant can point to. It can flag something worth checking. It never decides a number — the analyst does, and signs off.</a:t>
            </a:r>
            <a:endParaRPr lang="en-US" sz="1000" dirty="0"/>
          </a:p>
        </p:txBody>
      </p:sp>
      <p:sp>
        <p:nvSpPr>
          <p:cNvPr id="47" name="Shape 47"/>
          <p:cNvSpPr/>
          <p:nvPr/>
        </p:nvSpPr>
        <p:spPr>
          <a:xfrm>
            <a:off x="6263640" y="3383280"/>
            <a:ext cx="5212080" cy="1554480"/>
          </a:xfrm>
          <a:prstGeom prst="roundRect">
            <a:avLst>
              <a:gd name="adj" fmla="val 2941"/>
            </a:avLst>
          </a:prstGeom>
          <a:solidFill>
            <a:srgbClr val="F7F7F7"/>
          </a:solidFill>
          <a:ln w="12700">
            <a:solidFill>
              <a:srgbClr val="E4E4E4"/>
            </a:solidFill>
            <a:prstDash val="solid"/>
          </a:ln>
        </p:spPr>
      </p:sp>
      <p:sp>
        <p:nvSpPr>
          <p:cNvPr id="48" name="Shape 48"/>
          <p:cNvSpPr/>
          <p:nvPr/>
        </p:nvSpPr>
        <p:spPr>
          <a:xfrm>
            <a:off x="6537960" y="3639312"/>
            <a:ext cx="310896" cy="310896"/>
          </a:xfrm>
          <a:prstGeom prst="ellipse">
            <a:avLst/>
          </a:prstGeom>
          <a:solidFill>
            <a:srgbClr val="BBA800"/>
          </a:solidFill>
          <a:ln/>
        </p:spPr>
      </p:sp>
      <p:sp>
        <p:nvSpPr>
          <p:cNvPr id="49" name="Text 49"/>
          <p:cNvSpPr/>
          <p:nvPr/>
        </p:nvSpPr>
        <p:spPr>
          <a:xfrm>
            <a:off x="6976872" y="3602736"/>
            <a:ext cx="4297680" cy="365760"/>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It puts an analyst in charge</a:t>
            </a:r>
            <a:endParaRPr lang="en-US" sz="1000" dirty="0"/>
          </a:p>
        </p:txBody>
      </p:sp>
      <p:sp>
        <p:nvSpPr>
          <p:cNvPr id="50" name="Text 50"/>
          <p:cNvSpPr/>
          <p:nvPr/>
        </p:nvSpPr>
        <p:spPr>
          <a:xfrm>
            <a:off x="6537960" y="4069080"/>
            <a:ext cx="4663440" cy="731520"/>
          </a:xfrm>
          <a:prstGeom prst="rect">
            <a:avLst/>
          </a:prstGeom>
          <a:noFill/>
          <a:ln/>
        </p:spPr>
        <p:txBody>
          <a:bodyPr wrap="square" lIns="0" tIns="0" rIns="0" bIns="0" rtlCol="0" anchor="t"/>
          <a:lstStyle/>
          <a:p>
            <a:pPr indent="0" marL="0">
              <a:buNone/>
            </a:pPr>
            <a:r>
              <a:rPr lang="en-US" sz="1200" dirty="0">
                <a:solidFill>
                  <a:srgbClr val="1F1F1F"/>
                </a:solidFill>
                <a:latin typeface="Calibri" pitchFamily="34" charset="0"/>
                <a:ea typeface="Calibri" pitchFamily="34" charset="-122"/>
                <a:cs typeface="Calibri" pitchFamily="34" charset="-120"/>
              </a:rPr>
              <a:t>No code and no statistics background required to run it. An AI assistant helps write up what the results mean — it never touches the numbers themselves.</a:t>
            </a:r>
            <a:endParaRPr lang="en-US" sz="1000" dirty="0"/>
          </a:p>
        </p:txBody>
      </p:sp>
      <p:sp>
        <p:nvSpPr>
          <p:cNvPr id="51" name="Text 51"/>
          <p:cNvSpPr/>
          <p:nvPr/>
        </p:nvSpPr>
        <p:spPr>
          <a:xfrm>
            <a:off x="685800" y="5349240"/>
            <a:ext cx="10789920" cy="457200"/>
          </a:xfrm>
          <a:prstGeom prst="rect">
            <a:avLst/>
          </a:prstGeom>
          <a:noFill/>
          <a:ln/>
        </p:spPr>
        <p:txBody>
          <a:bodyPr wrap="square" lIns="0" tIns="0" rIns="0" bIns="0" rtlCol="0" anchor="ctr"/>
          <a:lstStyle/>
          <a:p>
            <a:pPr indent="0" marL="0">
              <a:buNone/>
            </a:pPr>
            <a:r>
              <a:rPr lang="en-US" sz="1450" dirty="0">
                <a:solidFill>
                  <a:srgbClr val="1F1F1F"/>
                </a:solidFill>
                <a:latin typeface="Calibri" pitchFamily="34" charset="0"/>
                <a:ea typeface="Calibri" pitchFamily="34" charset="-122"/>
                <a:cs typeface="Calibri" pitchFamily="34" charset="-120"/>
              </a:rPr>
              <a:t>Each piece closes a specific way a simpler tool would get it wrong — or could not be run at all.</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104" name="Shape 104"/>
          <p:cNvSpPr/>
          <p:nvPr/>
        </p:nvSpPr>
        <p:spPr>
          <a:xfrm>
            <a:off x="0" y="0"/>
            <a:ext cx="12161520" cy="256032"/>
          </a:xfrm>
          <a:prstGeom prst="rect">
            <a:avLst/>
          </a:prstGeom>
          <a:solidFill>
            <a:srgbClr val="006400"/>
          </a:solidFill>
          <a:ln/>
        </p:spPr>
      </p:sp>
      <p:sp>
        <p:nvSpPr>
          <p:cNvPr id="106" name="Text 106"/>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105" name="Shape 105"/>
          <p:cNvSpPr/>
          <p:nvPr/>
        </p:nvSpPr>
        <p:spPr>
          <a:xfrm>
            <a:off x="0" y="6601968"/>
            <a:ext cx="12161520" cy="256032"/>
          </a:xfrm>
          <a:prstGeom prst="rect">
            <a:avLst/>
          </a:prstGeom>
          <a:solidFill>
            <a:srgbClr val="006400"/>
          </a:solidFill>
          <a:ln/>
        </p:spPr>
      </p:sp>
      <p:sp>
        <p:nvSpPr>
          <p:cNvPr id="107" name="Text 107"/>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108" name="Text 108"/>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109" name="Text 109"/>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Why this didn't already exist</a:t>
            </a:r>
            <a:endParaRPr lang="en-US" sz="1000" dirty="0"/>
          </a:p>
        </p:txBody>
      </p:sp>
      <p:sp>
        <p:nvSpPr>
          <p:cNvPr id="110" name="Text 110"/>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PRIOR ART AND TIMING</a:t>
            </a:r>
            <a:endParaRPr lang="en-US" sz="1000" dirty="0"/>
          </a:p>
        </p:txBody>
      </p:sp>
      <p:sp>
        <p:nvSpPr>
          <p:cNvPr id="111" name="Shape 111"/>
          <p:cNvSpPr/>
          <p:nvPr/>
        </p:nvSpPr>
        <p:spPr>
          <a:xfrm>
            <a:off x="685800" y="1554480"/>
            <a:ext cx="10789920" cy="900000"/>
          </a:xfrm>
          <a:prstGeom prst="roundRect">
            <a:avLst>
              <a:gd name="adj" fmla="val 1724"/>
            </a:avLst>
          </a:prstGeom>
          <a:solidFill>
            <a:srgbClr val="E8F3F2"/>
          </a:solidFill>
          <a:ln w="12700">
            <a:solidFill>
              <a:srgbClr val="E8F3F2"/>
            </a:solidFill>
            <a:prstDash val="solid"/>
          </a:ln>
        </p:spPr>
      </p:sp>
      <p:sp>
        <p:nvSpPr>
          <p:cNvPr id="112" name="Text 112"/>
          <p:cNvSpPr/>
          <p:nvPr/>
        </p:nvSpPr>
        <p:spPr>
          <a:xfrm>
            <a:off x="1143000" y="1554480"/>
            <a:ext cx="9875520" cy="900000"/>
          </a:xfrm>
          <a:prstGeom prst="rect">
            <a:avLst/>
          </a:prstGeom>
          <a:noFill/>
          <a:ln/>
        </p:spPr>
        <p:txBody>
          <a:bodyPr wrap="square" lIns="0" tIns="0" rIns="0" bIns="0" rtlCol="0" anchor="ctr"/>
          <a:lstStyle/>
          <a:p>
            <a:pPr algn="ctr" indent="0" marL="0">
              <a:buNone/>
            </a:pPr>
            <a:r>
              <a:rPr lang="en-US" sz="1550" dirty="0">
                <a:solidFill>
                  <a:srgbClr val="1F1F1F"/>
                </a:solidFill>
                <a:latin typeface="Calibri" pitchFamily="34" charset="0"/>
                <a:ea typeface="Calibri" pitchFamily="34" charset="-122"/>
                <a:cs typeface="Calibri" pitchFamily="34" charset="-120"/>
              </a:rPr>
              <a:t>Segmentation itself is decades old — the first method dates to 1974.</a:t>
            </a:r>
          </a:p>
          <a:p>
            <a:pPr algn="ctr" indent="0" marL="0">
              <a:buNone/>
            </a:pPr>
            <a:r>
              <a:rPr lang="en-US" sz="1550" b="1" dirty="0">
                <a:solidFill>
                  <a:srgbClr val="440154"/>
                </a:solidFill>
                <a:latin typeface="Calibri" pitchFamily="34" charset="0"/>
                <a:ea typeface="Calibri" pitchFamily="34" charset="-122"/>
                <a:cs typeface="Calibri" pitchFamily="34" charset="-120"/>
              </a:rPr>
              <a:t>What's new is a version that is correct on a real foreign-population sample, and doesn't need a statistician in the room.</a:t>
            </a:r>
          </a:p>
        </p:txBody>
      </p:sp>
      <p:sp>
        <p:nvSpPr>
          <p:cNvPr id="113" name="Shape 113"/>
          <p:cNvSpPr/>
          <p:nvPr/>
        </p:nvSpPr>
        <p:spPr>
          <a:xfrm>
            <a:off x="685800" y="2604480"/>
            <a:ext cx="5212080" cy="2850000"/>
          </a:xfrm>
          <a:prstGeom prst="roundRect">
            <a:avLst>
              <a:gd name="adj" fmla="val 1000"/>
            </a:avLst>
          </a:prstGeom>
          <a:solidFill>
            <a:srgbClr val="E8F3F2"/>
          </a:solidFill>
          <a:ln w="12700">
            <a:solidFill>
              <a:srgbClr val="E8F3F2"/>
            </a:solidFill>
            <a:prstDash val="solid"/>
          </a:ln>
        </p:spPr>
      </p:sp>
      <p:sp>
        <p:nvSpPr>
          <p:cNvPr id="114" name="Text 114"/>
          <p:cNvSpPr/>
          <p:nvPr/>
        </p:nvSpPr>
        <p:spPr>
          <a:xfrm>
            <a:off x="1005840" y="2833080"/>
            <a:ext cx="4572000" cy="320040"/>
          </a:xfrm>
          <a:prstGeom prst="rect">
            <a:avLst/>
          </a:prstGeom>
          <a:noFill/>
          <a:ln/>
        </p:spPr>
        <p:txBody>
          <a:bodyPr wrap="square" lIns="0" tIns="0" rIns="0" bIns="0" rtlCol="0" anchor="ctr"/>
          <a:lstStyle/>
          <a:p>
            <a:pPr indent="0" marL="0">
              <a:buNone/>
            </a:pPr>
            <a:r>
              <a:rPr lang="en-US" sz="1700" b="1" dirty="0">
                <a:solidFill>
                  <a:srgbClr val="440154"/>
                </a:solidFill>
                <a:latin typeface="Calibri" pitchFamily="34" charset="0"/>
                <a:ea typeface="Calibri" pitchFamily="34" charset="-122"/>
                <a:cs typeface="Calibri" pitchFamily="34" charset="-120"/>
              </a:rPr>
              <a:t>WHAT IT COSTS TO GET WRONG</a:t>
            </a:r>
            <a:endParaRPr lang="en-US" sz="1000" dirty="0"/>
          </a:p>
        </p:txBody>
      </p:sp>
      <p:sp>
        <p:nvSpPr>
          <p:cNvPr id="115" name="Shape 115"/>
          <p:cNvSpPr/>
          <p:nvPr/>
        </p:nvSpPr>
        <p:spPr>
          <a:xfrm>
            <a:off x="1051560" y="3409152"/>
            <a:ext cx="182880" cy="182880"/>
          </a:xfrm>
          <a:prstGeom prst="ellipse">
            <a:avLst/>
          </a:prstGeom>
          <a:solidFill>
            <a:srgbClr val="21918C"/>
          </a:solidFill>
          <a:ln/>
        </p:spPr>
      </p:sp>
      <p:sp>
        <p:nvSpPr>
          <p:cNvPr id="116" name="Text 116"/>
          <p:cNvSpPr/>
          <p:nvPr/>
        </p:nvSpPr>
        <p:spPr>
          <a:xfrm>
            <a:off x="1399032" y="3381720"/>
            <a:ext cx="4297680" cy="54864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Some people's answers stand in for a lot more of the population than others.</a:t>
            </a:r>
            <a:endParaRPr lang="en-US" sz="1000" dirty="0"/>
          </a:p>
        </p:txBody>
      </p:sp>
      <p:sp>
        <p:nvSpPr>
          <p:cNvPr id="117" name="Shape 117"/>
          <p:cNvSpPr/>
          <p:nvPr/>
        </p:nvSpPr>
        <p:spPr>
          <a:xfrm>
            <a:off x="1051560" y="3957792"/>
            <a:ext cx="182880" cy="182880"/>
          </a:xfrm>
          <a:prstGeom prst="ellipse">
            <a:avLst/>
          </a:prstGeom>
          <a:solidFill>
            <a:srgbClr val="21918C"/>
          </a:solidFill>
          <a:ln/>
        </p:spPr>
      </p:sp>
      <p:sp>
        <p:nvSpPr>
          <p:cNvPr id="118" name="Text 118"/>
          <p:cNvSpPr/>
          <p:nvPr/>
        </p:nvSpPr>
        <p:spPr>
          <a:xfrm>
            <a:off x="1399032" y="3930360"/>
            <a:ext cx="4297680" cy="54864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Ignore that, and the groups — and their sizes — can be quietly wrong.</a:t>
            </a:r>
            <a:endParaRPr lang="en-US" sz="1000" dirty="0"/>
          </a:p>
        </p:txBody>
      </p:sp>
      <p:sp>
        <p:nvSpPr>
          <p:cNvPr id="119" name="Shape 119"/>
          <p:cNvSpPr/>
          <p:nvPr/>
        </p:nvSpPr>
        <p:spPr>
          <a:xfrm>
            <a:off x="1051560" y="4506432"/>
            <a:ext cx="182880" cy="182880"/>
          </a:xfrm>
          <a:prstGeom prst="ellipse">
            <a:avLst/>
          </a:prstGeom>
          <a:solidFill>
            <a:srgbClr val="21918C"/>
          </a:solidFill>
          <a:ln/>
        </p:spPr>
      </p:sp>
      <p:sp>
        <p:nvSpPr>
          <p:cNvPr id="120" name="Text 120"/>
          <p:cNvSpPr/>
          <p:nvPr/>
        </p:nvSpPr>
        <p:spPr>
          <a:xfrm>
            <a:off x="1399032" y="4479000"/>
            <a:ext cx="4297680" cy="54864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Doing it right by hand takes a statistician days per run.</a:t>
            </a:r>
            <a:endParaRPr lang="en-US" sz="1000" dirty="0"/>
          </a:p>
        </p:txBody>
      </p:sp>
      <p:sp>
        <p:nvSpPr>
          <p:cNvPr id="121" name="Shape 121"/>
          <p:cNvSpPr/>
          <p:nvPr/>
        </p:nvSpPr>
        <p:spPr>
          <a:xfrm>
            <a:off x="6537960" y="2604480"/>
            <a:ext cx="4937760" cy="2850000"/>
          </a:xfrm>
          <a:prstGeom prst="roundRect">
            <a:avLst>
              <a:gd name="adj" fmla="val 1000"/>
            </a:avLst>
          </a:prstGeom>
          <a:solidFill>
            <a:srgbClr val="F1EBF4"/>
          </a:solidFill>
          <a:ln w="12700">
            <a:solidFill>
              <a:srgbClr val="F1EBF4"/>
            </a:solidFill>
            <a:prstDash val="solid"/>
          </a:ln>
        </p:spPr>
      </p:sp>
      <p:sp>
        <p:nvSpPr>
          <p:cNvPr id="122" name="Text 122"/>
          <p:cNvSpPr/>
          <p:nvPr/>
        </p:nvSpPr>
        <p:spPr>
          <a:xfrm>
            <a:off x="6858000" y="2833080"/>
            <a:ext cx="4389120" cy="320040"/>
          </a:xfrm>
          <a:prstGeom prst="rect">
            <a:avLst/>
          </a:prstGeom>
          <a:noFill/>
          <a:ln/>
        </p:spPr>
        <p:txBody>
          <a:bodyPr wrap="square" lIns="0" tIns="0" rIns="0" bIns="0" rtlCol="0" anchor="ctr"/>
          <a:lstStyle/>
          <a:p>
            <a:pPr indent="0" marL="0">
              <a:buNone/>
            </a:pPr>
            <a:r>
              <a:rPr lang="en-US" sz="1700" b="1" dirty="0">
                <a:solidFill>
                  <a:srgbClr val="440154"/>
                </a:solidFill>
                <a:latin typeface="Calibri" pitchFamily="34" charset="0"/>
                <a:ea typeface="Calibri" pitchFamily="34" charset="-122"/>
                <a:cs typeface="Calibri" pitchFamily="34" charset="-120"/>
              </a:rPr>
              <a:t>THE CAPABILITY WE BUILT</a:t>
            </a:r>
            <a:endParaRPr lang="en-US" sz="1000" dirty="0"/>
          </a:p>
        </p:txBody>
      </p:sp>
      <p:sp>
        <p:nvSpPr>
          <p:cNvPr id="123" name="Shape 123"/>
          <p:cNvSpPr/>
          <p:nvPr/>
        </p:nvSpPr>
        <p:spPr>
          <a:xfrm>
            <a:off x="6903720" y="3409152"/>
            <a:ext cx="182880" cy="182880"/>
          </a:xfrm>
          <a:prstGeom prst="ellipse">
            <a:avLst/>
          </a:prstGeom>
          <a:solidFill>
            <a:srgbClr val="440154"/>
          </a:solidFill>
          <a:ln/>
        </p:spPr>
      </p:sp>
      <p:sp>
        <p:nvSpPr>
          <p:cNvPr id="124" name="Text 124"/>
          <p:cNvSpPr/>
          <p:nvPr/>
        </p:nvSpPr>
        <p:spPr>
          <a:xfrm>
            <a:off x="7251192" y="3381720"/>
            <a:ext cx="4023360" cy="54864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The correct math, built in — no separate statistician required.</a:t>
            </a:r>
            <a:endParaRPr lang="en-US" sz="1000" dirty="0"/>
          </a:p>
        </p:txBody>
      </p:sp>
      <p:sp>
        <p:nvSpPr>
          <p:cNvPr id="125" name="Shape 125"/>
          <p:cNvSpPr/>
          <p:nvPr/>
        </p:nvSpPr>
        <p:spPr>
          <a:xfrm>
            <a:off x="6903720" y="3957792"/>
            <a:ext cx="182880" cy="182880"/>
          </a:xfrm>
          <a:prstGeom prst="ellipse">
            <a:avLst/>
          </a:prstGeom>
          <a:solidFill>
            <a:srgbClr val="440154"/>
          </a:solidFill>
          <a:ln/>
        </p:spPr>
      </p:sp>
      <p:sp>
        <p:nvSpPr>
          <p:cNvPr id="126" name="Text 126"/>
          <p:cNvSpPr/>
          <p:nvPr/>
        </p:nvSpPr>
        <p:spPr>
          <a:xfrm>
            <a:off x="7251192" y="3930360"/>
            <a:ext cx="4023360" cy="54864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A self-service tool an analyst runs without writing code.</a:t>
            </a:r>
            <a:endParaRPr lang="en-US" sz="1000" dirty="0"/>
          </a:p>
        </p:txBody>
      </p:sp>
      <p:sp>
        <p:nvSpPr>
          <p:cNvPr id="127" name="Shape 127"/>
          <p:cNvSpPr/>
          <p:nvPr/>
        </p:nvSpPr>
        <p:spPr>
          <a:xfrm>
            <a:off x="6903720" y="4506432"/>
            <a:ext cx="182880" cy="182880"/>
          </a:xfrm>
          <a:prstGeom prst="ellipse">
            <a:avLst/>
          </a:prstGeom>
          <a:solidFill>
            <a:srgbClr val="440154"/>
          </a:solidFill>
          <a:ln/>
        </p:spPr>
      </p:sp>
      <p:sp>
        <p:nvSpPr>
          <p:cNvPr id="128" name="Text 128"/>
          <p:cNvSpPr/>
          <p:nvPr/>
        </p:nvSpPr>
        <p:spPr>
          <a:xfrm>
            <a:off x="7251192" y="4479000"/>
            <a:ext cx="4023360" cy="54864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An AI assistant that helps interpret results and never touches a number.</a:t>
            </a:r>
            <a:endParaRPr lang="en-US" sz="1000" dirty="0"/>
          </a:p>
        </p:txBody>
      </p:sp>
      <p:sp>
        <p:nvSpPr>
          <p:cNvPr id="129" name="Text 129"/>
          <p:cNvSpPr/>
          <p:nvPr/>
        </p:nvSpPr>
        <p:spPr>
          <a:xfrm>
            <a:off x="685800" y="5650000"/>
            <a:ext cx="10789920" cy="450000"/>
          </a:xfrm>
          <a:prstGeom prst="rect">
            <a:avLst/>
          </a:prstGeom>
          <a:noFill/>
          <a:ln/>
        </p:spPr>
        <p:txBody>
          <a:bodyPr wrap="square" lIns="0" tIns="0" rIns="0" bIns="0" rtlCol="0" anchor="ctr"/>
          <a:lstStyle/>
          <a:p>
            <a:pPr algn="ctr" indent="0" marL="0">
              <a:buNone/>
            </a:pPr>
            <a:r>
              <a:rPr lang="en-US" sz="1400" dirty="0">
                <a:solidFill>
                  <a:srgbClr val="1F1F1F"/>
                </a:solidFill>
                <a:latin typeface="Calibri" pitchFamily="34" charset="0"/>
                <a:ea typeface="Calibri" pitchFamily="34" charset="-122"/>
                <a:cs typeface="Calibri" pitchFamily="34" charset="-120"/>
              </a:rPr>
              <a:t>No one had packaged the correct math as a tool ready to use. Now it exists.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Segmenting Survey Data Without Breaking the Design</dc:title>
  <dc:subject>PptxGenJS Presentation</dc:subject>
  <dc:creator>Kevin Linares</dc:creator>
  <cp:lastModifiedBy>Kevin Linares</cp:lastModifiedBy>
  <cp:revision>1</cp:revision>
  <dcterms:created xsi:type="dcterms:W3CDTF">2026-08-10T01:41:11Z</dcterms:created>
  <dcterms:modified xsi:type="dcterms:W3CDTF">2026-08-10T01:41:11Z</dcterms:modified>
</cp:coreProperties>
</file>