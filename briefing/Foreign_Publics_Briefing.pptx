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6" r:id="rId27"/>
    <p:sldId id="280" r:id="rId31"/>
    <p:sldId id="281" r:id="rId32"/>
    <p:sldId id="282" r:id="rId33"/>
    <p:sldId id="278" r:id="rId29"/>
    <p:sldId id="277" r:id="rId28"/>
    <p:sldId id="267" r:id="rId13"/>
    <p:sldId id="275" r:id="rId26"/>
    <p:sldId id="264" r:id="rId10"/>
    <p:sldId id="265" r:id="rId11"/>
    <p:sldId id="263" r:id="rId9"/>
    <p:sldId id="257" r:id="rId3"/>
    <p:sldId id="262" r:id="rId8"/>
    <p:sldId id="258" r:id="rId4"/>
    <p:sldId id="279" r:id="rId30"/>
    <p:sldId id="266" r:id="rId12"/>
    <p:sldId id="260" r:id="rId6"/>
    <p:sldId id="261" r:id="rId7"/>
    <p:sldId id="259" r:id="rId5"/>
    <p:sldId id="269" r:id="rId15"/>
    <p:sldId id="270" r:id="rId16"/>
    <p:sldId id="271" r:id="rId17"/>
    <p:sldId id="272" r:id="rId18"/>
    <p:sldId id="273" r:id="rId19"/>
    <p:sldId id="268" r:id="rId14"/>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eight slides. The message in one line: foreign opinion is several publics, not one, and this shows which, how big, and where. Leave with a pilot country chosen. Backup holds the methods; open it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slide 3, if someone wants the six answers for each hypothetical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how this differs from an index score. The last line is the honest answer: where a battery is one continuum, an index is the better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latent classes rather than clustering or a factor model. Concede that Pew's typology is defensible; the difference is that a partition carries no margin of error. Be candid that on the demo battery most of the separation is level, which a factor model would describe with fewer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Do not put the likelihood on screen; it is in backup if a methodologist wants it. The single point to land: nobody is relabelled. Everyone keeps a probability, which is what makes the classification-error check possible later and is exactly what a hard partition throws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clustering cannot give an interval. The icons are different sizes because the sample is not self-weighting, and a distance-based method treats every one of them the same. If asked how the interval is built: the whole model is refitted on 130 jackknife replicates from the real strata and clusters, because a weighted likelihood gives no usable information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Say plainly that an automated choice here is the first thing a reviewer attacks, and that the flat region is reported rather than hidden. The choice lives in a config file under version control, not in someone's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just use a single trust index: agree that most of the separation is level. Segmentation adds the S3 pattern and population sizes with margins. Before presenting, look up the level-against-pattern ratio in the report and be ready to quote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slide 4: design-weighted shares with 95 percent jackknife intervals; hollow diamonds are unweighted.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slide 5: the share of each presidential-rating group in each public, corrected for misclassification. The distrust-everything public is the dark blue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about AI governance. Every number and every test is computed in R; the model only drafts wording. The limits slide covers what leaves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next step, then stop talking. Fill in the timeline and staffing line before presenting; do not improvise a number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Groves and colleagues. Use if someone wants the framework behind the error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three is the expensive one. Move four is the one most analysts have never heard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Pew answer. Concede first: their 2026 typology uses weighted clustering around medoids, it is defensible, and their sample dwarfs ours. Then the narrow claim, which comes from their own Appendix B: they say the solution moves with the algorithm, the coding, and the sort order, and they report nine group sizes with no interval. Our jackknife refits the whole model per replicate, so that instability lands in the interval. Do not widen the claim. If asked whether we could run this on their thirty items and nine groups, say no, not as specified: over a thousand parameters, an almost empty contingency table, and local independence violated by their within-battery item pairs. Their method scales where ours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alternatives. baysc is an excellent Bayesian counterpart.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missing data: the model is estimated on 1430 item-complete cases and scoring extends above an evidence floor. Pew imputes at their scale, which is a defensible different choice, so do not attack them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conditional response probabilities behind every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if the room is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Forward as a one-pager after the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rows left to right: what you learn, then what it lets policymakers do. Do not explain the statistics. If asked how, say: it groups people by how they answer a whole set of questions, and puts a margin of error on the size of each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the limits yourself; it buys credibility for everything else. The AI decision is real: if drafting is not allowed, run with it off and nothing numerical changes. Do not claim the analyst edits AI drafts; in the current build they are previewed, not 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uses, not results. Pick the one closest to the room's current priorities and give it thirty seconds. Tracking across waves or countries depends on questions meaning the same thing in each; say so if someone proposes a regional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nobody has done this. Commercial tools do much of it; the gap is an open, auditable, design-based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these two people are invented to make the point. Same average, opposite views, opposite messages. The real survey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from Ecuador, 2023. Read down the right-hand column; that is the part managers need. The shares are rounded from the model; check them against the report before presenting. The right-hand column is our reading of each group's answers, so present it as what the groups suggest, not as tested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land. Among people who rate the president's performance very bad, about half distrust every institution; among those rating it very good, fewer than one in ten. The implication: some critics are reachable through courts, elections or local government, and some are not reachable through any official voice. If pressed: the margin for the very-bad group is wide, and trust in the president is one of the questions, so part of the link is built in. Confirm both numbers from the report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90" Type="http://schemas.openxmlformats.org/officeDocument/2006/relationships/notesSlide" Target="../notesSlides/notesSlide24.xml"/></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90" Type="http://schemas.openxmlformats.org/officeDocument/2006/relationships/notesSlide" Target="../notesSlides/notesSlide25.xml"/></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90" Type="http://schemas.openxmlformats.org/officeDocument/2006/relationships/notesSlide" Target="../notesSlides/notesSlide26.xml"/></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90"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40154"/>
        </a:solidFill>
      </p:bgPr>
    </p:bg>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1005840" y="1828800"/>
            <a:ext cx="10149840" cy="1737360"/>
          </a:xfrm>
          <a:prstGeom prst="rect">
            <a:avLst/>
          </a:prstGeom>
          <a:noFill/>
          <a:ln/>
        </p:spPr>
        <p:txBody>
          <a:bodyPr wrap="square" lIns="0" tIns="0" rIns="0" bIns="0" rtlCol="0" anchor="ctr"/>
          <a:lstStyle/>
          <a:p>
            <a:pPr indent="0" marL="0">
              <a:lnSpc>
                <a:spcPct val="106000"/>
              </a:lnSpc>
              <a:buNone/>
            </a:pPr>
            <a:r>
              <a:rPr lang="en-US" sz="3400" b="1" dirty="0">
                <a:solidFill>
                  <a:srgbClr val="FFFFFF"/>
                </a:solidFill>
                <a:latin typeface="Cambria" pitchFamily="34" charset="0"/>
                <a:ea typeface="Cambria" pitchFamily="34" charset="-122"/>
                <a:cs typeface="Cambria" pitchFamily="34" charset="-120"/>
              </a:rPr>
              <a:t>Foreign opinion is not one audience.</a:t>
            </a:r>
            <a:endParaRPr lang="en-US" sz="3400" dirty="0"/>
          </a:p>
          <a:p>
            <a:pPr indent="0" marL="0">
              <a:lnSpc>
                <a:spcPct val="106000"/>
              </a:lnSpc>
              <a:buNone/>
            </a:pPr>
            <a:r>
              <a:rPr lang="en-US" sz="3400" b="1" dirty="0">
                <a:solidFill>
                  <a:srgbClr val="FFFFFF"/>
                </a:solidFill>
                <a:latin typeface="Cambria" pitchFamily="34" charset="0"/>
                <a:ea typeface="Cambria" pitchFamily="34" charset="-122"/>
                <a:cs typeface="Cambria" pitchFamily="34" charset="-120"/>
              </a:rPr>
              <a:t>US policy should not treat it as one.</a:t>
            </a:r>
            <a:endParaRPr lang="en-US" sz="3400" dirty="0"/>
          </a:p>
        </p:txBody>
      </p:sp>
      <p:sp>
        <p:nvSpPr>
          <p:cNvPr id="7" name="Text 5"/>
          <p:cNvSpPr/>
          <p:nvPr/>
        </p:nvSpPr>
        <p:spPr>
          <a:xfrm>
            <a:off x="1005840" y="3749040"/>
            <a:ext cx="10149840" cy="868680"/>
          </a:xfrm>
          <a:prstGeom prst="rect">
            <a:avLst/>
          </a:prstGeom>
          <a:noFill/>
          <a:ln/>
        </p:spPr>
        <p:txBody>
          <a:bodyPr wrap="square" lIns="0" tIns="0" rIns="0" bIns="0" rtlCol="0" anchor="ctr"/>
          <a:lstStyle/>
          <a:p>
            <a:pPr indent="0" marL="0">
              <a:buNone/>
            </a:pPr>
            <a:r>
              <a:rPr lang="en-US" sz="1700" dirty="0">
                <a:solidFill>
                  <a:srgbClr val="CBB6D8"/>
                </a:solidFill>
                <a:latin typeface="Calibri" pitchFamily="34" charset="0"/>
                <a:ea typeface="Calibri" pitchFamily="34" charset="-122"/>
                <a:cs typeface="Calibri" pitchFamily="34" charset="-120"/>
              </a:rPr>
              <a:t>A capability that shows which publics exist inside foreign-opinion surveys, how large each is, and where they are, so US engagement can aim at real audiences.</a:t>
            </a:r>
            <a:endParaRPr lang="en-US" sz="1700" dirty="0"/>
          </a:p>
        </p:txBody>
      </p:sp>
      <p:sp>
        <p:nvSpPr>
          <p:cNvPr id="8" name="Text 6"/>
          <p:cNvSpPr/>
          <p:nvPr/>
        </p:nvSpPr>
        <p:spPr>
          <a:xfrm>
            <a:off x="1005840" y="5029200"/>
            <a:ext cx="10149840" cy="365760"/>
          </a:xfrm>
          <a:prstGeom prst="rect">
            <a:avLst/>
          </a:prstGeom>
          <a:noFill/>
          <a:ln/>
        </p:spPr>
        <p:txBody>
          <a:bodyPr wrap="square" lIns="0" tIns="0" rIns="0" bIns="0" rtlCol="0" anchor="ctr"/>
          <a:lstStyle/>
          <a:p>
            <a:pPr indent="0" marL="0">
              <a:buNone/>
            </a:pPr>
            <a:r>
              <a:rPr lang="en-US" sz="1400" dirty="0">
                <a:solidFill>
                  <a:srgbClr val="8FD4CD"/>
                </a:solidFill>
                <a:latin typeface="Calibri" pitchFamily="34" charset="0"/>
                <a:ea typeface="Calibri" pitchFamily="34" charset="-122"/>
                <a:cs typeface="Calibri" pitchFamily="34" charset="-120"/>
              </a:rPr>
              <a:t>Kevin Linares   ·   MS Survey and Data Science, JPSM   ·   22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illustration, answer by answer</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DETAIL FOR SLIDE 3</a:t>
            </a:r>
            <a:endParaRPr lang="en-US" sz="1000" dirty="0"/>
          </a:p>
        </p:txBody>
      </p:sp>
      <p:sp>
        <p:nvSpPr>
          <p:cNvPr id="9" name="Shape 7"/>
          <p:cNvSpPr/>
          <p:nvPr/>
        </p:nvSpPr>
        <p:spPr>
          <a:xfrm>
            <a:off x="3200400" y="1618488"/>
            <a:ext cx="10973" cy="3438144"/>
          </a:xfrm>
          <a:prstGeom prst="rect">
            <a:avLst/>
          </a:prstGeom>
          <a:solidFill>
            <a:srgbClr val="EFEFEF"/>
          </a:solidFill>
          <a:ln w="12700">
            <a:solidFill>
              <a:srgbClr val="EFEFEF"/>
            </a:solidFill>
            <a:prstDash val="solid"/>
          </a:ln>
        </p:spPr>
      </p:sp>
      <p:sp>
        <p:nvSpPr>
          <p:cNvPr id="10" name="Text 8"/>
          <p:cNvSpPr/>
          <p:nvPr/>
        </p:nvSpPr>
        <p:spPr>
          <a:xfrm>
            <a:off x="301752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1</a:t>
            </a:r>
            <a:endParaRPr lang="en-US" sz="1100" dirty="0"/>
          </a:p>
        </p:txBody>
      </p:sp>
      <p:sp>
        <p:nvSpPr>
          <p:cNvPr id="11" name="Shape 9"/>
          <p:cNvSpPr/>
          <p:nvPr/>
        </p:nvSpPr>
        <p:spPr>
          <a:xfrm>
            <a:off x="4358640" y="1618488"/>
            <a:ext cx="10973" cy="3438144"/>
          </a:xfrm>
          <a:prstGeom prst="rect">
            <a:avLst/>
          </a:prstGeom>
          <a:solidFill>
            <a:srgbClr val="EFEFEF"/>
          </a:solidFill>
          <a:ln w="12700">
            <a:solidFill>
              <a:srgbClr val="EFEFEF"/>
            </a:solidFill>
            <a:prstDash val="solid"/>
          </a:ln>
        </p:spPr>
      </p:sp>
      <p:sp>
        <p:nvSpPr>
          <p:cNvPr id="12" name="Text 10"/>
          <p:cNvSpPr/>
          <p:nvPr/>
        </p:nvSpPr>
        <p:spPr>
          <a:xfrm>
            <a:off x="417576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5516880" y="1618488"/>
            <a:ext cx="10973" cy="3438144"/>
          </a:xfrm>
          <a:prstGeom prst="rect">
            <a:avLst/>
          </a:prstGeom>
          <a:solidFill>
            <a:srgbClr val="EFEFEF"/>
          </a:solidFill>
          <a:ln w="12700">
            <a:solidFill>
              <a:srgbClr val="EFEFEF"/>
            </a:solidFill>
            <a:prstDash val="solid"/>
          </a:ln>
        </p:spPr>
      </p:sp>
      <p:sp>
        <p:nvSpPr>
          <p:cNvPr id="14" name="Text 12"/>
          <p:cNvSpPr/>
          <p:nvPr/>
        </p:nvSpPr>
        <p:spPr>
          <a:xfrm>
            <a:off x="533400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3</a:t>
            </a:r>
            <a:endParaRPr lang="en-US" sz="1100" dirty="0"/>
          </a:p>
        </p:txBody>
      </p:sp>
      <p:sp>
        <p:nvSpPr>
          <p:cNvPr id="15" name="Shape 13"/>
          <p:cNvSpPr/>
          <p:nvPr/>
        </p:nvSpPr>
        <p:spPr>
          <a:xfrm>
            <a:off x="6675120" y="1618488"/>
            <a:ext cx="10973" cy="3438144"/>
          </a:xfrm>
          <a:prstGeom prst="rect">
            <a:avLst/>
          </a:prstGeom>
          <a:solidFill>
            <a:srgbClr val="D0D0D0"/>
          </a:solidFill>
          <a:ln w="12700">
            <a:solidFill>
              <a:srgbClr val="D0D0D0"/>
            </a:solidFill>
            <a:prstDash val="solid"/>
          </a:ln>
        </p:spPr>
      </p:sp>
      <p:sp>
        <p:nvSpPr>
          <p:cNvPr id="16" name="Text 14"/>
          <p:cNvSpPr/>
          <p:nvPr/>
        </p:nvSpPr>
        <p:spPr>
          <a:xfrm>
            <a:off x="649224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4</a:t>
            </a:r>
            <a:endParaRPr lang="en-US" sz="1100" dirty="0"/>
          </a:p>
        </p:txBody>
      </p:sp>
      <p:sp>
        <p:nvSpPr>
          <p:cNvPr id="17" name="Shape 15"/>
          <p:cNvSpPr/>
          <p:nvPr/>
        </p:nvSpPr>
        <p:spPr>
          <a:xfrm>
            <a:off x="7833360" y="1618488"/>
            <a:ext cx="10973" cy="3438144"/>
          </a:xfrm>
          <a:prstGeom prst="rect">
            <a:avLst/>
          </a:prstGeom>
          <a:solidFill>
            <a:srgbClr val="EFEFEF"/>
          </a:solidFill>
          <a:ln w="12700">
            <a:solidFill>
              <a:srgbClr val="EFEFEF"/>
            </a:solidFill>
            <a:prstDash val="solid"/>
          </a:ln>
        </p:spPr>
      </p:sp>
      <p:sp>
        <p:nvSpPr>
          <p:cNvPr id="18" name="Text 16"/>
          <p:cNvSpPr/>
          <p:nvPr/>
        </p:nvSpPr>
        <p:spPr>
          <a:xfrm>
            <a:off x="765048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5</a:t>
            </a:r>
            <a:endParaRPr lang="en-US" sz="1100" dirty="0"/>
          </a:p>
        </p:txBody>
      </p:sp>
      <p:sp>
        <p:nvSpPr>
          <p:cNvPr id="19" name="Shape 17"/>
          <p:cNvSpPr/>
          <p:nvPr/>
        </p:nvSpPr>
        <p:spPr>
          <a:xfrm>
            <a:off x="8991600" y="1618488"/>
            <a:ext cx="10973" cy="3438144"/>
          </a:xfrm>
          <a:prstGeom prst="rect">
            <a:avLst/>
          </a:prstGeom>
          <a:solidFill>
            <a:srgbClr val="EFEFEF"/>
          </a:solidFill>
          <a:ln w="12700">
            <a:solidFill>
              <a:srgbClr val="EFEFEF"/>
            </a:solidFill>
            <a:prstDash val="solid"/>
          </a:ln>
        </p:spPr>
      </p:sp>
      <p:sp>
        <p:nvSpPr>
          <p:cNvPr id="20" name="Text 18"/>
          <p:cNvSpPr/>
          <p:nvPr/>
        </p:nvSpPr>
        <p:spPr>
          <a:xfrm>
            <a:off x="880872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6</a:t>
            </a:r>
            <a:endParaRPr lang="en-US" sz="1100" dirty="0"/>
          </a:p>
        </p:txBody>
      </p:sp>
      <p:sp>
        <p:nvSpPr>
          <p:cNvPr id="21" name="Shape 19"/>
          <p:cNvSpPr/>
          <p:nvPr/>
        </p:nvSpPr>
        <p:spPr>
          <a:xfrm>
            <a:off x="10149840" y="1618488"/>
            <a:ext cx="10973" cy="3438144"/>
          </a:xfrm>
          <a:prstGeom prst="rect">
            <a:avLst/>
          </a:prstGeom>
          <a:solidFill>
            <a:srgbClr val="EFEFEF"/>
          </a:solidFill>
          <a:ln w="12700">
            <a:solidFill>
              <a:srgbClr val="EFEFEF"/>
            </a:solidFill>
            <a:prstDash val="solid"/>
          </a:ln>
        </p:spPr>
      </p:sp>
      <p:sp>
        <p:nvSpPr>
          <p:cNvPr id="22" name="Text 20"/>
          <p:cNvSpPr/>
          <p:nvPr/>
        </p:nvSpPr>
        <p:spPr>
          <a:xfrm>
            <a:off x="9966960" y="5175504"/>
            <a:ext cx="36576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7</a:t>
            </a:r>
            <a:endParaRPr lang="en-US" sz="1100" dirty="0"/>
          </a:p>
        </p:txBody>
      </p:sp>
      <p:sp>
        <p:nvSpPr>
          <p:cNvPr id="23" name="Text 21"/>
          <p:cNvSpPr/>
          <p:nvPr/>
        </p:nvSpPr>
        <p:spPr>
          <a:xfrm>
            <a:off x="914400" y="1737360"/>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Courts</a:t>
            </a:r>
            <a:endParaRPr lang="en-US" sz="1300" dirty="0"/>
          </a:p>
        </p:txBody>
      </p:sp>
      <p:sp>
        <p:nvSpPr>
          <p:cNvPr id="24" name="Shape 22"/>
          <p:cNvSpPr/>
          <p:nvPr/>
        </p:nvSpPr>
        <p:spPr>
          <a:xfrm>
            <a:off x="3200400" y="1874520"/>
            <a:ext cx="6949440" cy="10973"/>
          </a:xfrm>
          <a:prstGeom prst="rect">
            <a:avLst/>
          </a:prstGeom>
          <a:solidFill>
            <a:srgbClr val="F2F2F2"/>
          </a:solidFill>
          <a:ln w="12700">
            <a:solidFill>
              <a:srgbClr val="F2F2F2"/>
            </a:solidFill>
            <a:prstDash val="solid"/>
          </a:ln>
        </p:spPr>
      </p:sp>
      <p:sp>
        <p:nvSpPr>
          <p:cNvPr id="25" name="Shape 23"/>
          <p:cNvSpPr/>
          <p:nvPr/>
        </p:nvSpPr>
        <p:spPr>
          <a:xfrm>
            <a:off x="8891016" y="1773936"/>
            <a:ext cx="201168" cy="201168"/>
          </a:xfrm>
          <a:prstGeom prst="ellipse">
            <a:avLst/>
          </a:prstGeom>
          <a:solidFill>
            <a:srgbClr val="440154"/>
          </a:solidFill>
          <a:ln/>
        </p:spPr>
      </p:sp>
      <p:sp>
        <p:nvSpPr>
          <p:cNvPr id="26" name="Shape 24"/>
          <p:cNvSpPr/>
          <p:nvPr/>
        </p:nvSpPr>
        <p:spPr>
          <a:xfrm>
            <a:off x="4258056" y="1773936"/>
            <a:ext cx="201168" cy="201168"/>
          </a:xfrm>
          <a:prstGeom prst="ellipse">
            <a:avLst/>
          </a:prstGeom>
          <a:solidFill>
            <a:srgbClr val="21918C"/>
          </a:solidFill>
          <a:ln/>
        </p:spPr>
      </p:sp>
      <p:sp>
        <p:nvSpPr>
          <p:cNvPr id="27" name="Text 25"/>
          <p:cNvSpPr/>
          <p:nvPr/>
        </p:nvSpPr>
        <p:spPr>
          <a:xfrm>
            <a:off x="914400" y="2295144"/>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Auditor</a:t>
            </a:r>
            <a:endParaRPr lang="en-US" sz="1300" dirty="0"/>
          </a:p>
        </p:txBody>
      </p:sp>
      <p:sp>
        <p:nvSpPr>
          <p:cNvPr id="28" name="Shape 26"/>
          <p:cNvSpPr/>
          <p:nvPr/>
        </p:nvSpPr>
        <p:spPr>
          <a:xfrm>
            <a:off x="3200400" y="2432304"/>
            <a:ext cx="6949440" cy="10973"/>
          </a:xfrm>
          <a:prstGeom prst="rect">
            <a:avLst/>
          </a:prstGeom>
          <a:solidFill>
            <a:srgbClr val="F2F2F2"/>
          </a:solidFill>
          <a:ln w="12700">
            <a:solidFill>
              <a:srgbClr val="F2F2F2"/>
            </a:solidFill>
            <a:prstDash val="solid"/>
          </a:ln>
        </p:spPr>
      </p:sp>
      <p:sp>
        <p:nvSpPr>
          <p:cNvPr id="29" name="Shape 27"/>
          <p:cNvSpPr/>
          <p:nvPr/>
        </p:nvSpPr>
        <p:spPr>
          <a:xfrm>
            <a:off x="8891016" y="2331720"/>
            <a:ext cx="201168" cy="201168"/>
          </a:xfrm>
          <a:prstGeom prst="ellipse">
            <a:avLst/>
          </a:prstGeom>
          <a:solidFill>
            <a:srgbClr val="440154"/>
          </a:solidFill>
          <a:ln/>
        </p:spPr>
      </p:sp>
      <p:sp>
        <p:nvSpPr>
          <p:cNvPr id="30" name="Shape 28"/>
          <p:cNvSpPr/>
          <p:nvPr/>
        </p:nvSpPr>
        <p:spPr>
          <a:xfrm>
            <a:off x="4258056" y="2331720"/>
            <a:ext cx="201168" cy="201168"/>
          </a:xfrm>
          <a:prstGeom prst="ellipse">
            <a:avLst/>
          </a:prstGeom>
          <a:solidFill>
            <a:srgbClr val="21918C"/>
          </a:solidFill>
          <a:ln/>
        </p:spPr>
      </p:sp>
      <p:sp>
        <p:nvSpPr>
          <p:cNvPr id="31" name="Text 29"/>
          <p:cNvSpPr/>
          <p:nvPr/>
        </p:nvSpPr>
        <p:spPr>
          <a:xfrm>
            <a:off x="914400" y="2852928"/>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Elections</a:t>
            </a:r>
            <a:endParaRPr lang="en-US" sz="1300" dirty="0"/>
          </a:p>
        </p:txBody>
      </p:sp>
      <p:sp>
        <p:nvSpPr>
          <p:cNvPr id="32" name="Shape 30"/>
          <p:cNvSpPr/>
          <p:nvPr/>
        </p:nvSpPr>
        <p:spPr>
          <a:xfrm>
            <a:off x="3200400" y="2990088"/>
            <a:ext cx="6949440" cy="10973"/>
          </a:xfrm>
          <a:prstGeom prst="rect">
            <a:avLst/>
          </a:prstGeom>
          <a:solidFill>
            <a:srgbClr val="F2F2F2"/>
          </a:solidFill>
          <a:ln w="12700">
            <a:solidFill>
              <a:srgbClr val="F2F2F2"/>
            </a:solidFill>
            <a:prstDash val="solid"/>
          </a:ln>
        </p:spPr>
      </p:sp>
      <p:sp>
        <p:nvSpPr>
          <p:cNvPr id="33" name="Shape 31"/>
          <p:cNvSpPr/>
          <p:nvPr/>
        </p:nvSpPr>
        <p:spPr>
          <a:xfrm>
            <a:off x="7732776" y="2889504"/>
            <a:ext cx="201168" cy="201168"/>
          </a:xfrm>
          <a:prstGeom prst="ellipse">
            <a:avLst/>
          </a:prstGeom>
          <a:solidFill>
            <a:srgbClr val="440154"/>
          </a:solidFill>
          <a:ln/>
        </p:spPr>
      </p:sp>
      <p:sp>
        <p:nvSpPr>
          <p:cNvPr id="34" name="Shape 32"/>
          <p:cNvSpPr/>
          <p:nvPr/>
        </p:nvSpPr>
        <p:spPr>
          <a:xfrm>
            <a:off x="5416296" y="2889504"/>
            <a:ext cx="201168" cy="201168"/>
          </a:xfrm>
          <a:prstGeom prst="ellipse">
            <a:avLst/>
          </a:prstGeom>
          <a:solidFill>
            <a:srgbClr val="21918C"/>
          </a:solidFill>
          <a:ln/>
        </p:spPr>
      </p:sp>
      <p:sp>
        <p:nvSpPr>
          <p:cNvPr id="35" name="Text 33"/>
          <p:cNvSpPr/>
          <p:nvPr/>
        </p:nvSpPr>
        <p:spPr>
          <a:xfrm>
            <a:off x="914400" y="3410712"/>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Police</a:t>
            </a:r>
            <a:endParaRPr lang="en-US" sz="1300" dirty="0"/>
          </a:p>
        </p:txBody>
      </p:sp>
      <p:sp>
        <p:nvSpPr>
          <p:cNvPr id="36" name="Shape 34"/>
          <p:cNvSpPr/>
          <p:nvPr/>
        </p:nvSpPr>
        <p:spPr>
          <a:xfrm>
            <a:off x="3200400" y="3547872"/>
            <a:ext cx="6949440" cy="10973"/>
          </a:xfrm>
          <a:prstGeom prst="rect">
            <a:avLst/>
          </a:prstGeom>
          <a:solidFill>
            <a:srgbClr val="F2F2F2"/>
          </a:solidFill>
          <a:ln w="12700">
            <a:solidFill>
              <a:srgbClr val="F2F2F2"/>
            </a:solidFill>
            <a:prstDash val="solid"/>
          </a:ln>
        </p:spPr>
      </p:sp>
      <p:sp>
        <p:nvSpPr>
          <p:cNvPr id="37" name="Shape 35"/>
          <p:cNvSpPr/>
          <p:nvPr/>
        </p:nvSpPr>
        <p:spPr>
          <a:xfrm>
            <a:off x="5416296" y="3447288"/>
            <a:ext cx="201168" cy="201168"/>
          </a:xfrm>
          <a:prstGeom prst="ellipse">
            <a:avLst/>
          </a:prstGeom>
          <a:solidFill>
            <a:srgbClr val="440154"/>
          </a:solidFill>
          <a:ln/>
        </p:spPr>
      </p:sp>
      <p:sp>
        <p:nvSpPr>
          <p:cNvPr id="38" name="Shape 36"/>
          <p:cNvSpPr/>
          <p:nvPr/>
        </p:nvSpPr>
        <p:spPr>
          <a:xfrm>
            <a:off x="7732776" y="3447288"/>
            <a:ext cx="201168" cy="201168"/>
          </a:xfrm>
          <a:prstGeom prst="ellipse">
            <a:avLst/>
          </a:prstGeom>
          <a:solidFill>
            <a:srgbClr val="21918C"/>
          </a:solidFill>
          <a:ln/>
        </p:spPr>
      </p:sp>
      <p:sp>
        <p:nvSpPr>
          <p:cNvPr id="39" name="Text 37"/>
          <p:cNvSpPr/>
          <p:nvPr/>
        </p:nvSpPr>
        <p:spPr>
          <a:xfrm>
            <a:off x="914400" y="3968496"/>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President</a:t>
            </a:r>
            <a:endParaRPr lang="en-US" sz="1300" dirty="0"/>
          </a:p>
        </p:txBody>
      </p:sp>
      <p:sp>
        <p:nvSpPr>
          <p:cNvPr id="40" name="Shape 38"/>
          <p:cNvSpPr/>
          <p:nvPr/>
        </p:nvSpPr>
        <p:spPr>
          <a:xfrm>
            <a:off x="3200400" y="4105656"/>
            <a:ext cx="6949440" cy="10973"/>
          </a:xfrm>
          <a:prstGeom prst="rect">
            <a:avLst/>
          </a:prstGeom>
          <a:solidFill>
            <a:srgbClr val="F2F2F2"/>
          </a:solidFill>
          <a:ln w="12700">
            <a:solidFill>
              <a:srgbClr val="F2F2F2"/>
            </a:solidFill>
            <a:prstDash val="solid"/>
          </a:ln>
        </p:spPr>
      </p:sp>
      <p:sp>
        <p:nvSpPr>
          <p:cNvPr id="41" name="Shape 39"/>
          <p:cNvSpPr/>
          <p:nvPr/>
        </p:nvSpPr>
        <p:spPr>
          <a:xfrm>
            <a:off x="4258056" y="4005072"/>
            <a:ext cx="201168" cy="201168"/>
          </a:xfrm>
          <a:prstGeom prst="ellipse">
            <a:avLst/>
          </a:prstGeom>
          <a:solidFill>
            <a:srgbClr val="440154"/>
          </a:solidFill>
          <a:ln/>
        </p:spPr>
      </p:sp>
      <p:sp>
        <p:nvSpPr>
          <p:cNvPr id="42" name="Shape 40"/>
          <p:cNvSpPr/>
          <p:nvPr/>
        </p:nvSpPr>
        <p:spPr>
          <a:xfrm>
            <a:off x="8891016" y="4005072"/>
            <a:ext cx="201168" cy="201168"/>
          </a:xfrm>
          <a:prstGeom prst="ellipse">
            <a:avLst/>
          </a:prstGeom>
          <a:solidFill>
            <a:srgbClr val="21918C"/>
          </a:solidFill>
          <a:ln/>
        </p:spPr>
      </p:sp>
      <p:sp>
        <p:nvSpPr>
          <p:cNvPr id="43" name="Text 41"/>
          <p:cNvSpPr/>
          <p:nvPr/>
        </p:nvSpPr>
        <p:spPr>
          <a:xfrm>
            <a:off x="914400" y="4526280"/>
            <a:ext cx="2103120" cy="274320"/>
          </a:xfrm>
          <a:prstGeom prst="rect">
            <a:avLst/>
          </a:prstGeom>
          <a:noFill/>
          <a:ln/>
        </p:spPr>
        <p:txBody>
          <a:bodyPr wrap="square" lIns="0" tIns="0" rIns="0" bIns="0" rtlCol="0" anchor="ctr"/>
          <a:lstStyle/>
          <a:p>
            <a:pPr algn="r" indent="0" marL="0">
              <a:buNone/>
            </a:pPr>
            <a:r>
              <a:rPr lang="en-US" sz="1300" dirty="0">
                <a:solidFill>
                  <a:srgbClr val="1F1F1F"/>
                </a:solidFill>
                <a:latin typeface="Calibri" pitchFamily="34" charset="0"/>
                <a:ea typeface="Calibri" pitchFamily="34" charset="-122"/>
                <a:cs typeface="Calibri" pitchFamily="34" charset="-120"/>
              </a:rPr>
              <a:t>Military</a:t>
            </a:r>
            <a:endParaRPr lang="en-US" sz="1300" dirty="0"/>
          </a:p>
        </p:txBody>
      </p:sp>
      <p:sp>
        <p:nvSpPr>
          <p:cNvPr id="44" name="Shape 42"/>
          <p:cNvSpPr/>
          <p:nvPr/>
        </p:nvSpPr>
        <p:spPr>
          <a:xfrm>
            <a:off x="3200400" y="4663440"/>
            <a:ext cx="6949440" cy="10973"/>
          </a:xfrm>
          <a:prstGeom prst="rect">
            <a:avLst/>
          </a:prstGeom>
          <a:solidFill>
            <a:srgbClr val="F2F2F2"/>
          </a:solidFill>
          <a:ln w="12700">
            <a:solidFill>
              <a:srgbClr val="F2F2F2"/>
            </a:solidFill>
            <a:prstDash val="solid"/>
          </a:ln>
        </p:spPr>
      </p:sp>
      <p:sp>
        <p:nvSpPr>
          <p:cNvPr id="45" name="Shape 43"/>
          <p:cNvSpPr/>
          <p:nvPr/>
        </p:nvSpPr>
        <p:spPr>
          <a:xfrm>
            <a:off x="4258056" y="4562856"/>
            <a:ext cx="201168" cy="201168"/>
          </a:xfrm>
          <a:prstGeom prst="ellipse">
            <a:avLst/>
          </a:prstGeom>
          <a:solidFill>
            <a:srgbClr val="440154"/>
          </a:solidFill>
          <a:ln/>
        </p:spPr>
      </p:sp>
      <p:sp>
        <p:nvSpPr>
          <p:cNvPr id="46" name="Shape 44"/>
          <p:cNvSpPr/>
          <p:nvPr/>
        </p:nvSpPr>
        <p:spPr>
          <a:xfrm>
            <a:off x="8891016" y="4562856"/>
            <a:ext cx="201168" cy="201168"/>
          </a:xfrm>
          <a:prstGeom prst="ellipse">
            <a:avLst/>
          </a:prstGeom>
          <a:solidFill>
            <a:srgbClr val="21918C"/>
          </a:solidFill>
          <a:ln/>
        </p:spPr>
      </p:sp>
      <p:sp>
        <p:nvSpPr>
          <p:cNvPr id="47" name="Text 45"/>
          <p:cNvSpPr/>
          <p:nvPr/>
        </p:nvSpPr>
        <p:spPr>
          <a:xfrm>
            <a:off x="3200400" y="5458968"/>
            <a:ext cx="694944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1 = no trust        7 = high trust</a:t>
            </a:r>
            <a:endParaRPr lang="en-US" sz="1200" dirty="0"/>
          </a:p>
        </p:txBody>
      </p:sp>
      <p:sp>
        <p:nvSpPr>
          <p:cNvPr id="48" name="Shape 46"/>
          <p:cNvSpPr/>
          <p:nvPr/>
        </p:nvSpPr>
        <p:spPr>
          <a:xfrm>
            <a:off x="914400" y="1481328"/>
            <a:ext cx="182880" cy="182880"/>
          </a:xfrm>
          <a:prstGeom prst="ellipse">
            <a:avLst/>
          </a:prstGeom>
          <a:solidFill>
            <a:srgbClr val="440154"/>
          </a:solidFill>
          <a:ln/>
        </p:spPr>
      </p:sp>
      <p:sp>
        <p:nvSpPr>
          <p:cNvPr id="49" name="Text 47"/>
          <p:cNvSpPr/>
          <p:nvPr/>
        </p:nvSpPr>
        <p:spPr>
          <a:xfrm>
            <a:off x="1170432" y="1417320"/>
            <a:ext cx="1737360" cy="274320"/>
          </a:xfrm>
          <a:prstGeom prst="rect">
            <a:avLst/>
          </a:prstGeom>
          <a:noFill/>
          <a:ln/>
        </p:spPr>
        <p:txBody>
          <a:bodyPr wrap="square" lIns="0" tIns="0" rIns="0" bIns="0" rtlCol="0" anchor="ctr"/>
          <a:lstStyle/>
          <a:p>
            <a:pPr indent="0" marL="0">
              <a:buNone/>
            </a:pPr>
            <a:r>
              <a:rPr lang="en-US" sz="1200" b="1" dirty="0">
                <a:solidFill>
                  <a:srgbClr val="440154"/>
                </a:solidFill>
                <a:latin typeface="Calibri" pitchFamily="34" charset="0"/>
                <a:ea typeface="Calibri" pitchFamily="34" charset="-122"/>
                <a:cs typeface="Calibri" pitchFamily="34" charset="-120"/>
              </a:rPr>
              <a:t>Respondent A</a:t>
            </a:r>
            <a:endParaRPr lang="en-US" sz="1200" dirty="0"/>
          </a:p>
        </p:txBody>
      </p:sp>
      <p:sp>
        <p:nvSpPr>
          <p:cNvPr id="50" name="Shape 48"/>
          <p:cNvSpPr/>
          <p:nvPr/>
        </p:nvSpPr>
        <p:spPr>
          <a:xfrm>
            <a:off x="3200400" y="1481328"/>
            <a:ext cx="182880" cy="182880"/>
          </a:xfrm>
          <a:prstGeom prst="ellipse">
            <a:avLst/>
          </a:prstGeom>
          <a:solidFill>
            <a:srgbClr val="21918C"/>
          </a:solidFill>
          <a:ln/>
        </p:spPr>
      </p:sp>
      <p:sp>
        <p:nvSpPr>
          <p:cNvPr id="51" name="Text 49"/>
          <p:cNvSpPr/>
          <p:nvPr/>
        </p:nvSpPr>
        <p:spPr>
          <a:xfrm>
            <a:off x="3456432" y="1417320"/>
            <a:ext cx="1737360" cy="274320"/>
          </a:xfrm>
          <a:prstGeom prst="rect">
            <a:avLst/>
          </a:prstGeom>
          <a:noFill/>
          <a:ln/>
        </p:spPr>
        <p:txBody>
          <a:bodyPr wrap="square" lIns="0" tIns="0" rIns="0" bIns="0" rtlCol="0" anchor="ctr"/>
          <a:lstStyle/>
          <a:p>
            <a:pPr indent="0" marL="0">
              <a:buNone/>
            </a:pPr>
            <a:r>
              <a:rPr lang="en-US" sz="1200" b="1" dirty="0">
                <a:solidFill>
                  <a:srgbClr val="21918C"/>
                </a:solidFill>
                <a:latin typeface="Calibri" pitchFamily="34" charset="0"/>
                <a:ea typeface="Calibri" pitchFamily="34" charset="-122"/>
                <a:cs typeface="Calibri" pitchFamily="34" charset="-120"/>
              </a:rPr>
              <a:t>Respondent B</a:t>
            </a:r>
            <a:endParaRPr lang="en-US" sz="1200" dirty="0"/>
          </a:p>
        </p:txBody>
      </p:sp>
      <p:sp>
        <p:nvSpPr>
          <p:cNvPr id="52" name="Shape 50"/>
          <p:cNvSpPr/>
          <p:nvPr/>
        </p:nvSpPr>
        <p:spPr>
          <a:xfrm>
            <a:off x="10561320" y="2377440"/>
            <a:ext cx="1234440" cy="1554480"/>
          </a:xfrm>
          <a:prstGeom prst="roundRect">
            <a:avLst>
              <a:gd name="adj" fmla="val 3704"/>
            </a:avLst>
          </a:prstGeom>
          <a:solidFill>
            <a:srgbClr val="F1EBF4"/>
          </a:solidFill>
          <a:ln w="12700">
            <a:solidFill>
              <a:srgbClr val="F1EBF4"/>
            </a:solidFill>
            <a:prstDash val="solid"/>
          </a:ln>
        </p:spPr>
      </p:sp>
      <p:sp>
        <p:nvSpPr>
          <p:cNvPr id="53" name="Text 51"/>
          <p:cNvSpPr/>
          <p:nvPr/>
        </p:nvSpPr>
        <p:spPr>
          <a:xfrm>
            <a:off x="10561320" y="2542032"/>
            <a:ext cx="1234440" cy="685800"/>
          </a:xfrm>
          <a:prstGeom prst="rect">
            <a:avLst/>
          </a:prstGeom>
          <a:noFill/>
          <a:ln/>
        </p:spPr>
        <p:txBody>
          <a:bodyPr wrap="square" lIns="0" tIns="0" rIns="0" bIns="0" rtlCol="0" anchor="ctr"/>
          <a:lstStyle/>
          <a:p>
            <a:pPr algn="ctr" indent="0" marL="0">
              <a:buNone/>
            </a:pPr>
            <a:r>
              <a:rPr lang="en-US" sz="3600" b="1" dirty="0">
                <a:solidFill>
                  <a:srgbClr val="440154"/>
                </a:solidFill>
                <a:latin typeface="Cambria" pitchFamily="34" charset="0"/>
                <a:ea typeface="Cambria" pitchFamily="34" charset="-122"/>
                <a:cs typeface="Cambria" pitchFamily="34" charset="-120"/>
              </a:rPr>
              <a:t>4.0</a:t>
            </a:r>
            <a:endParaRPr lang="en-US" sz="3600" dirty="0"/>
          </a:p>
        </p:txBody>
      </p:sp>
      <p:sp>
        <p:nvSpPr>
          <p:cNvPr id="54" name="Text 52"/>
          <p:cNvSpPr/>
          <p:nvPr/>
        </p:nvSpPr>
        <p:spPr>
          <a:xfrm>
            <a:off x="10561320" y="3200400"/>
            <a:ext cx="1234440" cy="5486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shared</a:t>
            </a:r>
            <a:endParaRPr lang="en-US" sz="1200" dirty="0"/>
          </a:p>
          <a:p>
            <a:pPr algn="ctr" indent="0" marL="0">
              <a:buNone/>
            </a:pPr>
            <a:r>
              <a:rPr lang="en-US" sz="1200" dirty="0">
                <a:solidFill>
                  <a:srgbClr val="6B6B6B"/>
                </a:solidFill>
                <a:latin typeface="Calibri" pitchFamily="34" charset="0"/>
                <a:ea typeface="Calibri" pitchFamily="34" charset="-122"/>
                <a:cs typeface="Calibri" pitchFamily="34" charset="-120"/>
              </a:rPr>
              <a:t>average</a:t>
            </a:r>
            <a:endParaRPr lang="en-US" sz="1200" dirty="0"/>
          </a:p>
        </p:txBody>
      </p:sp>
      <p:sp>
        <p:nvSpPr>
          <p:cNvPr id="55" name="Text 53"/>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Both average 4.0, so an index calls them the same. Tables by question show every gap, but not that the gaps come from two different kinds of people. </a:t>
            </a:r>
            <a:pPr indent="0" marL="0">
              <a:buNone/>
            </a:pPr>
            <a:r>
              <a:rPr lang="en-US" sz="1500" b="1" dirty="0">
                <a:solidFill>
                  <a:srgbClr val="440154"/>
                </a:solidFill>
                <a:latin typeface="Calibri" pitchFamily="34" charset="0"/>
                <a:ea typeface="Calibri" pitchFamily="34" charset="-122"/>
                <a:cs typeface="Calibri" pitchFamily="34" charset="-120"/>
              </a:rPr>
              <a:t>Segmentation keeps the whole pattern.</a:t>
            </a:r>
            <a:endParaRPr lang="en-US" sz="1500" dirty="0"/>
          </a:p>
        </p:txBody>
      </p:sp>
      <p:sp>
        <p:nvSpPr>
          <p:cNvPr id="201" name="Text 201"/>
          <p:cNvSpPr/>
          <p:nvPr/>
        </p:nvSpPr>
        <p:spPr>
          <a:xfrm>
            <a:off x="6400800" y="1417320"/>
            <a:ext cx="5074920" cy="274320"/>
          </a:xfrm>
          <a:prstGeom prst="rect">
            <a:avLst/>
          </a:prstGeom>
          <a:noFill/>
          <a:ln/>
        </p:spPr>
        <p:txBody>
          <a:bodyPr wrap="square" lIns="0" tIns="0" rIns="0" bIns="0" rtlCol="0" anchor="ctr"/>
          <a:lstStyle/>
          <a:p>
            <a:pPr algn="r" indent="0" marL="0">
              <a:buNone/>
            </a:pPr>
            <a:r>
              <a:rPr lang="en-US" sz="1100" b="1" dirty="0">
                <a:solidFill>
                  <a:srgbClr val="BBA800"/>
                </a:solidFill>
                <a:latin typeface="Calibri" pitchFamily="34" charset="0"/>
                <a:ea typeface="Calibri" pitchFamily="34" charset="-122"/>
                <a:cs typeface="Calibri" pitchFamily="34" charset="-120"/>
              </a:rPr>
              <a:t>ILLUSTRATION: two hypothetical respondents, not survey data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How this differs from a single trust score</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INDEX VERSUS SEGMENTS</a:t>
            </a:r>
            <a:endParaRPr lang="en-US" sz="1000" dirty="0"/>
          </a:p>
        </p:txBody>
      </p:sp>
      <p:sp>
        <p:nvSpPr>
          <p:cNvPr id="9" name="Shape 9"/>
          <p:cNvSpPr/>
          <p:nvPr/>
        </p:nvSpPr>
        <p:spPr>
          <a:xfrm>
            <a:off x="685800" y="1554480"/>
            <a:ext cx="10789920" cy="868680"/>
          </a:xfrm>
          <a:prstGeom prst="roundRect">
            <a:avLst>
              <a:gd name="adj" fmla="val 1724"/>
            </a:avLst>
          </a:prstGeom>
          <a:solidFill>
            <a:srgbClr val="E8F3F2"/>
          </a:solidFill>
          <a:ln w="12700">
            <a:solidFill>
              <a:srgbClr val="E8F3F2"/>
            </a:solidFill>
            <a:prstDash val="solid"/>
          </a:ln>
        </p:spPr>
      </p:sp>
      <p:sp>
        <p:nvSpPr>
          <p:cNvPr id="10" name="Text 10"/>
          <p:cNvSpPr/>
          <p:nvPr/>
        </p:nvSpPr>
        <p:spPr>
          <a:xfrm>
            <a:off x="1143000" y="1554480"/>
            <a:ext cx="9875520" cy="86868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A single score places every person on one line, from low to high.</a:t>
            </a:r>
          </a:p>
          <a:p>
            <a:pPr algn="ctr" indent="0" marL="0">
              <a:buNone/>
            </a:pPr>
            <a:r>
              <a:rPr lang="en-US" sz="1500" b="1" dirty="0">
                <a:solidFill>
                  <a:srgbClr val="440154"/>
                </a:solidFill>
                <a:latin typeface="Calibri" pitchFamily="34" charset="0"/>
                <a:ea typeface="Calibri" pitchFamily="34" charset="-122"/>
                <a:cs typeface="Calibri" pitchFamily="34" charset="-120"/>
              </a:rPr>
              <a:t>Segmentation asks a different question: who answers the set alike, and who answers it differently?</a:t>
            </a:r>
          </a:p>
        </p:txBody>
      </p:sp>
      <p:sp>
        <p:nvSpPr>
          <p:cNvPr id="11" name="Shape 11"/>
          <p:cNvSpPr/>
          <p:nvPr/>
        </p:nvSpPr>
        <p:spPr>
          <a:xfrm>
            <a:off x="685800" y="2560320"/>
            <a:ext cx="5212080" cy="2743200"/>
          </a:xfrm>
          <a:prstGeom prst="roundRect">
            <a:avLst>
              <a:gd name="adj" fmla="val 1000"/>
            </a:avLst>
          </a:prstGeom>
          <a:solidFill>
            <a:srgbClr val="E8F3F2"/>
          </a:solidFill>
          <a:ln w="12700">
            <a:solidFill>
              <a:srgbClr val="E8F3F2"/>
            </a:solidFill>
            <a:prstDash val="solid"/>
          </a:ln>
        </p:spPr>
      </p:sp>
      <p:sp>
        <p:nvSpPr>
          <p:cNvPr id="12" name="Text 12"/>
          <p:cNvSpPr/>
          <p:nvPr/>
        </p:nvSpPr>
        <p:spPr>
          <a:xfrm>
            <a:off x="1005840" y="2788920"/>
            <a:ext cx="45720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ONE SCORE</a:t>
            </a:r>
            <a:endParaRPr lang="en-US" sz="1000" dirty="0"/>
          </a:p>
        </p:txBody>
      </p:sp>
      <p:sp>
        <p:nvSpPr>
          <p:cNvPr id="13" name="Shape 13"/>
          <p:cNvSpPr/>
          <p:nvPr/>
        </p:nvSpPr>
        <p:spPr>
          <a:xfrm>
            <a:off x="1051560" y="3364992"/>
            <a:ext cx="182880" cy="182880"/>
          </a:xfrm>
          <a:prstGeom prst="ellipse">
            <a:avLst/>
          </a:prstGeom>
          <a:solidFill>
            <a:srgbClr val="21918C"/>
          </a:solidFill>
          <a:ln/>
        </p:spPr>
      </p:sp>
      <p:sp>
        <p:nvSpPr>
          <p:cNvPr id="14" name="Text 14"/>
          <p:cNvSpPr/>
          <p:nvPr/>
        </p:nvSpPr>
        <p:spPr>
          <a:xfrm>
            <a:off x="1399032" y="333756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Lines everyone up from low trust to high trust.</a:t>
            </a:r>
            <a:endParaRPr lang="en-US" sz="1000" dirty="0"/>
          </a:p>
        </p:txBody>
      </p:sp>
      <p:sp>
        <p:nvSpPr>
          <p:cNvPr id="15" name="Shape 15"/>
          <p:cNvSpPr/>
          <p:nvPr/>
        </p:nvSpPr>
        <p:spPr>
          <a:xfrm>
            <a:off x="1051560" y="4005072"/>
            <a:ext cx="182880" cy="182880"/>
          </a:xfrm>
          <a:prstGeom prst="ellipse">
            <a:avLst/>
          </a:prstGeom>
          <a:solidFill>
            <a:srgbClr val="21918C"/>
          </a:solidFill>
          <a:ln/>
        </p:spPr>
      </p:sp>
      <p:sp>
        <p:nvSpPr>
          <p:cNvPr id="16" name="Text 16"/>
          <p:cNvSpPr/>
          <p:nvPr/>
        </p:nvSpPr>
        <p:spPr>
          <a:xfrm>
            <a:off x="1399032" y="397764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Two very different people can average to the same number.</a:t>
            </a:r>
            <a:endParaRPr lang="en-US" sz="1000" dirty="0"/>
          </a:p>
        </p:txBody>
      </p:sp>
      <p:sp>
        <p:nvSpPr>
          <p:cNvPr id="17" name="Shape 17"/>
          <p:cNvSpPr/>
          <p:nvPr/>
        </p:nvSpPr>
        <p:spPr>
          <a:xfrm>
            <a:off x="1051560" y="4645152"/>
            <a:ext cx="182880" cy="182880"/>
          </a:xfrm>
          <a:prstGeom prst="ellipse">
            <a:avLst/>
          </a:prstGeom>
          <a:solidFill>
            <a:srgbClr val="21918C"/>
          </a:solidFill>
          <a:ln/>
        </p:spPr>
      </p:sp>
      <p:sp>
        <p:nvSpPr>
          <p:cNvPr id="18" name="Text 18"/>
          <p:cNvSpPr/>
          <p:nvPr/>
        </p:nvSpPr>
        <p:spPr>
          <a:xfrm>
            <a:off x="1399032" y="461772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Cannot say how many kinds of people are in the data.</a:t>
            </a:r>
            <a:endParaRPr lang="en-US" sz="1000" dirty="0"/>
          </a:p>
        </p:txBody>
      </p:sp>
      <p:sp>
        <p:nvSpPr>
          <p:cNvPr id="19" name="Shape 19"/>
          <p:cNvSpPr/>
          <p:nvPr/>
        </p:nvSpPr>
        <p:spPr>
          <a:xfrm>
            <a:off x="6537960" y="2560320"/>
            <a:ext cx="4937760" cy="2743200"/>
          </a:xfrm>
          <a:prstGeom prst="roundRect">
            <a:avLst>
              <a:gd name="adj" fmla="val 1000"/>
            </a:avLst>
          </a:prstGeom>
          <a:solidFill>
            <a:srgbClr val="F1EBF4"/>
          </a:solidFill>
          <a:ln w="12700">
            <a:solidFill>
              <a:srgbClr val="F1EBF4"/>
            </a:solidFill>
            <a:prstDash val="solid"/>
          </a:ln>
        </p:spPr>
      </p:sp>
      <p:sp>
        <p:nvSpPr>
          <p:cNvPr id="20" name="Text 20"/>
          <p:cNvSpPr/>
          <p:nvPr/>
        </p:nvSpPr>
        <p:spPr>
          <a:xfrm>
            <a:off x="6858000" y="2788920"/>
            <a:ext cx="438912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SEGMENTATION</a:t>
            </a:r>
            <a:endParaRPr lang="en-US" sz="1000" dirty="0"/>
          </a:p>
        </p:txBody>
      </p:sp>
      <p:sp>
        <p:nvSpPr>
          <p:cNvPr id="21" name="Shape 21"/>
          <p:cNvSpPr/>
          <p:nvPr/>
        </p:nvSpPr>
        <p:spPr>
          <a:xfrm>
            <a:off x="6903720" y="3364992"/>
            <a:ext cx="182880" cy="182880"/>
          </a:xfrm>
          <a:prstGeom prst="ellipse">
            <a:avLst/>
          </a:prstGeom>
          <a:solidFill>
            <a:srgbClr val="440154"/>
          </a:solidFill>
          <a:ln/>
        </p:spPr>
      </p:sp>
      <p:sp>
        <p:nvSpPr>
          <p:cNvPr id="22" name="Text 22"/>
          <p:cNvSpPr/>
          <p:nvPr/>
        </p:nvSpPr>
        <p:spPr>
          <a:xfrm>
            <a:off x="7251192" y="333756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Groups people by their whole pattern of answers.</a:t>
            </a:r>
            <a:endParaRPr lang="en-US" sz="1000" dirty="0"/>
          </a:p>
        </p:txBody>
      </p:sp>
      <p:sp>
        <p:nvSpPr>
          <p:cNvPr id="23" name="Shape 23"/>
          <p:cNvSpPr/>
          <p:nvPr/>
        </p:nvSpPr>
        <p:spPr>
          <a:xfrm>
            <a:off x="6903720" y="4005072"/>
            <a:ext cx="182880" cy="182880"/>
          </a:xfrm>
          <a:prstGeom prst="ellipse">
            <a:avLst/>
          </a:prstGeom>
          <a:solidFill>
            <a:srgbClr val="440154"/>
          </a:solidFill>
          <a:ln/>
        </p:spPr>
      </p:sp>
      <p:sp>
        <p:nvSpPr>
          <p:cNvPr id="24" name="Text 24"/>
          <p:cNvSpPr/>
          <p:nvPr/>
        </p:nvSpPr>
        <p:spPr>
          <a:xfrm>
            <a:off x="7251192" y="397764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Shows the evidence for each number of groups; the analyst chooses.</a:t>
            </a:r>
            <a:endParaRPr lang="en-US" sz="1000" dirty="0"/>
          </a:p>
        </p:txBody>
      </p:sp>
      <p:sp>
        <p:nvSpPr>
          <p:cNvPr id="25" name="Shape 25"/>
          <p:cNvSpPr/>
          <p:nvPr/>
        </p:nvSpPr>
        <p:spPr>
          <a:xfrm>
            <a:off x="6903720" y="4645152"/>
            <a:ext cx="182880" cy="182880"/>
          </a:xfrm>
          <a:prstGeom prst="ellipse">
            <a:avLst/>
          </a:prstGeom>
          <a:solidFill>
            <a:srgbClr val="440154"/>
          </a:solidFill>
          <a:ln/>
        </p:spPr>
      </p:sp>
      <p:sp>
        <p:nvSpPr>
          <p:cNvPr id="26" name="Text 26"/>
          <p:cNvSpPr/>
          <p:nvPr/>
        </p:nvSpPr>
        <p:spPr>
          <a:xfrm>
            <a:off x="7251192" y="461772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Gives each group a population share and a margin of error.</a:t>
            </a:r>
            <a:endParaRPr lang="en-US" sz="1000" dirty="0"/>
          </a:p>
        </p:txBody>
      </p:sp>
      <p:sp>
        <p:nvSpPr>
          <p:cNvPr id="27" name="Text 27"/>
          <p:cNvSpPr/>
          <p:nvPr/>
        </p:nvSpPr>
        <p:spPr>
          <a:xfrm>
            <a:off x="685800" y="5486400"/>
            <a:ext cx="10789920" cy="457200"/>
          </a:xfrm>
          <a:prstGeom prst="rect">
            <a:avLst/>
          </a:prstGeom>
          <a:noFill/>
          <a:ln/>
        </p:spPr>
        <p:txBody>
          <a:bodyPr wrap="square" lIns="0" tIns="0" rIns="0" bIns="0" rtlCol="0" anchor="ctr"/>
          <a:lstStyle/>
          <a:p>
            <a:pPr algn="ctr" indent="0" marL="0">
              <a:buNone/>
            </a:pPr>
            <a:r>
              <a:rPr lang="en-US" sz="1300" dirty="0">
                <a:solidFill>
                  <a:srgbClr val="1F1F1F"/>
                </a:solidFill>
                <a:latin typeface="Calibri" pitchFamily="34" charset="0"/>
                <a:ea typeface="Calibri" pitchFamily="34" charset="-122"/>
                <a:cs typeface="Calibri" pitchFamily="34" charset="-120"/>
              </a:rPr>
              <a:t>Where a battery really is one continuum, a single score is the simpler and better tool, and the report shows which case you are in.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battery's shape decides the method, not taste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HOW THE CHOICE WAS MADE</a:t>
            </a:r>
            <a:endParaRPr lang="en-US" sz="1000" dirty="0"/>
          </a:p>
        </p:txBody>
      </p:sp>
      <p:sp>
        <p:nvSpPr>
          <p:cNvPr id="9" name="Text 7"/>
          <p:cNvSpPr/>
          <p:nvPr/>
        </p:nvSpPr>
        <p:spPr>
          <a:xfrm>
            <a:off x="685800" y="1600200"/>
            <a:ext cx="10789920" cy="32004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1.  What are we estimating?</a:t>
            </a:r>
            <a:endParaRPr lang="en-US" sz="1600" dirty="0"/>
          </a:p>
        </p:txBody>
      </p:sp>
      <p:sp>
        <p:nvSpPr>
          <p:cNvPr id="10" name="Shape 8"/>
          <p:cNvSpPr/>
          <p:nvPr/>
        </p:nvSpPr>
        <p:spPr>
          <a:xfrm>
            <a:off x="685800" y="2011680"/>
            <a:ext cx="4937760" cy="1143000"/>
          </a:xfrm>
          <a:prstGeom prst="roundRect">
            <a:avLst>
              <a:gd name="adj" fmla="val 4000"/>
            </a:avLst>
          </a:prstGeom>
          <a:solidFill>
            <a:srgbClr val="F7F7F7"/>
          </a:solidFill>
          <a:ln w="12700">
            <a:solidFill>
              <a:srgbClr val="E4E4E4"/>
            </a:solidFill>
            <a:prstDash val="solid"/>
          </a:ln>
        </p:spPr>
      </p:sp>
      <p:sp>
        <p:nvSpPr>
          <p:cNvPr id="11" name="Text 9"/>
          <p:cNvSpPr/>
          <p:nvPr/>
        </p:nvSpPr>
        <p:spPr>
          <a:xfrm>
            <a:off x="960120" y="2148840"/>
            <a:ext cx="4389120" cy="292608"/>
          </a:xfrm>
          <a:prstGeom prst="rect">
            <a:avLst/>
          </a:prstGeom>
          <a:noFill/>
          <a:ln/>
        </p:spPr>
        <p:txBody>
          <a:bodyPr wrap="square" lIns="0" tIns="0" rIns="0" bIns="0"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A partition of this file</a:t>
            </a:r>
            <a:endParaRPr lang="en-US" sz="1500" dirty="0"/>
          </a:p>
        </p:txBody>
      </p:sp>
      <p:sp>
        <p:nvSpPr>
          <p:cNvPr id="12" name="Text 10"/>
          <p:cNvSpPr/>
          <p:nvPr/>
        </p:nvSpPr>
        <p:spPr>
          <a:xfrm>
            <a:off x="960120" y="2468880"/>
            <a:ext cx="4389120" cy="292608"/>
          </a:xfrm>
          <a:prstGeom prst="rect">
            <a:avLst/>
          </a:prstGeom>
          <a:noFill/>
          <a:ln/>
        </p:spPr>
        <p:txBody>
          <a:bodyPr wrap="square" lIns="0" tIns="0" rIns="0" bIns="0" rtlCol="0" anchor="ctr"/>
          <a:lstStyle/>
          <a:p>
            <a:pPr indent="0" marL="0">
              <a:buNone/>
            </a:pPr>
            <a:r>
              <a:rPr lang="en-US" sz="1300" dirty="0">
                <a:solidFill>
                  <a:srgbClr val="BFBFBF"/>
                </a:solidFill>
                <a:latin typeface="Calibri" pitchFamily="34" charset="0"/>
                <a:ea typeface="Calibri" pitchFamily="34" charset="-122"/>
                <a:cs typeface="Calibri" pitchFamily="34" charset="-120"/>
              </a:rPr>
              <a:t>k-means, medoids</a:t>
            </a:r>
            <a:endParaRPr lang="en-US" sz="1300" dirty="0"/>
          </a:p>
        </p:txBody>
      </p:sp>
      <p:sp>
        <p:nvSpPr>
          <p:cNvPr id="13" name="Text 11"/>
          <p:cNvSpPr/>
          <p:nvPr/>
        </p:nvSpPr>
        <p:spPr>
          <a:xfrm>
            <a:off x="960120" y="2770632"/>
            <a:ext cx="4389120" cy="274320"/>
          </a:xfrm>
          <a:prstGeom prst="rect">
            <a:avLst/>
          </a:prstGeom>
          <a:noFill/>
          <a:ln/>
        </p:spPr>
        <p:txBody>
          <a:bodyPr wrap="square" lIns="0" tIns="0" rIns="0" bIns="0" rtlCol="0" anchor="ctr"/>
          <a:lstStyle/>
          <a:p>
            <a:pPr indent="0" marL="0">
              <a:buNone/>
            </a:pPr>
            <a:r>
              <a:rPr lang="en-US" sz="1200" i="1" dirty="0">
                <a:solidFill>
                  <a:srgbClr val="A03030"/>
                </a:solidFill>
                <a:latin typeface="Calibri" pitchFamily="34" charset="0"/>
                <a:ea typeface="Calibri" pitchFamily="34" charset="-122"/>
                <a:cs typeface="Calibri" pitchFamily="34" charset="-120"/>
              </a:rPr>
              <a:t>no interval exists</a:t>
            </a:r>
            <a:endParaRPr lang="en-US" sz="1200" dirty="0"/>
          </a:p>
        </p:txBody>
      </p:sp>
      <p:sp>
        <p:nvSpPr>
          <p:cNvPr id="14" name="Shape 12"/>
          <p:cNvSpPr/>
          <p:nvPr/>
        </p:nvSpPr>
        <p:spPr>
          <a:xfrm>
            <a:off x="6172200" y="2011680"/>
            <a:ext cx="5303520" cy="1143000"/>
          </a:xfrm>
          <a:prstGeom prst="roundRect">
            <a:avLst>
              <a:gd name="adj" fmla="val 4000"/>
            </a:avLst>
          </a:prstGeom>
          <a:solidFill>
            <a:srgbClr val="E8F3F2"/>
          </a:solidFill>
          <a:ln w="12700">
            <a:solidFill>
              <a:srgbClr val="21918C"/>
            </a:solidFill>
            <a:prstDash val="solid"/>
          </a:ln>
        </p:spPr>
      </p:sp>
      <p:sp>
        <p:nvSpPr>
          <p:cNvPr id="15" name="Shape 13"/>
          <p:cNvSpPr/>
          <p:nvPr/>
        </p:nvSpPr>
        <p:spPr>
          <a:xfrm>
            <a:off x="6400800" y="2221992"/>
            <a:ext cx="237744" cy="237744"/>
          </a:xfrm>
          <a:prstGeom prst="ellipse">
            <a:avLst/>
          </a:prstGeom>
          <a:solidFill>
            <a:srgbClr val="21918C"/>
          </a:solidFill>
          <a:ln/>
        </p:spPr>
      </p:sp>
      <p:sp>
        <p:nvSpPr>
          <p:cNvPr id="16" name="Text 14"/>
          <p:cNvSpPr/>
          <p:nvPr/>
        </p:nvSpPr>
        <p:spPr>
          <a:xfrm>
            <a:off x="6766560" y="2148840"/>
            <a:ext cx="457200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A population parameter</a:t>
            </a:r>
            <a:endParaRPr lang="en-US" sz="1500" dirty="0"/>
          </a:p>
        </p:txBody>
      </p:sp>
      <p:sp>
        <p:nvSpPr>
          <p:cNvPr id="17" name="Text 15"/>
          <p:cNvSpPr/>
          <p:nvPr/>
        </p:nvSpPr>
        <p:spPr>
          <a:xfrm>
            <a:off x="6766560" y="2468880"/>
            <a:ext cx="4572000" cy="292608"/>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factor analysis, latent class</a:t>
            </a:r>
            <a:endParaRPr lang="en-US" sz="1300" dirty="0"/>
          </a:p>
        </p:txBody>
      </p:sp>
      <p:sp>
        <p:nvSpPr>
          <p:cNvPr id="18" name="Text 16"/>
          <p:cNvSpPr/>
          <p:nvPr/>
        </p:nvSpPr>
        <p:spPr>
          <a:xfrm>
            <a:off x="685800" y="3657600"/>
            <a:ext cx="10789920" cy="32004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2.  What shape is the thing?</a:t>
            </a:r>
            <a:endParaRPr lang="en-US" sz="1600" dirty="0"/>
          </a:p>
        </p:txBody>
      </p:sp>
      <p:sp>
        <p:nvSpPr>
          <p:cNvPr id="19" name="Shape 17"/>
          <p:cNvSpPr/>
          <p:nvPr/>
        </p:nvSpPr>
        <p:spPr>
          <a:xfrm>
            <a:off x="685800" y="4069080"/>
            <a:ext cx="4937760" cy="1143000"/>
          </a:xfrm>
          <a:prstGeom prst="roundRect">
            <a:avLst>
              <a:gd name="adj" fmla="val 4000"/>
            </a:avLst>
          </a:prstGeom>
          <a:solidFill>
            <a:srgbClr val="F7F7F7"/>
          </a:solidFill>
          <a:ln w="12700">
            <a:solidFill>
              <a:srgbClr val="E4E4E4"/>
            </a:solidFill>
            <a:prstDash val="solid"/>
          </a:ln>
        </p:spPr>
      </p:sp>
      <p:sp>
        <p:nvSpPr>
          <p:cNvPr id="20" name="Text 18"/>
          <p:cNvSpPr/>
          <p:nvPr/>
        </p:nvSpPr>
        <p:spPr>
          <a:xfrm>
            <a:off x="960120" y="4206240"/>
            <a:ext cx="4389120" cy="292608"/>
          </a:xfrm>
          <a:prstGeom prst="rect">
            <a:avLst/>
          </a:prstGeom>
          <a:noFill/>
          <a:ln/>
        </p:spPr>
        <p:txBody>
          <a:bodyPr wrap="square" lIns="0" tIns="0" rIns="0" bIns="0" rtlCol="0" anchor="ctr"/>
          <a:lstStyle/>
          <a:p>
            <a:pPr indent="0" marL="0">
              <a:buNone/>
            </a:pPr>
            <a:r>
              <a:rPr lang="en-US" sz="1500" b="1" dirty="0">
                <a:solidFill>
                  <a:srgbClr val="6B6B6B"/>
                </a:solidFill>
                <a:latin typeface="Calibri" pitchFamily="34" charset="0"/>
                <a:ea typeface="Calibri" pitchFamily="34" charset="-122"/>
                <a:cs typeface="Calibri" pitchFamily="34" charset="-120"/>
              </a:rPr>
              <a:t>One continuum</a:t>
            </a:r>
            <a:endParaRPr lang="en-US" sz="1500" dirty="0"/>
          </a:p>
        </p:txBody>
      </p:sp>
      <p:sp>
        <p:nvSpPr>
          <p:cNvPr id="21" name="Text 19"/>
          <p:cNvSpPr/>
          <p:nvPr/>
        </p:nvSpPr>
        <p:spPr>
          <a:xfrm>
            <a:off x="960120" y="4526280"/>
            <a:ext cx="4389120" cy="292608"/>
          </a:xfrm>
          <a:prstGeom prst="rect">
            <a:avLst/>
          </a:prstGeom>
          <a:noFill/>
          <a:ln/>
        </p:spPr>
        <p:txBody>
          <a:bodyPr wrap="square" lIns="0" tIns="0" rIns="0" bIns="0" rtlCol="0" anchor="ctr"/>
          <a:lstStyle/>
          <a:p>
            <a:pPr indent="0" marL="0">
              <a:buNone/>
            </a:pPr>
            <a:r>
              <a:rPr lang="en-US" sz="1300" dirty="0">
                <a:solidFill>
                  <a:srgbClr val="BFBFBF"/>
                </a:solidFill>
                <a:latin typeface="Calibri" pitchFamily="34" charset="0"/>
                <a:ea typeface="Calibri" pitchFamily="34" charset="-122"/>
                <a:cs typeface="Calibri" pitchFamily="34" charset="-120"/>
              </a:rPr>
              <a:t>groups differ in how high</a:t>
            </a:r>
            <a:endParaRPr lang="en-US" sz="1300" dirty="0"/>
          </a:p>
        </p:txBody>
      </p:sp>
      <p:sp>
        <p:nvSpPr>
          <p:cNvPr id="22" name="Text 20"/>
          <p:cNvSpPr/>
          <p:nvPr/>
        </p:nvSpPr>
        <p:spPr>
          <a:xfrm>
            <a:off x="960120" y="4828032"/>
            <a:ext cx="4389120" cy="274320"/>
          </a:xfrm>
          <a:prstGeom prst="rect">
            <a:avLst/>
          </a:prstGeom>
          <a:noFill/>
          <a:ln/>
        </p:spPr>
        <p:txBody>
          <a:bodyPr wrap="square" lIns="0" tIns="0" rIns="0" bIns="0" rtlCol="0" anchor="ctr"/>
          <a:lstStyle/>
          <a:p>
            <a:pPr indent="0" marL="0">
              <a:buNone/>
            </a:pPr>
            <a:r>
              <a:rPr lang="en-US" sz="1200" i="1" dirty="0">
                <a:solidFill>
                  <a:srgbClr val="A03030"/>
                </a:solidFill>
                <a:latin typeface="Calibri" pitchFamily="34" charset="0"/>
                <a:ea typeface="Calibri" pitchFamily="34" charset="-122"/>
                <a:cs typeface="Calibri" pitchFamily="34" charset="-120"/>
              </a:rPr>
              <a:t>a factor cannot hold a crossing</a:t>
            </a:r>
            <a:endParaRPr lang="en-US" sz="1200" dirty="0"/>
          </a:p>
        </p:txBody>
      </p:sp>
      <p:sp>
        <p:nvSpPr>
          <p:cNvPr id="23" name="Shape 21"/>
          <p:cNvSpPr/>
          <p:nvPr/>
        </p:nvSpPr>
        <p:spPr>
          <a:xfrm>
            <a:off x="6172200" y="4069080"/>
            <a:ext cx="5303520" cy="1143000"/>
          </a:xfrm>
          <a:prstGeom prst="roundRect">
            <a:avLst>
              <a:gd name="adj" fmla="val 4000"/>
            </a:avLst>
          </a:prstGeom>
          <a:solidFill>
            <a:srgbClr val="E8F3F2"/>
          </a:solidFill>
          <a:ln w="12700">
            <a:solidFill>
              <a:srgbClr val="21918C"/>
            </a:solidFill>
            <a:prstDash val="solid"/>
          </a:ln>
        </p:spPr>
      </p:sp>
      <p:sp>
        <p:nvSpPr>
          <p:cNvPr id="24" name="Shape 22"/>
          <p:cNvSpPr/>
          <p:nvPr/>
        </p:nvSpPr>
        <p:spPr>
          <a:xfrm>
            <a:off x="6400800" y="4279392"/>
            <a:ext cx="237744" cy="237744"/>
          </a:xfrm>
          <a:prstGeom prst="ellipse">
            <a:avLst/>
          </a:prstGeom>
          <a:solidFill>
            <a:srgbClr val="21918C"/>
          </a:solidFill>
          <a:ln/>
        </p:spPr>
      </p:sp>
      <p:sp>
        <p:nvSpPr>
          <p:cNvPr id="25" name="Text 23"/>
          <p:cNvSpPr/>
          <p:nvPr/>
        </p:nvSpPr>
        <p:spPr>
          <a:xfrm>
            <a:off x="6766560" y="4206240"/>
            <a:ext cx="457200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Distinct types</a:t>
            </a:r>
            <a:endParaRPr lang="en-US" sz="1500" dirty="0"/>
          </a:p>
        </p:txBody>
      </p:sp>
      <p:sp>
        <p:nvSpPr>
          <p:cNvPr id="26" name="Text 24"/>
          <p:cNvSpPr/>
          <p:nvPr/>
        </p:nvSpPr>
        <p:spPr>
          <a:xfrm>
            <a:off x="6766560" y="4526280"/>
            <a:ext cx="4572000" cy="292608"/>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groups differ in which items</a:t>
            </a:r>
            <a:endParaRPr lang="en-US" sz="1300" dirty="0"/>
          </a:p>
        </p:txBody>
      </p:sp>
      <p:sp>
        <p:nvSpPr>
          <p:cNvPr id="27" name="Text 25"/>
          <p:cNvSpPr/>
          <p:nvPr/>
        </p:nvSpPr>
        <p:spPr>
          <a:xfrm>
            <a:off x="685800" y="58064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battery decides question two, not taste. </a:t>
            </a:r>
            <a:pPr indent="0" marL="0">
              <a:buNone/>
            </a:pPr>
            <a:r>
              <a:rPr lang="en-US" sz="1500" b="1" dirty="0">
                <a:solidFill>
                  <a:srgbClr val="440154"/>
                </a:solidFill>
                <a:latin typeface="Calibri" pitchFamily="34" charset="0"/>
                <a:ea typeface="Calibri" pitchFamily="34" charset="-122"/>
                <a:cs typeface="Calibri" pitchFamily="34" charset="-120"/>
              </a:rPr>
              <a:t>The diagnostic is on the profiles slide.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Every person gets a probability, not a forced label</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WHAT THE MODEL OUTPUTS</a:t>
            </a:r>
            <a:endParaRPr lang="en-US" sz="1000" dirty="0"/>
          </a:p>
        </p:txBody>
      </p:sp>
      <p:sp>
        <p:nvSpPr>
          <p:cNvPr id="9" name="Shape 7"/>
          <p:cNvSpPr/>
          <p:nvPr/>
        </p:nvSpPr>
        <p:spPr>
          <a:xfrm>
            <a:off x="1378915" y="2432304"/>
            <a:ext cx="351130" cy="351130"/>
          </a:xfrm>
          <a:prstGeom prst="ellipse">
            <a:avLst/>
          </a:prstGeom>
          <a:solidFill>
            <a:srgbClr val="A9A9A9"/>
          </a:solidFill>
          <a:ln w="12700">
            <a:solidFill>
              <a:srgbClr val="A9A9A9"/>
            </a:solidFill>
            <a:prstDash val="solid"/>
          </a:ln>
        </p:spPr>
      </p:sp>
      <p:sp>
        <p:nvSpPr>
          <p:cNvPr id="10" name="Shape 8"/>
          <p:cNvSpPr/>
          <p:nvPr/>
        </p:nvSpPr>
        <p:spPr>
          <a:xfrm>
            <a:off x="1305763" y="2695651"/>
            <a:ext cx="497434" cy="643738"/>
          </a:xfrm>
          <a:prstGeom prst="roundRect">
            <a:avLst>
              <a:gd name="adj" fmla="val 29412"/>
            </a:avLst>
          </a:prstGeom>
          <a:solidFill>
            <a:srgbClr val="A9A9A9"/>
          </a:solidFill>
          <a:ln w="12700">
            <a:solidFill>
              <a:srgbClr val="A9A9A9"/>
            </a:solidFill>
            <a:prstDash val="solid"/>
          </a:ln>
        </p:spPr>
      </p:sp>
      <p:sp>
        <p:nvSpPr>
          <p:cNvPr id="11" name="Text 9"/>
          <p:cNvSpPr/>
          <p:nvPr/>
        </p:nvSpPr>
        <p:spPr>
          <a:xfrm>
            <a:off x="731520" y="3794760"/>
            <a:ext cx="164592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one respondent</a:t>
            </a:r>
            <a:endParaRPr lang="en-US" sz="1200" dirty="0"/>
          </a:p>
        </p:txBody>
      </p:sp>
      <p:sp>
        <p:nvSpPr>
          <p:cNvPr id="12" name="Shape 10"/>
          <p:cNvSpPr/>
          <p:nvPr/>
        </p:nvSpPr>
        <p:spPr>
          <a:xfrm>
            <a:off x="3017520" y="2834640"/>
            <a:ext cx="2437790" cy="548640"/>
          </a:xfrm>
          <a:prstGeom prst="rect">
            <a:avLst/>
          </a:prstGeom>
          <a:solidFill>
            <a:srgbClr val="440154"/>
          </a:solidFill>
          <a:ln/>
        </p:spPr>
      </p:sp>
      <p:sp>
        <p:nvSpPr>
          <p:cNvPr id="13" name="Shape 11"/>
          <p:cNvSpPr/>
          <p:nvPr/>
        </p:nvSpPr>
        <p:spPr>
          <a:xfrm>
            <a:off x="5455310" y="2834640"/>
            <a:ext cx="943661" cy="548640"/>
          </a:xfrm>
          <a:prstGeom prst="rect">
            <a:avLst/>
          </a:prstGeom>
          <a:solidFill>
            <a:srgbClr val="3B528B"/>
          </a:solidFill>
          <a:ln/>
        </p:spPr>
      </p:sp>
      <p:sp>
        <p:nvSpPr>
          <p:cNvPr id="14" name="Shape 12"/>
          <p:cNvSpPr/>
          <p:nvPr/>
        </p:nvSpPr>
        <p:spPr>
          <a:xfrm>
            <a:off x="6398971" y="2834640"/>
            <a:ext cx="314554" cy="548640"/>
          </a:xfrm>
          <a:prstGeom prst="rect">
            <a:avLst/>
          </a:prstGeom>
          <a:solidFill>
            <a:srgbClr val="21918C"/>
          </a:solidFill>
          <a:ln/>
        </p:spPr>
      </p:sp>
      <p:sp>
        <p:nvSpPr>
          <p:cNvPr id="15" name="Shape 13"/>
          <p:cNvSpPr/>
          <p:nvPr/>
        </p:nvSpPr>
        <p:spPr>
          <a:xfrm>
            <a:off x="6713525" y="2834640"/>
            <a:ext cx="157277" cy="548640"/>
          </a:xfrm>
          <a:prstGeom prst="rect">
            <a:avLst/>
          </a:prstGeom>
          <a:solidFill>
            <a:srgbClr val="5EC962"/>
          </a:solidFill>
          <a:ln/>
        </p:spPr>
      </p:sp>
      <p:sp>
        <p:nvSpPr>
          <p:cNvPr id="16" name="Shape 14"/>
          <p:cNvSpPr/>
          <p:nvPr/>
        </p:nvSpPr>
        <p:spPr>
          <a:xfrm>
            <a:off x="6870802" y="2834640"/>
            <a:ext cx="78638" cy="548640"/>
          </a:xfrm>
          <a:prstGeom prst="rect">
            <a:avLst/>
          </a:prstGeom>
          <a:solidFill>
            <a:srgbClr val="BBA800"/>
          </a:solidFill>
          <a:ln/>
        </p:spPr>
      </p:sp>
      <p:sp>
        <p:nvSpPr>
          <p:cNvPr id="17" name="Text 15"/>
          <p:cNvSpPr/>
          <p:nvPr/>
        </p:nvSpPr>
        <p:spPr>
          <a:xfrm>
            <a:off x="3017520" y="2880360"/>
            <a:ext cx="243779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0.62</a:t>
            </a:r>
            <a:endParaRPr lang="en-US" sz="1400" dirty="0"/>
          </a:p>
        </p:txBody>
      </p:sp>
      <p:sp>
        <p:nvSpPr>
          <p:cNvPr id="18" name="Text 16"/>
          <p:cNvSpPr/>
          <p:nvPr/>
        </p:nvSpPr>
        <p:spPr>
          <a:xfrm>
            <a:off x="3017520" y="3493008"/>
            <a:ext cx="393192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keeps a probability for every segment, never a hard label</a:t>
            </a:r>
            <a:endParaRPr lang="en-US" sz="1300" dirty="0"/>
          </a:p>
        </p:txBody>
      </p:sp>
      <p:sp>
        <p:nvSpPr>
          <p:cNvPr id="19" name="Text 17"/>
          <p:cNvSpPr/>
          <p:nvPr/>
        </p:nvSpPr>
        <p:spPr>
          <a:xfrm>
            <a:off x="3017520" y="2468880"/>
            <a:ext cx="3931920" cy="274320"/>
          </a:xfrm>
          <a:prstGeom prst="rect">
            <a:avLst/>
          </a:prstGeom>
          <a:noFill/>
          <a:ln/>
        </p:spPr>
        <p:txBody>
          <a:bodyPr wrap="square" lIns="0" tIns="0" rIns="0" bIns="0" rtlCol="0" anchor="ctr"/>
          <a:lstStyle/>
          <a:p>
            <a:pPr indent="0" marL="0">
              <a:buNone/>
            </a:pPr>
            <a:r>
              <a:rPr lang="en-US" sz="1300" b="1" dirty="0">
                <a:solidFill>
                  <a:srgbClr val="1F1F1F"/>
                </a:solidFill>
                <a:latin typeface="Calibri" pitchFamily="34" charset="0"/>
                <a:ea typeface="Calibri" pitchFamily="34" charset="-122"/>
                <a:cs typeface="Calibri" pitchFamily="34" charset="-120"/>
              </a:rPr>
              <a:t>Posterior</a:t>
            </a:r>
            <a:endParaRPr lang="en-US" sz="1300" dirty="0"/>
          </a:p>
        </p:txBody>
      </p:sp>
      <p:sp>
        <p:nvSpPr>
          <p:cNvPr id="20" name="Shape 18"/>
          <p:cNvSpPr/>
          <p:nvPr/>
        </p:nvSpPr>
        <p:spPr>
          <a:xfrm>
            <a:off x="7269480" y="2971800"/>
            <a:ext cx="548640" cy="292608"/>
          </a:xfrm>
          <a:prstGeom prst="rightArrow">
            <a:avLst/>
          </a:prstGeom>
          <a:solidFill>
            <a:srgbClr val="BFBFBF"/>
          </a:solidFill>
          <a:ln/>
        </p:spPr>
      </p:sp>
      <p:sp>
        <p:nvSpPr>
          <p:cNvPr id="21" name="Shape 19"/>
          <p:cNvSpPr/>
          <p:nvPr/>
        </p:nvSpPr>
        <p:spPr>
          <a:xfrm>
            <a:off x="8138160" y="2148840"/>
            <a:ext cx="3566160" cy="1325880"/>
          </a:xfrm>
          <a:prstGeom prst="roundRect">
            <a:avLst>
              <a:gd name="adj" fmla="val 3448"/>
            </a:avLst>
          </a:prstGeom>
          <a:solidFill>
            <a:srgbClr val="E8F3F2"/>
          </a:solidFill>
          <a:ln w="12700">
            <a:solidFill>
              <a:srgbClr val="E8F3F2"/>
            </a:solidFill>
            <a:prstDash val="solid"/>
          </a:ln>
        </p:spPr>
      </p:sp>
      <p:sp>
        <p:nvSpPr>
          <p:cNvPr id="22" name="Text 20"/>
          <p:cNvSpPr/>
          <p:nvPr/>
        </p:nvSpPr>
        <p:spPr>
          <a:xfrm>
            <a:off x="8366760" y="2286000"/>
            <a:ext cx="3108960" cy="292608"/>
          </a:xfrm>
          <a:prstGeom prst="rect">
            <a:avLst/>
          </a:prstGeom>
          <a:noFill/>
          <a:ln/>
        </p:spPr>
        <p:txBody>
          <a:bodyPr wrap="square" lIns="0" tIns="0" rIns="0" bIns="0" rtlCol="0" anchor="ctr"/>
          <a:lstStyle/>
          <a:p>
            <a:pPr indent="0" marL="0">
              <a:buNone/>
            </a:pPr>
            <a:r>
              <a:rPr lang="en-US" sz="1500" b="1" dirty="0">
                <a:solidFill>
                  <a:srgbClr val="21918C"/>
                </a:solidFill>
                <a:latin typeface="Calibri" pitchFamily="34" charset="0"/>
                <a:ea typeface="Calibri" pitchFamily="34" charset="-122"/>
                <a:cs typeface="Calibri" pitchFamily="34" charset="-120"/>
              </a:rPr>
              <a:t>Segment share</a:t>
            </a:r>
            <a:endParaRPr lang="en-US" sz="1500" dirty="0"/>
          </a:p>
        </p:txBody>
      </p:sp>
      <p:sp>
        <p:nvSpPr>
          <p:cNvPr id="23" name="Text 21"/>
          <p:cNvSpPr/>
          <p:nvPr/>
        </p:nvSpPr>
        <p:spPr>
          <a:xfrm>
            <a:off x="8366760" y="2624328"/>
            <a:ext cx="310896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how large each group is in the population, with an interval</a:t>
            </a:r>
            <a:endParaRPr lang="en-US" sz="1300" dirty="0"/>
          </a:p>
        </p:txBody>
      </p:sp>
      <p:sp>
        <p:nvSpPr>
          <p:cNvPr id="24" name="Shape 22"/>
          <p:cNvSpPr/>
          <p:nvPr/>
        </p:nvSpPr>
        <p:spPr>
          <a:xfrm>
            <a:off x="8138160" y="3749040"/>
            <a:ext cx="3566160" cy="1325880"/>
          </a:xfrm>
          <a:prstGeom prst="roundRect">
            <a:avLst>
              <a:gd name="adj" fmla="val 3448"/>
            </a:avLst>
          </a:prstGeom>
          <a:solidFill>
            <a:srgbClr val="F1EBF4"/>
          </a:solidFill>
          <a:ln w="12700">
            <a:solidFill>
              <a:srgbClr val="F1EBF4"/>
            </a:solidFill>
            <a:prstDash val="solid"/>
          </a:ln>
        </p:spPr>
      </p:sp>
      <p:sp>
        <p:nvSpPr>
          <p:cNvPr id="25" name="Text 23"/>
          <p:cNvSpPr/>
          <p:nvPr/>
        </p:nvSpPr>
        <p:spPr>
          <a:xfrm>
            <a:off x="8366760" y="3886200"/>
            <a:ext cx="3108960" cy="292608"/>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Response profile</a:t>
            </a:r>
            <a:endParaRPr lang="en-US" sz="1500" dirty="0"/>
          </a:p>
        </p:txBody>
      </p:sp>
      <p:sp>
        <p:nvSpPr>
          <p:cNvPr id="26" name="Text 24"/>
          <p:cNvSpPr/>
          <p:nvPr/>
        </p:nvSpPr>
        <p:spPr>
          <a:xfrm>
            <a:off x="8366760" y="4224528"/>
            <a:ext cx="310896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the answer pattern that defines each group</a:t>
            </a:r>
            <a:endParaRPr lang="en-US" sz="1300" dirty="0"/>
          </a:p>
        </p:txBody>
      </p:sp>
      <p:sp>
        <p:nvSpPr>
          <p:cNvPr id="27" name="Text 25"/>
          <p:cNvSpPr/>
          <p:nvPr/>
        </p:nvSpPr>
        <p:spPr>
          <a:xfrm>
            <a:off x="685800" y="58978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Both are estimates of the population, so both carry uncertainty we can quantify.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19</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A partition has no interval to give you</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PART THAT IS USUALLY SKIPPED</a:t>
            </a:r>
            <a:endParaRPr lang="en-US" sz="1000" dirty="0"/>
          </a:p>
        </p:txBody>
      </p:sp>
      <p:sp>
        <p:nvSpPr>
          <p:cNvPr id="9" name="Shape 7"/>
          <p:cNvSpPr/>
          <p:nvPr/>
        </p:nvSpPr>
        <p:spPr>
          <a:xfrm>
            <a:off x="685800" y="1554480"/>
            <a:ext cx="4206240" cy="3566160"/>
          </a:xfrm>
          <a:prstGeom prst="roundRect">
            <a:avLst>
              <a:gd name="adj" fmla="val 1282"/>
            </a:avLst>
          </a:prstGeom>
          <a:solidFill>
            <a:srgbClr val="FFFFFF"/>
          </a:solidFill>
          <a:ln w="12700">
            <a:solidFill>
              <a:srgbClr val="E4E4E4"/>
            </a:solidFill>
            <a:prstDash val="solid"/>
          </a:ln>
        </p:spPr>
      </p:sp>
      <p:sp>
        <p:nvSpPr>
          <p:cNvPr id="10" name="Text 8"/>
          <p:cNvSpPr/>
          <p:nvPr/>
        </p:nvSpPr>
        <p:spPr>
          <a:xfrm>
            <a:off x="960120" y="1737360"/>
            <a:ext cx="3657600" cy="274320"/>
          </a:xfrm>
          <a:prstGeom prst="rect">
            <a:avLst/>
          </a:prstGeom>
          <a:noFill/>
          <a:ln/>
        </p:spPr>
        <p:txBody>
          <a:bodyPr wrap="square" lIns="0" tIns="0" rIns="0" bIns="0" rtlCol="0" anchor="ctr"/>
          <a:lstStyle/>
          <a:p>
            <a:pPr indent="0" marL="0">
              <a:buNone/>
            </a:pPr>
            <a:r>
              <a:rPr lang="en-US" sz="1300" b="1" spc="100" kern="0" dirty="0">
                <a:solidFill>
                  <a:srgbClr val="440154"/>
                </a:solidFill>
                <a:latin typeface="Calibri" pitchFamily="34" charset="0"/>
                <a:ea typeface="Calibri" pitchFamily="34" charset="-122"/>
                <a:cs typeface="Calibri" pitchFamily="34" charset="-120"/>
              </a:rPr>
              <a:t>THE SAMPLE</a:t>
            </a:r>
            <a:endParaRPr lang="en-US" sz="1300" dirty="0"/>
          </a:p>
        </p:txBody>
      </p:sp>
      <p:sp>
        <p:nvSpPr>
          <p:cNvPr id="11" name="Text 9"/>
          <p:cNvSpPr/>
          <p:nvPr/>
        </p:nvSpPr>
        <p:spPr>
          <a:xfrm>
            <a:off x="960120" y="2011680"/>
            <a:ext cx="3657600" cy="256032"/>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icon size = survey weight</a:t>
            </a:r>
            <a:endParaRPr lang="en-US" sz="1200" dirty="0"/>
          </a:p>
        </p:txBody>
      </p:sp>
      <p:sp>
        <p:nvSpPr>
          <p:cNvPr id="12" name="Shape 10"/>
          <p:cNvSpPr/>
          <p:nvPr/>
        </p:nvSpPr>
        <p:spPr>
          <a:xfrm>
            <a:off x="1411834" y="2450592"/>
            <a:ext cx="285293" cy="285293"/>
          </a:xfrm>
          <a:prstGeom prst="ellipse">
            <a:avLst/>
          </a:prstGeom>
          <a:solidFill>
            <a:srgbClr val="B4B4B4"/>
          </a:solidFill>
          <a:ln w="12700">
            <a:solidFill>
              <a:srgbClr val="B4B4B4"/>
            </a:solidFill>
            <a:prstDash val="solid"/>
          </a:ln>
        </p:spPr>
      </p:sp>
      <p:sp>
        <p:nvSpPr>
          <p:cNvPr id="13" name="Shape 11"/>
          <p:cNvSpPr/>
          <p:nvPr/>
        </p:nvSpPr>
        <p:spPr>
          <a:xfrm>
            <a:off x="1352398" y="2664562"/>
            <a:ext cx="404165" cy="523037"/>
          </a:xfrm>
          <a:prstGeom prst="roundRect">
            <a:avLst>
              <a:gd name="adj" fmla="val 36199"/>
            </a:avLst>
          </a:prstGeom>
          <a:solidFill>
            <a:srgbClr val="B4B4B4"/>
          </a:solidFill>
          <a:ln w="12700">
            <a:solidFill>
              <a:srgbClr val="B4B4B4"/>
            </a:solidFill>
            <a:prstDash val="solid"/>
          </a:ln>
        </p:spPr>
      </p:sp>
      <p:sp>
        <p:nvSpPr>
          <p:cNvPr id="14" name="Shape 12"/>
          <p:cNvSpPr/>
          <p:nvPr/>
        </p:nvSpPr>
        <p:spPr>
          <a:xfrm>
            <a:off x="2335378" y="2633472"/>
            <a:ext cx="175565" cy="175565"/>
          </a:xfrm>
          <a:prstGeom prst="ellipse">
            <a:avLst/>
          </a:prstGeom>
          <a:solidFill>
            <a:srgbClr val="B4B4B4"/>
          </a:solidFill>
          <a:ln w="12700">
            <a:solidFill>
              <a:srgbClr val="B4B4B4"/>
            </a:solidFill>
            <a:prstDash val="solid"/>
          </a:ln>
        </p:spPr>
      </p:sp>
      <p:sp>
        <p:nvSpPr>
          <p:cNvPr id="15" name="Shape 13"/>
          <p:cNvSpPr/>
          <p:nvPr/>
        </p:nvSpPr>
        <p:spPr>
          <a:xfrm>
            <a:off x="2298802" y="2765146"/>
            <a:ext cx="248717" cy="321869"/>
          </a:xfrm>
          <a:prstGeom prst="roundRect">
            <a:avLst>
              <a:gd name="adj" fmla="val 58823"/>
            </a:avLst>
          </a:prstGeom>
          <a:solidFill>
            <a:srgbClr val="B4B4B4"/>
          </a:solidFill>
          <a:ln w="12700">
            <a:solidFill>
              <a:srgbClr val="B4B4B4"/>
            </a:solidFill>
            <a:prstDash val="solid"/>
          </a:ln>
        </p:spPr>
      </p:sp>
      <p:sp>
        <p:nvSpPr>
          <p:cNvPr id="16" name="Shape 14"/>
          <p:cNvSpPr/>
          <p:nvPr/>
        </p:nvSpPr>
        <p:spPr>
          <a:xfrm>
            <a:off x="3171139" y="2523744"/>
            <a:ext cx="241402" cy="241402"/>
          </a:xfrm>
          <a:prstGeom prst="ellipse">
            <a:avLst/>
          </a:prstGeom>
          <a:solidFill>
            <a:srgbClr val="B4B4B4"/>
          </a:solidFill>
          <a:ln w="12700">
            <a:solidFill>
              <a:srgbClr val="B4B4B4"/>
            </a:solidFill>
            <a:prstDash val="solid"/>
          </a:ln>
        </p:spPr>
      </p:sp>
      <p:sp>
        <p:nvSpPr>
          <p:cNvPr id="17" name="Shape 15"/>
          <p:cNvSpPr/>
          <p:nvPr/>
        </p:nvSpPr>
        <p:spPr>
          <a:xfrm>
            <a:off x="3120847" y="2704795"/>
            <a:ext cx="341986" cy="442570"/>
          </a:xfrm>
          <a:prstGeom prst="roundRect">
            <a:avLst>
              <a:gd name="adj" fmla="val 42781"/>
            </a:avLst>
          </a:prstGeom>
          <a:solidFill>
            <a:srgbClr val="B4B4B4"/>
          </a:solidFill>
          <a:ln w="12700">
            <a:solidFill>
              <a:srgbClr val="B4B4B4"/>
            </a:solidFill>
            <a:prstDash val="solid"/>
          </a:ln>
        </p:spPr>
      </p:sp>
      <p:sp>
        <p:nvSpPr>
          <p:cNvPr id="18" name="Shape 16"/>
          <p:cNvSpPr/>
          <p:nvPr/>
        </p:nvSpPr>
        <p:spPr>
          <a:xfrm>
            <a:off x="4083710" y="2670048"/>
            <a:ext cx="153619" cy="153619"/>
          </a:xfrm>
          <a:prstGeom prst="ellipse">
            <a:avLst/>
          </a:prstGeom>
          <a:solidFill>
            <a:srgbClr val="B4B4B4"/>
          </a:solidFill>
          <a:ln w="12700">
            <a:solidFill>
              <a:srgbClr val="B4B4B4"/>
            </a:solidFill>
            <a:prstDash val="solid"/>
          </a:ln>
        </p:spPr>
      </p:sp>
      <p:sp>
        <p:nvSpPr>
          <p:cNvPr id="19" name="Shape 17"/>
          <p:cNvSpPr/>
          <p:nvPr/>
        </p:nvSpPr>
        <p:spPr>
          <a:xfrm>
            <a:off x="4051706" y="2785262"/>
            <a:ext cx="217627" cy="281635"/>
          </a:xfrm>
          <a:prstGeom prst="roundRect">
            <a:avLst>
              <a:gd name="adj" fmla="val 67227"/>
            </a:avLst>
          </a:prstGeom>
          <a:solidFill>
            <a:srgbClr val="B4B4B4"/>
          </a:solidFill>
          <a:ln w="12700">
            <a:solidFill>
              <a:srgbClr val="B4B4B4"/>
            </a:solidFill>
            <a:prstDash val="solid"/>
          </a:ln>
        </p:spPr>
      </p:sp>
      <p:sp>
        <p:nvSpPr>
          <p:cNvPr id="20" name="Shape 18"/>
          <p:cNvSpPr/>
          <p:nvPr/>
        </p:nvSpPr>
        <p:spPr>
          <a:xfrm>
            <a:off x="1461211" y="3456432"/>
            <a:ext cx="186538" cy="186538"/>
          </a:xfrm>
          <a:prstGeom prst="ellipse">
            <a:avLst/>
          </a:prstGeom>
          <a:solidFill>
            <a:srgbClr val="B4B4B4"/>
          </a:solidFill>
          <a:ln w="12700">
            <a:solidFill>
              <a:srgbClr val="B4B4B4"/>
            </a:solidFill>
            <a:prstDash val="solid"/>
          </a:ln>
        </p:spPr>
      </p:sp>
      <p:sp>
        <p:nvSpPr>
          <p:cNvPr id="21" name="Shape 19"/>
          <p:cNvSpPr/>
          <p:nvPr/>
        </p:nvSpPr>
        <p:spPr>
          <a:xfrm>
            <a:off x="1422349" y="3596335"/>
            <a:ext cx="264262" cy="341986"/>
          </a:xfrm>
          <a:prstGeom prst="roundRect">
            <a:avLst>
              <a:gd name="adj" fmla="val 55363"/>
            </a:avLst>
          </a:prstGeom>
          <a:solidFill>
            <a:srgbClr val="B4B4B4"/>
          </a:solidFill>
          <a:ln w="12700">
            <a:solidFill>
              <a:srgbClr val="B4B4B4"/>
            </a:solidFill>
            <a:prstDash val="solid"/>
          </a:ln>
        </p:spPr>
      </p:sp>
      <p:sp>
        <p:nvSpPr>
          <p:cNvPr id="22" name="Shape 20"/>
          <p:cNvSpPr/>
          <p:nvPr/>
        </p:nvSpPr>
        <p:spPr>
          <a:xfrm>
            <a:off x="2275027" y="3273552"/>
            <a:ext cx="296266" cy="296266"/>
          </a:xfrm>
          <a:prstGeom prst="ellipse">
            <a:avLst/>
          </a:prstGeom>
          <a:solidFill>
            <a:srgbClr val="B4B4B4"/>
          </a:solidFill>
          <a:ln w="12700">
            <a:solidFill>
              <a:srgbClr val="B4B4B4"/>
            </a:solidFill>
            <a:prstDash val="solid"/>
          </a:ln>
        </p:spPr>
      </p:sp>
      <p:sp>
        <p:nvSpPr>
          <p:cNvPr id="23" name="Shape 21"/>
          <p:cNvSpPr/>
          <p:nvPr/>
        </p:nvSpPr>
        <p:spPr>
          <a:xfrm>
            <a:off x="2213305" y="3495751"/>
            <a:ext cx="419710" cy="543154"/>
          </a:xfrm>
          <a:prstGeom prst="roundRect">
            <a:avLst>
              <a:gd name="adj" fmla="val 34858"/>
            </a:avLst>
          </a:prstGeom>
          <a:solidFill>
            <a:srgbClr val="B4B4B4"/>
          </a:solidFill>
          <a:ln w="12700">
            <a:solidFill>
              <a:srgbClr val="B4B4B4"/>
            </a:solidFill>
            <a:prstDash val="solid"/>
          </a:ln>
        </p:spPr>
      </p:sp>
      <p:sp>
        <p:nvSpPr>
          <p:cNvPr id="24" name="Shape 22"/>
          <p:cNvSpPr/>
          <p:nvPr/>
        </p:nvSpPr>
        <p:spPr>
          <a:xfrm>
            <a:off x="3187598" y="3419856"/>
            <a:ext cx="208483" cy="208483"/>
          </a:xfrm>
          <a:prstGeom prst="ellipse">
            <a:avLst/>
          </a:prstGeom>
          <a:solidFill>
            <a:srgbClr val="B4B4B4"/>
          </a:solidFill>
          <a:ln w="12700">
            <a:solidFill>
              <a:srgbClr val="B4B4B4"/>
            </a:solidFill>
            <a:prstDash val="solid"/>
          </a:ln>
        </p:spPr>
      </p:sp>
      <p:sp>
        <p:nvSpPr>
          <p:cNvPr id="25" name="Shape 23"/>
          <p:cNvSpPr/>
          <p:nvPr/>
        </p:nvSpPr>
        <p:spPr>
          <a:xfrm>
            <a:off x="3144164" y="3576218"/>
            <a:ext cx="295351" cy="382219"/>
          </a:xfrm>
          <a:prstGeom prst="roundRect">
            <a:avLst>
              <a:gd name="adj" fmla="val 49536"/>
            </a:avLst>
          </a:prstGeom>
          <a:solidFill>
            <a:srgbClr val="B4B4B4"/>
          </a:solidFill>
          <a:ln w="12700">
            <a:solidFill>
              <a:srgbClr val="B4B4B4"/>
            </a:solidFill>
            <a:prstDash val="solid"/>
          </a:ln>
        </p:spPr>
      </p:sp>
      <p:sp>
        <p:nvSpPr>
          <p:cNvPr id="26" name="Shape 24"/>
          <p:cNvSpPr/>
          <p:nvPr/>
        </p:nvSpPr>
        <p:spPr>
          <a:xfrm>
            <a:off x="4028846" y="3328416"/>
            <a:ext cx="263347" cy="263347"/>
          </a:xfrm>
          <a:prstGeom prst="ellipse">
            <a:avLst/>
          </a:prstGeom>
          <a:solidFill>
            <a:srgbClr val="B4B4B4"/>
          </a:solidFill>
          <a:ln w="12700">
            <a:solidFill>
              <a:srgbClr val="B4B4B4"/>
            </a:solidFill>
            <a:prstDash val="solid"/>
          </a:ln>
        </p:spPr>
      </p:sp>
      <p:sp>
        <p:nvSpPr>
          <p:cNvPr id="27" name="Shape 25"/>
          <p:cNvSpPr/>
          <p:nvPr/>
        </p:nvSpPr>
        <p:spPr>
          <a:xfrm>
            <a:off x="3973982" y="3525926"/>
            <a:ext cx="373075" cy="482803"/>
          </a:xfrm>
          <a:prstGeom prst="roundRect">
            <a:avLst>
              <a:gd name="adj" fmla="val 39216"/>
            </a:avLst>
          </a:prstGeom>
          <a:solidFill>
            <a:srgbClr val="B4B4B4"/>
          </a:solidFill>
          <a:ln w="12700">
            <a:solidFill>
              <a:srgbClr val="B4B4B4"/>
            </a:solidFill>
            <a:prstDash val="solid"/>
          </a:ln>
        </p:spPr>
      </p:sp>
      <p:sp>
        <p:nvSpPr>
          <p:cNvPr id="28" name="Shape 26"/>
          <p:cNvSpPr/>
          <p:nvPr/>
        </p:nvSpPr>
        <p:spPr>
          <a:xfrm>
            <a:off x="1428293" y="4187952"/>
            <a:ext cx="252374" cy="252374"/>
          </a:xfrm>
          <a:prstGeom prst="ellipse">
            <a:avLst/>
          </a:prstGeom>
          <a:solidFill>
            <a:srgbClr val="B4B4B4"/>
          </a:solidFill>
          <a:ln w="12700">
            <a:solidFill>
              <a:srgbClr val="B4B4B4"/>
            </a:solidFill>
            <a:prstDash val="solid"/>
          </a:ln>
        </p:spPr>
      </p:sp>
      <p:sp>
        <p:nvSpPr>
          <p:cNvPr id="29" name="Shape 27"/>
          <p:cNvSpPr/>
          <p:nvPr/>
        </p:nvSpPr>
        <p:spPr>
          <a:xfrm>
            <a:off x="1375715" y="4377233"/>
            <a:ext cx="357530" cy="462686"/>
          </a:xfrm>
          <a:prstGeom prst="roundRect">
            <a:avLst>
              <a:gd name="adj" fmla="val 40921"/>
            </a:avLst>
          </a:prstGeom>
          <a:solidFill>
            <a:srgbClr val="B4B4B4"/>
          </a:solidFill>
          <a:ln w="12700">
            <a:solidFill>
              <a:srgbClr val="B4B4B4"/>
            </a:solidFill>
            <a:prstDash val="solid"/>
          </a:ln>
        </p:spPr>
      </p:sp>
      <p:sp>
        <p:nvSpPr>
          <p:cNvPr id="30" name="Shape 28"/>
          <p:cNvSpPr/>
          <p:nvPr/>
        </p:nvSpPr>
        <p:spPr>
          <a:xfrm>
            <a:off x="2340864" y="4334256"/>
            <a:ext cx="164592" cy="164592"/>
          </a:xfrm>
          <a:prstGeom prst="ellipse">
            <a:avLst/>
          </a:prstGeom>
          <a:solidFill>
            <a:srgbClr val="B4B4B4"/>
          </a:solidFill>
          <a:ln w="12700">
            <a:solidFill>
              <a:srgbClr val="B4B4B4"/>
            </a:solidFill>
            <a:prstDash val="solid"/>
          </a:ln>
        </p:spPr>
      </p:sp>
      <p:sp>
        <p:nvSpPr>
          <p:cNvPr id="31" name="Shape 29"/>
          <p:cNvSpPr/>
          <p:nvPr/>
        </p:nvSpPr>
        <p:spPr>
          <a:xfrm>
            <a:off x="2306574" y="4457700"/>
            <a:ext cx="233172" cy="301752"/>
          </a:xfrm>
          <a:prstGeom prst="roundRect">
            <a:avLst>
              <a:gd name="adj" fmla="val 62745"/>
            </a:avLst>
          </a:prstGeom>
          <a:solidFill>
            <a:srgbClr val="B4B4B4"/>
          </a:solidFill>
          <a:ln w="12700">
            <a:solidFill>
              <a:srgbClr val="B4B4B4"/>
            </a:solidFill>
            <a:prstDash val="solid"/>
          </a:ln>
        </p:spPr>
      </p:sp>
      <p:sp>
        <p:nvSpPr>
          <p:cNvPr id="32" name="Shape 30"/>
          <p:cNvSpPr/>
          <p:nvPr/>
        </p:nvSpPr>
        <p:spPr>
          <a:xfrm>
            <a:off x="3138221" y="4096512"/>
            <a:ext cx="307238" cy="307238"/>
          </a:xfrm>
          <a:prstGeom prst="ellipse">
            <a:avLst/>
          </a:prstGeom>
          <a:solidFill>
            <a:srgbClr val="B4B4B4"/>
          </a:solidFill>
          <a:ln w="12700">
            <a:solidFill>
              <a:srgbClr val="B4B4B4"/>
            </a:solidFill>
            <a:prstDash val="solid"/>
          </a:ln>
        </p:spPr>
      </p:sp>
      <p:sp>
        <p:nvSpPr>
          <p:cNvPr id="33" name="Shape 31"/>
          <p:cNvSpPr/>
          <p:nvPr/>
        </p:nvSpPr>
        <p:spPr>
          <a:xfrm>
            <a:off x="3074213" y="4326941"/>
            <a:ext cx="435254" cy="563270"/>
          </a:xfrm>
          <a:prstGeom prst="roundRect">
            <a:avLst>
              <a:gd name="adj" fmla="val 33613"/>
            </a:avLst>
          </a:prstGeom>
          <a:solidFill>
            <a:srgbClr val="B4B4B4"/>
          </a:solidFill>
          <a:ln w="12700">
            <a:solidFill>
              <a:srgbClr val="B4B4B4"/>
            </a:solidFill>
            <a:prstDash val="solid"/>
          </a:ln>
        </p:spPr>
      </p:sp>
      <p:sp>
        <p:nvSpPr>
          <p:cNvPr id="34" name="Shape 32"/>
          <p:cNvSpPr/>
          <p:nvPr/>
        </p:nvSpPr>
        <p:spPr>
          <a:xfrm>
            <a:off x="4061765" y="4279392"/>
            <a:ext cx="197510" cy="197510"/>
          </a:xfrm>
          <a:prstGeom prst="ellipse">
            <a:avLst/>
          </a:prstGeom>
          <a:solidFill>
            <a:srgbClr val="B4B4B4"/>
          </a:solidFill>
          <a:ln w="12700">
            <a:solidFill>
              <a:srgbClr val="B4B4B4"/>
            </a:solidFill>
            <a:prstDash val="solid"/>
          </a:ln>
        </p:spPr>
      </p:sp>
      <p:sp>
        <p:nvSpPr>
          <p:cNvPr id="35" name="Shape 33"/>
          <p:cNvSpPr/>
          <p:nvPr/>
        </p:nvSpPr>
        <p:spPr>
          <a:xfrm>
            <a:off x="4020617" y="4427525"/>
            <a:ext cx="279806" cy="362102"/>
          </a:xfrm>
          <a:prstGeom prst="roundRect">
            <a:avLst>
              <a:gd name="adj" fmla="val 52288"/>
            </a:avLst>
          </a:prstGeom>
          <a:solidFill>
            <a:srgbClr val="B4B4B4"/>
          </a:solidFill>
          <a:ln w="12700">
            <a:solidFill>
              <a:srgbClr val="B4B4B4"/>
            </a:solidFill>
            <a:prstDash val="solid"/>
          </a:ln>
        </p:spPr>
      </p:sp>
      <p:sp>
        <p:nvSpPr>
          <p:cNvPr id="36" name="Text 34"/>
          <p:cNvSpPr/>
          <p:nvPr/>
        </p:nvSpPr>
        <p:spPr>
          <a:xfrm>
            <a:off x="5212080" y="2743200"/>
            <a:ext cx="1828800" cy="640080"/>
          </a:xfrm>
          <a:prstGeom prst="rect">
            <a:avLst/>
          </a:prstGeom>
          <a:noFill/>
          <a:ln/>
        </p:spPr>
        <p:txBody>
          <a:bodyPr wrap="square" lIns="0" tIns="0" rIns="0" bIns="0" rtlCol="0" anchor="ctr"/>
          <a:lstStyle/>
          <a:p>
            <a:pPr algn="ctr" indent="0" marL="0">
              <a:buNone/>
            </a:pPr>
            <a:r>
              <a:rPr lang="en-US" sz="1300" b="1" dirty="0">
                <a:solidFill>
                  <a:srgbClr val="21918C"/>
                </a:solidFill>
                <a:latin typeface="Calibri" pitchFamily="34" charset="0"/>
                <a:ea typeface="Calibri" pitchFamily="34" charset="-122"/>
                <a:cs typeface="Calibri" pitchFamily="34" charset="-120"/>
              </a:rPr>
              <a:t>design-weighted</a:t>
            </a:r>
            <a:endParaRPr lang="en-US" sz="1300" dirty="0"/>
          </a:p>
          <a:p>
            <a:pPr algn="ctr" indent="0" marL="0">
              <a:buNone/>
            </a:pPr>
            <a:r>
              <a:rPr lang="en-US" sz="1300" b="1" dirty="0">
                <a:solidFill>
                  <a:srgbClr val="21918C"/>
                </a:solidFill>
                <a:latin typeface="Calibri" pitchFamily="34" charset="0"/>
                <a:ea typeface="Calibri" pitchFamily="34" charset="-122"/>
                <a:cs typeface="Calibri" pitchFamily="34" charset="-120"/>
              </a:rPr>
              <a:t>latent class model</a:t>
            </a:r>
            <a:endParaRPr lang="en-US" sz="1300" dirty="0"/>
          </a:p>
        </p:txBody>
      </p:sp>
      <p:sp>
        <p:nvSpPr>
          <p:cNvPr id="37" name="Shape 35"/>
          <p:cNvSpPr/>
          <p:nvPr/>
        </p:nvSpPr>
        <p:spPr>
          <a:xfrm>
            <a:off x="5532120" y="3474720"/>
            <a:ext cx="1188720" cy="256032"/>
          </a:xfrm>
          <a:prstGeom prst="rightArrow">
            <a:avLst/>
          </a:prstGeom>
          <a:solidFill>
            <a:srgbClr val="21918C"/>
          </a:solidFill>
          <a:ln/>
        </p:spPr>
      </p:sp>
      <p:sp>
        <p:nvSpPr>
          <p:cNvPr id="38" name="Text 36"/>
          <p:cNvSpPr/>
          <p:nvPr/>
        </p:nvSpPr>
        <p:spPr>
          <a:xfrm>
            <a:off x="5120640" y="3840480"/>
            <a:ext cx="2011680" cy="64008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weights in the likelihood</a:t>
            </a:r>
            <a:endParaRPr lang="en-US" sz="1100" dirty="0"/>
          </a:p>
          <a:p>
            <a:pPr algn="ctr" indent="0" marL="0">
              <a:buNone/>
            </a:pPr>
            <a:r>
              <a:rPr lang="en-US" sz="1100" dirty="0">
                <a:solidFill>
                  <a:srgbClr val="6B6B6B"/>
                </a:solidFill>
                <a:latin typeface="Calibri" pitchFamily="34" charset="0"/>
                <a:ea typeface="Calibri" pitchFamily="34" charset="-122"/>
                <a:cs typeface="Calibri" pitchFamily="34" charset="-120"/>
              </a:rPr>
              <a:t>strata and PSUs in the variance</a:t>
            </a:r>
            <a:endParaRPr lang="en-US" sz="1100" dirty="0"/>
          </a:p>
        </p:txBody>
      </p:sp>
      <p:sp>
        <p:nvSpPr>
          <p:cNvPr id="39" name="Shape 37"/>
          <p:cNvSpPr/>
          <p:nvPr/>
        </p:nvSpPr>
        <p:spPr>
          <a:xfrm>
            <a:off x="7269480" y="1554480"/>
            <a:ext cx="4206240" cy="3566160"/>
          </a:xfrm>
          <a:prstGeom prst="roundRect">
            <a:avLst>
              <a:gd name="adj" fmla="val 1282"/>
            </a:avLst>
          </a:prstGeom>
          <a:solidFill>
            <a:srgbClr val="FFFFFF"/>
          </a:solidFill>
          <a:ln w="12700">
            <a:solidFill>
              <a:srgbClr val="E4E4E4"/>
            </a:solidFill>
            <a:prstDash val="solid"/>
          </a:ln>
        </p:spPr>
      </p:sp>
      <p:sp>
        <p:nvSpPr>
          <p:cNvPr id="40" name="Text 38"/>
          <p:cNvSpPr/>
          <p:nvPr/>
        </p:nvSpPr>
        <p:spPr>
          <a:xfrm>
            <a:off x="7543800" y="1737360"/>
            <a:ext cx="3657600" cy="274320"/>
          </a:xfrm>
          <a:prstGeom prst="rect">
            <a:avLst/>
          </a:prstGeom>
          <a:noFill/>
          <a:ln/>
        </p:spPr>
        <p:txBody>
          <a:bodyPr wrap="square" lIns="0" tIns="0" rIns="0" bIns="0" rtlCol="0" anchor="ctr"/>
          <a:lstStyle/>
          <a:p>
            <a:pPr indent="0" marL="0">
              <a:buNone/>
            </a:pPr>
            <a:r>
              <a:rPr lang="en-US" sz="1300" b="1" spc="100" kern="0" dirty="0">
                <a:solidFill>
                  <a:srgbClr val="440154"/>
                </a:solidFill>
                <a:latin typeface="Calibri" pitchFamily="34" charset="0"/>
                <a:ea typeface="Calibri" pitchFamily="34" charset="-122"/>
                <a:cs typeface="Calibri" pitchFamily="34" charset="-120"/>
              </a:rPr>
              <a:t>THE POPULATION</a:t>
            </a:r>
            <a:endParaRPr lang="en-US" sz="1300" dirty="0"/>
          </a:p>
        </p:txBody>
      </p:sp>
      <p:sp>
        <p:nvSpPr>
          <p:cNvPr id="41" name="Text 39"/>
          <p:cNvSpPr/>
          <p:nvPr/>
        </p:nvSpPr>
        <p:spPr>
          <a:xfrm>
            <a:off x="7543800" y="2249424"/>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1</a:t>
            </a:r>
            <a:endParaRPr lang="en-US" sz="1100" dirty="0"/>
          </a:p>
        </p:txBody>
      </p:sp>
      <p:sp>
        <p:nvSpPr>
          <p:cNvPr id="42" name="Shape 40"/>
          <p:cNvSpPr/>
          <p:nvPr/>
        </p:nvSpPr>
        <p:spPr>
          <a:xfrm>
            <a:off x="8549640" y="2304288"/>
            <a:ext cx="2231136" cy="219456"/>
          </a:xfrm>
          <a:prstGeom prst="roundRect">
            <a:avLst>
              <a:gd name="adj" fmla="val 41667"/>
            </a:avLst>
          </a:prstGeom>
          <a:solidFill>
            <a:srgbClr val="440154"/>
          </a:solidFill>
          <a:ln w="12700">
            <a:solidFill>
              <a:srgbClr val="440154"/>
            </a:solidFill>
            <a:prstDash val="solid"/>
          </a:ln>
        </p:spPr>
      </p:sp>
      <p:sp>
        <p:nvSpPr>
          <p:cNvPr id="43" name="Shape 41"/>
          <p:cNvSpPr/>
          <p:nvPr/>
        </p:nvSpPr>
        <p:spPr>
          <a:xfrm>
            <a:off x="10539374" y="2414016"/>
            <a:ext cx="482803" cy="10973"/>
          </a:xfrm>
          <a:prstGeom prst="rect">
            <a:avLst/>
          </a:prstGeom>
          <a:solidFill>
            <a:srgbClr val="8C8C8C"/>
          </a:solidFill>
          <a:ln w="12700">
            <a:solidFill>
              <a:srgbClr val="8C8C8C"/>
            </a:solidFill>
            <a:prstDash val="solid"/>
          </a:ln>
        </p:spPr>
      </p:sp>
      <p:sp>
        <p:nvSpPr>
          <p:cNvPr id="44" name="Shape 42"/>
          <p:cNvSpPr/>
          <p:nvPr/>
        </p:nvSpPr>
        <p:spPr>
          <a:xfrm>
            <a:off x="10539374" y="2340864"/>
            <a:ext cx="10973" cy="146304"/>
          </a:xfrm>
          <a:prstGeom prst="rect">
            <a:avLst/>
          </a:prstGeom>
          <a:solidFill>
            <a:srgbClr val="8C8C8C"/>
          </a:solidFill>
          <a:ln w="12700">
            <a:solidFill>
              <a:srgbClr val="8C8C8C"/>
            </a:solidFill>
            <a:prstDash val="solid"/>
          </a:ln>
        </p:spPr>
      </p:sp>
      <p:sp>
        <p:nvSpPr>
          <p:cNvPr id="45" name="Shape 43"/>
          <p:cNvSpPr/>
          <p:nvPr/>
        </p:nvSpPr>
        <p:spPr>
          <a:xfrm>
            <a:off x="11022178" y="2340864"/>
            <a:ext cx="10973" cy="146304"/>
          </a:xfrm>
          <a:prstGeom prst="rect">
            <a:avLst/>
          </a:prstGeom>
          <a:solidFill>
            <a:srgbClr val="8C8C8C"/>
          </a:solidFill>
          <a:ln w="12700">
            <a:solidFill>
              <a:srgbClr val="8C8C8C"/>
            </a:solidFill>
            <a:prstDash val="solid"/>
          </a:ln>
        </p:spPr>
      </p:sp>
      <p:sp>
        <p:nvSpPr>
          <p:cNvPr id="46" name="Text 44"/>
          <p:cNvSpPr/>
          <p:nvPr/>
        </p:nvSpPr>
        <p:spPr>
          <a:xfrm>
            <a:off x="7543800" y="2761488"/>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2</a:t>
            </a:r>
            <a:endParaRPr lang="en-US" sz="1100" dirty="0"/>
          </a:p>
        </p:txBody>
      </p:sp>
      <p:sp>
        <p:nvSpPr>
          <p:cNvPr id="47" name="Shape 45"/>
          <p:cNvSpPr/>
          <p:nvPr/>
        </p:nvSpPr>
        <p:spPr>
          <a:xfrm>
            <a:off x="8549640" y="2816352"/>
            <a:ext cx="1719072" cy="219456"/>
          </a:xfrm>
          <a:prstGeom prst="roundRect">
            <a:avLst>
              <a:gd name="adj" fmla="val 41667"/>
            </a:avLst>
          </a:prstGeom>
          <a:solidFill>
            <a:srgbClr val="3B528B"/>
          </a:solidFill>
          <a:ln w="12700">
            <a:solidFill>
              <a:srgbClr val="3B528B"/>
            </a:solidFill>
            <a:prstDash val="solid"/>
          </a:ln>
        </p:spPr>
      </p:sp>
      <p:sp>
        <p:nvSpPr>
          <p:cNvPr id="48" name="Shape 46"/>
          <p:cNvSpPr/>
          <p:nvPr/>
        </p:nvSpPr>
        <p:spPr>
          <a:xfrm>
            <a:off x="10049256" y="2926080"/>
            <a:ext cx="438912" cy="10973"/>
          </a:xfrm>
          <a:prstGeom prst="rect">
            <a:avLst/>
          </a:prstGeom>
          <a:solidFill>
            <a:srgbClr val="8C8C8C"/>
          </a:solidFill>
          <a:ln w="12700">
            <a:solidFill>
              <a:srgbClr val="8C8C8C"/>
            </a:solidFill>
            <a:prstDash val="solid"/>
          </a:ln>
        </p:spPr>
      </p:sp>
      <p:sp>
        <p:nvSpPr>
          <p:cNvPr id="49" name="Shape 47"/>
          <p:cNvSpPr/>
          <p:nvPr/>
        </p:nvSpPr>
        <p:spPr>
          <a:xfrm>
            <a:off x="10049256" y="2852928"/>
            <a:ext cx="10973" cy="146304"/>
          </a:xfrm>
          <a:prstGeom prst="rect">
            <a:avLst/>
          </a:prstGeom>
          <a:solidFill>
            <a:srgbClr val="8C8C8C"/>
          </a:solidFill>
          <a:ln w="12700">
            <a:solidFill>
              <a:srgbClr val="8C8C8C"/>
            </a:solidFill>
            <a:prstDash val="solid"/>
          </a:ln>
        </p:spPr>
      </p:sp>
      <p:sp>
        <p:nvSpPr>
          <p:cNvPr id="50" name="Shape 48"/>
          <p:cNvSpPr/>
          <p:nvPr/>
        </p:nvSpPr>
        <p:spPr>
          <a:xfrm>
            <a:off x="10488168" y="2852928"/>
            <a:ext cx="10973" cy="146304"/>
          </a:xfrm>
          <a:prstGeom prst="rect">
            <a:avLst/>
          </a:prstGeom>
          <a:solidFill>
            <a:srgbClr val="8C8C8C"/>
          </a:solidFill>
          <a:ln w="12700">
            <a:solidFill>
              <a:srgbClr val="8C8C8C"/>
            </a:solidFill>
            <a:prstDash val="solid"/>
          </a:ln>
        </p:spPr>
      </p:sp>
      <p:sp>
        <p:nvSpPr>
          <p:cNvPr id="51" name="Text 49"/>
          <p:cNvSpPr/>
          <p:nvPr/>
        </p:nvSpPr>
        <p:spPr>
          <a:xfrm>
            <a:off x="7543800" y="3273552"/>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3</a:t>
            </a:r>
            <a:endParaRPr lang="en-US" sz="1100" dirty="0"/>
          </a:p>
        </p:txBody>
      </p:sp>
      <p:sp>
        <p:nvSpPr>
          <p:cNvPr id="52" name="Shape 50"/>
          <p:cNvSpPr/>
          <p:nvPr/>
        </p:nvSpPr>
        <p:spPr>
          <a:xfrm>
            <a:off x="8549640" y="3328416"/>
            <a:ext cx="1316736" cy="219456"/>
          </a:xfrm>
          <a:prstGeom prst="roundRect">
            <a:avLst>
              <a:gd name="adj" fmla="val 41667"/>
            </a:avLst>
          </a:prstGeom>
          <a:solidFill>
            <a:srgbClr val="21918C"/>
          </a:solidFill>
          <a:ln w="12700">
            <a:solidFill>
              <a:srgbClr val="21918C"/>
            </a:solidFill>
            <a:prstDash val="solid"/>
          </a:ln>
        </p:spPr>
      </p:sp>
      <p:sp>
        <p:nvSpPr>
          <p:cNvPr id="53" name="Shape 51"/>
          <p:cNvSpPr/>
          <p:nvPr/>
        </p:nvSpPr>
        <p:spPr>
          <a:xfrm>
            <a:off x="9661550" y="3438144"/>
            <a:ext cx="409651" cy="10973"/>
          </a:xfrm>
          <a:prstGeom prst="rect">
            <a:avLst/>
          </a:prstGeom>
          <a:solidFill>
            <a:srgbClr val="8C8C8C"/>
          </a:solidFill>
          <a:ln w="12700">
            <a:solidFill>
              <a:srgbClr val="8C8C8C"/>
            </a:solidFill>
            <a:prstDash val="solid"/>
          </a:ln>
        </p:spPr>
      </p:sp>
      <p:sp>
        <p:nvSpPr>
          <p:cNvPr id="54" name="Shape 52"/>
          <p:cNvSpPr/>
          <p:nvPr/>
        </p:nvSpPr>
        <p:spPr>
          <a:xfrm>
            <a:off x="9661550" y="3364992"/>
            <a:ext cx="10973" cy="146304"/>
          </a:xfrm>
          <a:prstGeom prst="rect">
            <a:avLst/>
          </a:prstGeom>
          <a:solidFill>
            <a:srgbClr val="8C8C8C"/>
          </a:solidFill>
          <a:ln w="12700">
            <a:solidFill>
              <a:srgbClr val="8C8C8C"/>
            </a:solidFill>
            <a:prstDash val="solid"/>
          </a:ln>
        </p:spPr>
      </p:sp>
      <p:sp>
        <p:nvSpPr>
          <p:cNvPr id="55" name="Shape 53"/>
          <p:cNvSpPr/>
          <p:nvPr/>
        </p:nvSpPr>
        <p:spPr>
          <a:xfrm>
            <a:off x="10071202" y="3364992"/>
            <a:ext cx="10973" cy="146304"/>
          </a:xfrm>
          <a:prstGeom prst="rect">
            <a:avLst/>
          </a:prstGeom>
          <a:solidFill>
            <a:srgbClr val="8C8C8C"/>
          </a:solidFill>
          <a:ln w="12700">
            <a:solidFill>
              <a:srgbClr val="8C8C8C"/>
            </a:solidFill>
            <a:prstDash val="solid"/>
          </a:ln>
        </p:spPr>
      </p:sp>
      <p:sp>
        <p:nvSpPr>
          <p:cNvPr id="56" name="Text 54"/>
          <p:cNvSpPr/>
          <p:nvPr/>
        </p:nvSpPr>
        <p:spPr>
          <a:xfrm>
            <a:off x="7543800" y="3785616"/>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4</a:t>
            </a:r>
            <a:endParaRPr lang="en-US" sz="1100" dirty="0"/>
          </a:p>
        </p:txBody>
      </p:sp>
      <p:sp>
        <p:nvSpPr>
          <p:cNvPr id="57" name="Shape 55"/>
          <p:cNvSpPr/>
          <p:nvPr/>
        </p:nvSpPr>
        <p:spPr>
          <a:xfrm>
            <a:off x="8549640" y="3840480"/>
            <a:ext cx="936346" cy="219456"/>
          </a:xfrm>
          <a:prstGeom prst="roundRect">
            <a:avLst>
              <a:gd name="adj" fmla="val 41667"/>
            </a:avLst>
          </a:prstGeom>
          <a:solidFill>
            <a:srgbClr val="5EC962"/>
          </a:solidFill>
          <a:ln w="12700">
            <a:solidFill>
              <a:srgbClr val="5EC962"/>
            </a:solidFill>
            <a:prstDash val="solid"/>
          </a:ln>
        </p:spPr>
      </p:sp>
      <p:sp>
        <p:nvSpPr>
          <p:cNvPr id="58" name="Shape 56"/>
          <p:cNvSpPr/>
          <p:nvPr/>
        </p:nvSpPr>
        <p:spPr>
          <a:xfrm>
            <a:off x="9303106" y="3950208"/>
            <a:ext cx="365760" cy="10973"/>
          </a:xfrm>
          <a:prstGeom prst="rect">
            <a:avLst/>
          </a:prstGeom>
          <a:solidFill>
            <a:srgbClr val="8C8C8C"/>
          </a:solidFill>
          <a:ln w="12700">
            <a:solidFill>
              <a:srgbClr val="8C8C8C"/>
            </a:solidFill>
            <a:prstDash val="solid"/>
          </a:ln>
        </p:spPr>
      </p:sp>
      <p:sp>
        <p:nvSpPr>
          <p:cNvPr id="59" name="Shape 57"/>
          <p:cNvSpPr/>
          <p:nvPr/>
        </p:nvSpPr>
        <p:spPr>
          <a:xfrm>
            <a:off x="9303106" y="3877056"/>
            <a:ext cx="10973" cy="146304"/>
          </a:xfrm>
          <a:prstGeom prst="rect">
            <a:avLst/>
          </a:prstGeom>
          <a:solidFill>
            <a:srgbClr val="8C8C8C"/>
          </a:solidFill>
          <a:ln w="12700">
            <a:solidFill>
              <a:srgbClr val="8C8C8C"/>
            </a:solidFill>
            <a:prstDash val="solid"/>
          </a:ln>
        </p:spPr>
      </p:sp>
      <p:sp>
        <p:nvSpPr>
          <p:cNvPr id="60" name="Shape 58"/>
          <p:cNvSpPr/>
          <p:nvPr/>
        </p:nvSpPr>
        <p:spPr>
          <a:xfrm>
            <a:off x="9668866" y="3877056"/>
            <a:ext cx="10973" cy="146304"/>
          </a:xfrm>
          <a:prstGeom prst="rect">
            <a:avLst/>
          </a:prstGeom>
          <a:solidFill>
            <a:srgbClr val="8C8C8C"/>
          </a:solidFill>
          <a:ln w="12700">
            <a:solidFill>
              <a:srgbClr val="8C8C8C"/>
            </a:solidFill>
            <a:prstDash val="solid"/>
          </a:ln>
        </p:spPr>
      </p:sp>
      <p:sp>
        <p:nvSpPr>
          <p:cNvPr id="61" name="Text 59"/>
          <p:cNvSpPr/>
          <p:nvPr/>
        </p:nvSpPr>
        <p:spPr>
          <a:xfrm>
            <a:off x="7543800" y="4297680"/>
            <a:ext cx="914400" cy="329184"/>
          </a:xfrm>
          <a:prstGeom prst="rect">
            <a:avLst/>
          </a:prstGeom>
          <a:noFill/>
          <a:ln/>
        </p:spPr>
        <p:txBody>
          <a:bodyPr wrap="square" lIns="0" tIns="0" rIns="0" bIns="0" rtlCol="0" anchor="ctr"/>
          <a:lstStyle/>
          <a:p>
            <a:pPr algn="r" indent="0" marL="0">
              <a:buNone/>
            </a:pPr>
            <a:r>
              <a:rPr lang="en-US" sz="1100" dirty="0">
                <a:solidFill>
                  <a:srgbClr val="6B6B6B"/>
                </a:solidFill>
                <a:latin typeface="Calibri" pitchFamily="34" charset="0"/>
                <a:ea typeface="Calibri" pitchFamily="34" charset="-122"/>
                <a:cs typeface="Calibri" pitchFamily="34" charset="-120"/>
              </a:rPr>
              <a:t>Group 5</a:t>
            </a:r>
            <a:endParaRPr lang="en-US" sz="1100" dirty="0"/>
          </a:p>
        </p:txBody>
      </p:sp>
      <p:sp>
        <p:nvSpPr>
          <p:cNvPr id="62" name="Shape 60"/>
          <p:cNvSpPr/>
          <p:nvPr/>
        </p:nvSpPr>
        <p:spPr>
          <a:xfrm>
            <a:off x="8549640" y="4352544"/>
            <a:ext cx="599846" cy="219456"/>
          </a:xfrm>
          <a:prstGeom prst="roundRect">
            <a:avLst>
              <a:gd name="adj" fmla="val 41667"/>
            </a:avLst>
          </a:prstGeom>
          <a:solidFill>
            <a:srgbClr val="BBA800"/>
          </a:solidFill>
          <a:ln w="12700">
            <a:solidFill>
              <a:srgbClr val="BBA800"/>
            </a:solidFill>
            <a:prstDash val="solid"/>
          </a:ln>
        </p:spPr>
      </p:sp>
      <p:sp>
        <p:nvSpPr>
          <p:cNvPr id="63" name="Shape 61"/>
          <p:cNvSpPr/>
          <p:nvPr/>
        </p:nvSpPr>
        <p:spPr>
          <a:xfrm>
            <a:off x="8988552" y="4462272"/>
            <a:ext cx="321869" cy="10973"/>
          </a:xfrm>
          <a:prstGeom prst="rect">
            <a:avLst/>
          </a:prstGeom>
          <a:solidFill>
            <a:srgbClr val="8C8C8C"/>
          </a:solidFill>
          <a:ln w="12700">
            <a:solidFill>
              <a:srgbClr val="8C8C8C"/>
            </a:solidFill>
            <a:prstDash val="solid"/>
          </a:ln>
        </p:spPr>
      </p:sp>
      <p:sp>
        <p:nvSpPr>
          <p:cNvPr id="64" name="Shape 62"/>
          <p:cNvSpPr/>
          <p:nvPr/>
        </p:nvSpPr>
        <p:spPr>
          <a:xfrm>
            <a:off x="8988552" y="4389120"/>
            <a:ext cx="10973" cy="146304"/>
          </a:xfrm>
          <a:prstGeom prst="rect">
            <a:avLst/>
          </a:prstGeom>
          <a:solidFill>
            <a:srgbClr val="8C8C8C"/>
          </a:solidFill>
          <a:ln w="12700">
            <a:solidFill>
              <a:srgbClr val="8C8C8C"/>
            </a:solidFill>
            <a:prstDash val="solid"/>
          </a:ln>
        </p:spPr>
      </p:sp>
      <p:sp>
        <p:nvSpPr>
          <p:cNvPr id="65" name="Shape 63"/>
          <p:cNvSpPr/>
          <p:nvPr/>
        </p:nvSpPr>
        <p:spPr>
          <a:xfrm>
            <a:off x="9310421" y="4389120"/>
            <a:ext cx="10973" cy="146304"/>
          </a:xfrm>
          <a:prstGeom prst="rect">
            <a:avLst/>
          </a:prstGeom>
          <a:solidFill>
            <a:srgbClr val="8C8C8C"/>
          </a:solidFill>
          <a:ln w="12700">
            <a:solidFill>
              <a:srgbClr val="8C8C8C"/>
            </a:solidFill>
            <a:prstDash val="solid"/>
          </a:ln>
        </p:spPr>
      </p:sp>
      <p:sp>
        <p:nvSpPr>
          <p:cNvPr id="66" name="Text 64"/>
          <p:cNvSpPr/>
          <p:nvPr/>
        </p:nvSpPr>
        <p:spPr>
          <a:xfrm>
            <a:off x="7543800" y="4754880"/>
            <a:ext cx="3840480" cy="27432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share of the population, with its jackknife interval</a:t>
            </a:r>
            <a:endParaRPr lang="en-US" sz="1100" dirty="0"/>
          </a:p>
        </p:txBody>
      </p:sp>
      <p:sp>
        <p:nvSpPr>
          <p:cNvPr id="67" name="Text 65"/>
          <p:cNvSpPr/>
          <p:nvPr/>
        </p:nvSpPr>
        <p:spPr>
          <a:xfrm>
            <a:off x="685800" y="548640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The interval is the deliverable. </a:t>
            </a:r>
            <a:pPr indent="0" marL="0">
              <a:buNone/>
            </a:pPr>
            <a:r>
              <a:rPr lang="en-US" sz="1500" b="1" dirty="0">
                <a:solidFill>
                  <a:srgbClr val="440154"/>
                </a:solidFill>
                <a:latin typeface="Calibri" pitchFamily="34" charset="0"/>
                <a:ea typeface="Calibri" pitchFamily="34" charset="-122"/>
                <a:cs typeface="Calibri" pitchFamily="34" charset="-120"/>
              </a:rPr>
              <a:t>A partition has nowhere to get one from.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How many groups is a judgment, not an output</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AND WE SHOW OUR WORK</a:t>
            </a:r>
            <a:endParaRPr lang="en-US" sz="1000" dirty="0"/>
          </a:p>
        </p:txBody>
      </p:sp>
      <p:pic>
        <p:nvPicPr>
          <p:cNvPr id="9" name="Image 0" descr="img/p17.png">    </p:cNvPr>
          <p:cNvPicPr>
            <a:picLocks noChangeAspect="1"/>
          </p:cNvPicPr>
          <p:nvPr/>
        </p:nvPicPr>
        <p:blipFill>
          <a:blip r:embed="rId1"/>
          <a:stretch>
            <a:fillRect/>
          </a:stretch>
        </p:blipFill>
        <p:spPr>
          <a:xfrm>
            <a:off x="960120" y="1600200"/>
            <a:ext cx="10241280" cy="3090672"/>
          </a:xfrm>
          <a:prstGeom prst="rect">
            <a:avLst/>
          </a:prstGeom>
        </p:spPr>
      </p:pic>
      <p:sp>
        <p:nvSpPr>
          <p:cNvPr id="10" name="Shape 7"/>
          <p:cNvSpPr/>
          <p:nvPr/>
        </p:nvSpPr>
        <p:spPr>
          <a:xfrm>
            <a:off x="685800" y="4937760"/>
            <a:ext cx="10789920" cy="658368"/>
          </a:xfrm>
          <a:prstGeom prst="roundRect">
            <a:avLst>
              <a:gd name="adj" fmla="val 6944"/>
            </a:avLst>
          </a:prstGeom>
          <a:solidFill>
            <a:srgbClr val="E8F3F2"/>
          </a:solidFill>
          <a:ln w="12700">
            <a:solidFill>
              <a:srgbClr val="E8F3F2"/>
            </a:solidFill>
            <a:prstDash val="solid"/>
          </a:ln>
        </p:spPr>
      </p:sp>
      <p:sp>
        <p:nvSpPr>
          <p:cNvPr id="11" name="Text 8"/>
          <p:cNvSpPr/>
          <p:nvPr/>
        </p:nvSpPr>
        <p:spPr>
          <a:xfrm>
            <a:off x="960120" y="4937760"/>
            <a:ext cx="10241280" cy="658368"/>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Five and six fit almost equally well. We took five. </a:t>
            </a:r>
            <a:pPr indent="0" marL="0">
              <a:buNone/>
            </a:pPr>
            <a:r>
              <a:rPr lang="en-US" sz="1500" b="1" dirty="0">
                <a:solidFill>
                  <a:srgbClr val="440154"/>
                </a:solidFill>
                <a:latin typeface="Calibri" pitchFamily="34" charset="0"/>
                <a:ea typeface="Calibri" pitchFamily="34" charset="-122"/>
                <a:cs typeface="Calibri" pitchFamily="34" charset="-120"/>
              </a:rPr>
              <a:t>The software never picks this.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Audiences differ mostly in how much they trust</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RESPONSE PROFILES</a:t>
            </a:r>
            <a:endParaRPr lang="en-US" sz="1000" dirty="0"/>
          </a:p>
        </p:txBody>
      </p:sp>
      <p:pic>
        <p:nvPicPr>
          <p:cNvPr id="999" name="Image 0" descr="img/p18.png">    </p:cNvPr>
          <p:cNvPicPr>
            <a:picLocks noChangeAspect="1"/>
          </p:cNvPicPr>
          <p:nvPr/>
        </p:nvPicPr>
        <p:blipFill>
          <a:blip r:embed="rId1"/>
          <a:stretch>
            <a:fillRect/>
          </a:stretch>
        </p:blipFill>
        <p:spPr>
          <a:xfrm>
            <a:off x="914400" y="1417320"/>
            <a:ext cx="10332720" cy="3912757"/>
          </a:xfrm>
          <a:prstGeom prst="rect">
            <a:avLst/>
          </a:prstGeom>
        </p:spPr>
      </p:pic>
      <p:sp>
        <p:nvSpPr>
          <p:cNvPr id="9" name="Text 9"/>
          <p:cNvSpPr/>
          <p:nvPr/>
        </p:nvSpPr>
        <p:spPr>
          <a:xfrm>
            <a:off x="685800" y="5394960"/>
            <a:ext cx="10789920" cy="10058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Four audiences run from low to high trust with similar shapes: the difference is mostly how much, not whom. </a:t>
            </a:r>
            <a:r>
              <a:rPr lang="en-US" sz="1350" b="1" dirty="0">
                <a:solidFill>
                  <a:srgbClr val="440154"/>
                </a:solidFill>
                <a:latin typeface="Calibri" pitchFamily="34" charset="0"/>
                <a:ea typeface="Calibri" pitchFamily="34" charset="-122"/>
                <a:cs typeface="Calibri" pitchFamily="34" charset="-120"/>
              </a:rPr>
              <a:t>The exception is S3: low trust overall, but close to the moderate audience on the president and armed forces.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Full size estimates behind the five publics</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DETAIL FOR SLIDE 4</a:t>
            </a:r>
            <a:endParaRPr lang="en-US" sz="1000" dirty="0"/>
          </a:p>
        </p:txBody>
      </p:sp>
      <p:pic>
        <p:nvPicPr>
          <p:cNvPr id="999" name="Image 0" descr="img/p19.png">    </p:cNvPr>
          <p:cNvPicPr>
            <a:picLocks noChangeAspect="1"/>
          </p:cNvPicPr>
          <p:nvPr/>
        </p:nvPicPr>
        <p:blipFill>
          <a:blip r:embed="rId1"/>
          <a:stretch>
            <a:fillRect/>
          </a:stretch>
        </p:blipFill>
        <p:spPr>
          <a:xfrm>
            <a:off x="685800" y="1417320"/>
            <a:ext cx="10789920" cy="3133837"/>
          </a:xfrm>
          <a:prstGeom prst="rect">
            <a:avLst/>
          </a:prstGeom>
        </p:spPr>
      </p:pic>
      <p:sp>
        <p:nvSpPr>
          <p:cNvPr id="9" name="Shape 9"/>
          <p:cNvSpPr/>
          <p:nvPr/>
        </p:nvSpPr>
        <p:spPr>
          <a:xfrm>
            <a:off x="685800" y="4663440"/>
            <a:ext cx="3474720" cy="1143000"/>
          </a:xfrm>
          <a:prstGeom prst="roundRect">
            <a:avLst>
              <a:gd name="adj" fmla="val 2273"/>
            </a:avLst>
          </a:prstGeom>
          <a:solidFill>
            <a:srgbClr val="F7F7F7"/>
          </a:solidFill>
          <a:ln w="12700">
            <a:solidFill>
              <a:srgbClr val="E4E4E4"/>
            </a:solidFill>
            <a:prstDash val="solid"/>
          </a:ln>
        </p:spPr>
      </p:sp>
      <p:sp>
        <p:nvSpPr>
          <p:cNvPr id="10" name="Shape 10"/>
          <p:cNvSpPr/>
          <p:nvPr/>
        </p:nvSpPr>
        <p:spPr>
          <a:xfrm>
            <a:off x="685800" y="4663440"/>
            <a:ext cx="91440" cy="1143000"/>
          </a:xfrm>
          <a:prstGeom prst="rect">
            <a:avLst/>
          </a:prstGeom>
          <a:solidFill>
            <a:srgbClr val="440154"/>
          </a:solidFill>
          <a:ln w="12700">
            <a:solidFill>
              <a:srgbClr val="440154"/>
            </a:solidFill>
            <a:prstDash val="solid"/>
          </a:ln>
        </p:spPr>
      </p:sp>
      <p:sp>
        <p:nvSpPr>
          <p:cNvPr id="11" name="Text 11"/>
          <p:cNvSpPr/>
          <p:nvPr/>
        </p:nvSpPr>
        <p:spPr>
          <a:xfrm>
            <a:off x="914400" y="4754880"/>
            <a:ext cx="3154680" cy="457200"/>
          </a:xfrm>
          <a:prstGeom prst="rect">
            <a:avLst/>
          </a:prstGeom>
          <a:noFill/>
          <a:ln/>
        </p:spPr>
        <p:txBody>
          <a:bodyPr wrap="square" lIns="0" tIns="0" rIns="0" bIns="0" rtlCol="0" anchor="ctr"/>
          <a:lstStyle/>
          <a:p>
            <a:pPr indent="0" marL="0">
              <a:buNone/>
            </a:pPr>
            <a:r>
              <a:rPr lang="en-US" sz="2400" b="1" dirty="0">
                <a:solidFill>
                  <a:srgbClr val="440154"/>
                </a:solidFill>
                <a:latin typeface="Cambria" pitchFamily="34" charset="0"/>
                <a:ea typeface="Cambria" pitchFamily="34" charset="-122"/>
                <a:cs typeface="Cambria" pitchFamily="34" charset="-120"/>
              </a:rPr>
              <a:t>About 1 in 3</a:t>
            </a:r>
            <a:endParaRPr lang="en-US" sz="1000" dirty="0"/>
          </a:p>
        </p:txBody>
      </p:sp>
      <p:sp>
        <p:nvSpPr>
          <p:cNvPr id="12" name="Text 12"/>
          <p:cNvSpPr/>
          <p:nvPr/>
        </p:nvSpPr>
        <p:spPr>
          <a:xfrm>
            <a:off x="914400" y="5212080"/>
            <a:ext cx="3154680" cy="548640"/>
          </a:xfrm>
          <a:prstGeom prst="rect">
            <a:avLst/>
          </a:prstGeom>
          <a:noFill/>
          <a:ln/>
        </p:spPr>
        <p:txBody>
          <a:bodyPr wrap="square" lIns="0" tIns="0" rIns="0" bIns="0" rtlCol="0" anchor="t"/>
          <a:lstStyle/>
          <a:p>
            <a:pPr indent="0" marL="0">
              <a:buNone/>
            </a:pPr>
            <a:r>
              <a:rPr lang="en-US" sz="1250" dirty="0">
                <a:solidFill>
                  <a:srgbClr val="1F1F1F"/>
                </a:solidFill>
                <a:latin typeface="Calibri" pitchFamily="34" charset="0"/>
                <a:ea typeface="Calibri" pitchFamily="34" charset="-122"/>
                <a:cs typeface="Calibri" pitchFamily="34" charset="-120"/>
              </a:rPr>
              <a:t>Moderate trust across the board (S1, about 33%)</a:t>
            </a:r>
            <a:endParaRPr lang="en-US" sz="1000" dirty="0"/>
          </a:p>
        </p:txBody>
      </p:sp>
      <p:sp>
        <p:nvSpPr>
          <p:cNvPr id="13" name="Shape 13"/>
          <p:cNvSpPr/>
          <p:nvPr/>
        </p:nvSpPr>
        <p:spPr>
          <a:xfrm>
            <a:off x="4343400" y="4663440"/>
            <a:ext cx="3474720" cy="1143000"/>
          </a:xfrm>
          <a:prstGeom prst="roundRect">
            <a:avLst>
              <a:gd name="adj" fmla="val 2273"/>
            </a:avLst>
          </a:prstGeom>
          <a:solidFill>
            <a:srgbClr val="F7F7F7"/>
          </a:solidFill>
          <a:ln w="12700">
            <a:solidFill>
              <a:srgbClr val="E4E4E4"/>
            </a:solidFill>
            <a:prstDash val="solid"/>
          </a:ln>
        </p:spPr>
      </p:sp>
      <p:sp>
        <p:nvSpPr>
          <p:cNvPr id="14" name="Shape 14"/>
          <p:cNvSpPr/>
          <p:nvPr/>
        </p:nvSpPr>
        <p:spPr>
          <a:xfrm>
            <a:off x="4343400" y="4663440"/>
            <a:ext cx="91440" cy="1143000"/>
          </a:xfrm>
          <a:prstGeom prst="rect">
            <a:avLst/>
          </a:prstGeom>
          <a:solidFill>
            <a:srgbClr val="21918C"/>
          </a:solidFill>
          <a:ln w="12700">
            <a:solidFill>
              <a:srgbClr val="21918C"/>
            </a:solidFill>
            <a:prstDash val="solid"/>
          </a:ln>
        </p:spPr>
      </p:sp>
      <p:sp>
        <p:nvSpPr>
          <p:cNvPr id="15" name="Text 15"/>
          <p:cNvSpPr/>
          <p:nvPr/>
        </p:nvSpPr>
        <p:spPr>
          <a:xfrm>
            <a:off x="4572000" y="4754880"/>
            <a:ext cx="3154680" cy="457200"/>
          </a:xfrm>
          <a:prstGeom prst="rect">
            <a:avLst/>
          </a:prstGeom>
          <a:noFill/>
          <a:ln/>
        </p:spPr>
        <p:txBody>
          <a:bodyPr wrap="square" lIns="0" tIns="0" rIns="0" bIns="0" rtlCol="0" anchor="ctr"/>
          <a:lstStyle/>
          <a:p>
            <a:pPr indent="0" marL="0">
              <a:buNone/>
            </a:pPr>
            <a:r>
              <a:rPr lang="en-US" sz="2400" b="1" dirty="0">
                <a:solidFill>
                  <a:srgbClr val="440154"/>
                </a:solidFill>
                <a:latin typeface="Cambria" pitchFamily="34" charset="0"/>
                <a:ea typeface="Cambria" pitchFamily="34" charset="-122"/>
                <a:cs typeface="Cambria" pitchFamily="34" charset="-120"/>
              </a:rPr>
              <a:t>About 1 in 4</a:t>
            </a:r>
            <a:endParaRPr lang="en-US" sz="1000" dirty="0"/>
          </a:p>
        </p:txBody>
      </p:sp>
      <p:sp>
        <p:nvSpPr>
          <p:cNvPr id="16" name="Text 16"/>
          <p:cNvSpPr/>
          <p:nvPr/>
        </p:nvSpPr>
        <p:spPr>
          <a:xfrm>
            <a:off x="4572000" y="5212080"/>
            <a:ext cx="3154680" cy="548640"/>
          </a:xfrm>
          <a:prstGeom prst="rect">
            <a:avLst/>
          </a:prstGeom>
          <a:noFill/>
          <a:ln/>
        </p:spPr>
        <p:txBody>
          <a:bodyPr wrap="square" lIns="0" tIns="0" rIns="0" bIns="0" rtlCol="0" anchor="t"/>
          <a:lstStyle/>
          <a:p>
            <a:pPr indent="0" marL="0">
              <a:buNone/>
            </a:pPr>
            <a:r>
              <a:rPr lang="en-US" sz="1250" dirty="0">
                <a:solidFill>
                  <a:srgbClr val="1F1F1F"/>
                </a:solidFill>
                <a:latin typeface="Calibri" pitchFamily="34" charset="0"/>
                <a:ea typeface="Calibri" pitchFamily="34" charset="-122"/>
                <a:cs typeface="Calibri" pitchFamily="34" charset="-120"/>
              </a:rPr>
              <a:t>Trust the president and military far more than other institutions (S3, about 24%)</a:t>
            </a:r>
            <a:endParaRPr lang="en-US" sz="1000" dirty="0"/>
          </a:p>
        </p:txBody>
      </p:sp>
      <p:sp>
        <p:nvSpPr>
          <p:cNvPr id="17" name="Shape 17"/>
          <p:cNvSpPr/>
          <p:nvPr/>
        </p:nvSpPr>
        <p:spPr>
          <a:xfrm>
            <a:off x="8001000" y="4663440"/>
            <a:ext cx="3474720" cy="1143000"/>
          </a:xfrm>
          <a:prstGeom prst="roundRect">
            <a:avLst>
              <a:gd name="adj" fmla="val 2273"/>
            </a:avLst>
          </a:prstGeom>
          <a:solidFill>
            <a:srgbClr val="F7F7F7"/>
          </a:solidFill>
          <a:ln w="12700">
            <a:solidFill>
              <a:srgbClr val="E4E4E4"/>
            </a:solidFill>
            <a:prstDash val="solid"/>
          </a:ln>
        </p:spPr>
      </p:sp>
      <p:sp>
        <p:nvSpPr>
          <p:cNvPr id="18" name="Shape 18"/>
          <p:cNvSpPr/>
          <p:nvPr/>
        </p:nvSpPr>
        <p:spPr>
          <a:xfrm>
            <a:off x="8001000" y="4663440"/>
            <a:ext cx="91440" cy="1143000"/>
          </a:xfrm>
          <a:prstGeom prst="rect">
            <a:avLst/>
          </a:prstGeom>
          <a:solidFill>
            <a:srgbClr val="3B528B"/>
          </a:solidFill>
          <a:ln w="12700">
            <a:solidFill>
              <a:srgbClr val="3B528B"/>
            </a:solidFill>
            <a:prstDash val="solid"/>
          </a:ln>
        </p:spPr>
      </p:sp>
      <p:sp>
        <p:nvSpPr>
          <p:cNvPr id="19" name="Text 19"/>
          <p:cNvSpPr/>
          <p:nvPr/>
        </p:nvSpPr>
        <p:spPr>
          <a:xfrm>
            <a:off x="8229600" y="4754880"/>
            <a:ext cx="3154680" cy="457200"/>
          </a:xfrm>
          <a:prstGeom prst="rect">
            <a:avLst/>
          </a:prstGeom>
          <a:noFill/>
          <a:ln/>
        </p:spPr>
        <p:txBody>
          <a:bodyPr wrap="square" lIns="0" tIns="0" rIns="0" bIns="0" rtlCol="0" anchor="ctr"/>
          <a:lstStyle/>
          <a:p>
            <a:pPr indent="0" marL="0">
              <a:buNone/>
            </a:pPr>
            <a:r>
              <a:rPr lang="en-US" sz="2400" b="1" dirty="0">
                <a:solidFill>
                  <a:srgbClr val="440154"/>
                </a:solidFill>
                <a:latin typeface="Cambria" pitchFamily="34" charset="0"/>
                <a:ea typeface="Cambria" pitchFamily="34" charset="-122"/>
                <a:cs typeface="Cambria" pitchFamily="34" charset="-120"/>
              </a:rPr>
              <a:t>About 1 in 10</a:t>
            </a:r>
            <a:endParaRPr lang="en-US" sz="1000" dirty="0"/>
          </a:p>
        </p:txBody>
      </p:sp>
      <p:sp>
        <p:nvSpPr>
          <p:cNvPr id="20" name="Text 20"/>
          <p:cNvSpPr/>
          <p:nvPr/>
        </p:nvSpPr>
        <p:spPr>
          <a:xfrm>
            <a:off x="8229600" y="5212080"/>
            <a:ext cx="3154680" cy="548640"/>
          </a:xfrm>
          <a:prstGeom prst="rect">
            <a:avLst/>
          </a:prstGeom>
          <a:noFill/>
          <a:ln/>
        </p:spPr>
        <p:txBody>
          <a:bodyPr wrap="square" lIns="0" tIns="0" rIns="0" bIns="0" rtlCol="0" anchor="t"/>
          <a:lstStyle/>
          <a:p>
            <a:pPr indent="0" marL="0">
              <a:buNone/>
            </a:pPr>
            <a:r>
              <a:rPr lang="en-US" sz="1250" dirty="0">
                <a:solidFill>
                  <a:srgbClr val="1F1F1F"/>
                </a:solidFill>
                <a:latin typeface="Calibri" pitchFamily="34" charset="0"/>
                <a:ea typeface="Calibri" pitchFamily="34" charset="-122"/>
                <a:cs typeface="Calibri" pitchFamily="34" charset="-120"/>
              </a:rPr>
              <a:t>Distrust every institution (S2, about 11%)</a:t>
            </a:r>
            <a:endParaRPr lang="en-US" sz="1000" dirty="0"/>
          </a:p>
        </p:txBody>
      </p:sp>
      <p:sp>
        <p:nvSpPr>
          <p:cNvPr id="21" name="Text 21"/>
          <p:cNvSpPr/>
          <p:nvPr/>
        </p:nvSpPr>
        <p:spPr>
          <a:xfrm>
            <a:off x="685800" y="5897880"/>
            <a:ext cx="10789920" cy="5943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Source: LAPOP AmericasBarometer, Ecuador 2023. 13 institutional-trust questions; 1,618 of 1,622 respondents placed. Dot = design-weighted share; diamond = unweighted; bar = 95% interval from 130 jackknife replicates.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Full chart behind the leader-versus-system finding</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DETAIL FOR SLIDE 5</a:t>
            </a:r>
            <a:endParaRPr lang="en-US" sz="1000" dirty="0"/>
          </a:p>
        </p:txBody>
      </p:sp>
      <p:pic>
        <p:nvPicPr>
          <p:cNvPr id="999" name="Image 0" descr="img/p20.png">    </p:cNvPr>
          <p:cNvPicPr>
            <a:picLocks noChangeAspect="1"/>
          </p:cNvPicPr>
          <p:nvPr/>
        </p:nvPicPr>
        <p:blipFill>
          <a:blip r:embed="rId1"/>
          <a:stretch>
            <a:fillRect/>
          </a:stretch>
        </p:blipFill>
        <p:spPr>
          <a:xfrm>
            <a:off x="1143000" y="1371600"/>
            <a:ext cx="9906000" cy="3386977"/>
          </a:xfrm>
          <a:prstGeom prst="rect">
            <a:avLst/>
          </a:prstGeom>
        </p:spPr>
      </p:pic>
      <p:sp>
        <p:nvSpPr>
          <p:cNvPr id="9" name="Shape 9"/>
          <p:cNvSpPr/>
          <p:nvPr/>
        </p:nvSpPr>
        <p:spPr>
          <a:xfrm>
            <a:off x="685800" y="4800600"/>
            <a:ext cx="10789920" cy="1051560"/>
          </a:xfrm>
          <a:prstGeom prst="roundRect">
            <a:avLst>
              <a:gd name="adj" fmla="val 2300"/>
            </a:avLst>
          </a:prstGeom>
          <a:solidFill>
            <a:srgbClr val="E8F3F2"/>
          </a:solidFill>
          <a:ln w="12700">
            <a:solidFill>
              <a:srgbClr val="E8F3F2"/>
            </a:solidFill>
            <a:prstDash val="solid"/>
          </a:ln>
        </p:spPr>
      </p:sp>
      <p:sp>
        <p:nvSpPr>
          <p:cNvPr id="10" name="Text 10"/>
          <p:cNvSpPr/>
          <p:nvPr/>
        </p:nvSpPr>
        <p:spPr>
          <a:xfrm>
            <a:off x="914400" y="4892040"/>
            <a:ext cx="1965960" cy="868680"/>
          </a:xfrm>
          <a:prstGeom prst="rect">
            <a:avLst/>
          </a:prstGeom>
          <a:noFill/>
          <a:ln/>
        </p:spPr>
        <p:txBody>
          <a:bodyPr wrap="square" lIns="0" tIns="0" rIns="0" bIns="0" rtlCol="0" anchor="ctr"/>
          <a:lstStyle/>
          <a:p>
            <a:pPr indent="0" marL="0">
              <a:buNone/>
            </a:pPr>
            <a:r>
              <a:rPr lang="en-US" sz="2600" b="1" dirty="0">
                <a:solidFill>
                  <a:srgbClr val="440154"/>
                </a:solidFill>
                <a:latin typeface="Cambria" pitchFamily="34" charset="0"/>
                <a:ea typeface="Cambria" pitchFamily="34" charset="-122"/>
                <a:cs typeface="Cambria" pitchFamily="34" charset="-120"/>
              </a:rPr>
              <a:t>About 1 in 2</a:t>
            </a:r>
            <a:endParaRPr lang="en-US" sz="1000" dirty="0"/>
          </a:p>
        </p:txBody>
      </p:sp>
      <p:sp>
        <p:nvSpPr>
          <p:cNvPr id="11" name="Text 11"/>
          <p:cNvSpPr/>
          <p:nvPr/>
        </p:nvSpPr>
        <p:spPr>
          <a:xfrm>
            <a:off x="2926080" y="4892040"/>
            <a:ext cx="3063240" cy="86868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of people rating the president's performance very bad fall in the audience that distrusts every institution</a:t>
            </a:r>
            <a:endParaRPr lang="en-US" sz="1000" dirty="0"/>
          </a:p>
        </p:txBody>
      </p:sp>
      <p:sp>
        <p:nvSpPr>
          <p:cNvPr id="12" name="Text 12"/>
          <p:cNvSpPr/>
          <p:nvPr/>
        </p:nvSpPr>
        <p:spPr>
          <a:xfrm>
            <a:off x="6309360" y="4892040"/>
            <a:ext cx="2286000" cy="868680"/>
          </a:xfrm>
          <a:prstGeom prst="rect">
            <a:avLst/>
          </a:prstGeom>
          <a:noFill/>
          <a:ln/>
        </p:spPr>
        <p:txBody>
          <a:bodyPr wrap="square" lIns="0" tIns="0" rIns="0" bIns="0" rtlCol="0" anchor="ctr"/>
          <a:lstStyle/>
          <a:p>
            <a:pPr indent="0" marL="0">
              <a:buNone/>
            </a:pPr>
            <a:r>
              <a:rPr lang="en-US" sz="2600" b="1" dirty="0">
                <a:solidFill>
                  <a:srgbClr val="21918C"/>
                </a:solidFill>
                <a:latin typeface="Cambria" pitchFamily="34" charset="0"/>
                <a:ea typeface="Cambria" pitchFamily="34" charset="-122"/>
                <a:cs typeface="Cambria" pitchFamily="34" charset="-120"/>
              </a:rPr>
              <a:t>Under 1 in 10</a:t>
            </a:r>
            <a:endParaRPr lang="en-US" sz="1000" dirty="0"/>
          </a:p>
        </p:txBody>
      </p:sp>
      <p:sp>
        <p:nvSpPr>
          <p:cNvPr id="13" name="Text 13"/>
          <p:cNvSpPr/>
          <p:nvPr/>
        </p:nvSpPr>
        <p:spPr>
          <a:xfrm>
            <a:off x="8641080" y="4892040"/>
            <a:ext cx="2651760" cy="86868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of people rating it very good</a:t>
            </a:r>
            <a:endParaRPr lang="en-US" sz="1000" dirty="0"/>
          </a:p>
        </p:txBody>
      </p:sp>
      <p:sp>
        <p:nvSpPr>
          <p:cNvPr id="14" name="Text 14"/>
          <p:cNvSpPr/>
          <p:nvPr/>
        </p:nvSpPr>
        <p:spPr>
          <a:xfrm>
            <a:off x="685800" y="5943600"/>
            <a:ext cx="10789920" cy="5943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Trust in the president is one of the 13 questions, so part of this link is built in; the finding is that the distrust extends to courts, elections and parties. Shares corrected for misclassification. Source: LAPOP AmericasBarometer, Ecuador 2023.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AI may draft a label; it never decides a number</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 RULE, NOT A ONE-OFF</a:t>
            </a:r>
            <a:endParaRPr lang="en-US" sz="1000" dirty="0"/>
          </a:p>
        </p:txBody>
      </p:sp>
      <p:sp>
        <p:nvSpPr>
          <p:cNvPr id="9" name="Shape 7"/>
          <p:cNvSpPr/>
          <p:nvPr/>
        </p:nvSpPr>
        <p:spPr>
          <a:xfrm>
            <a:off x="685800" y="1600200"/>
            <a:ext cx="5212080" cy="2651760"/>
          </a:xfrm>
          <a:prstGeom prst="roundRect">
            <a:avLst>
              <a:gd name="adj" fmla="val 1724"/>
            </a:avLst>
          </a:prstGeom>
          <a:solidFill>
            <a:srgbClr val="E9F7EC"/>
          </a:solidFill>
          <a:ln w="12700">
            <a:solidFill>
              <a:srgbClr val="E9F7EC"/>
            </a:solidFill>
            <a:prstDash val="solid"/>
          </a:ln>
        </p:spPr>
      </p:sp>
      <p:sp>
        <p:nvSpPr>
          <p:cNvPr id="10" name="Text 8"/>
          <p:cNvSpPr/>
          <p:nvPr/>
        </p:nvSpPr>
        <p:spPr>
          <a:xfrm>
            <a:off x="1005840" y="1828800"/>
            <a:ext cx="457200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A model may draft</a:t>
            </a:r>
            <a:endParaRPr lang="en-US" sz="1700" dirty="0"/>
          </a:p>
        </p:txBody>
      </p:sp>
      <p:sp>
        <p:nvSpPr>
          <p:cNvPr id="11" name="Shape 9"/>
          <p:cNvSpPr/>
          <p:nvPr/>
        </p:nvSpPr>
        <p:spPr>
          <a:xfrm>
            <a:off x="1051560" y="2377440"/>
            <a:ext cx="182880" cy="182880"/>
          </a:xfrm>
          <a:prstGeom prst="ellipse">
            <a:avLst/>
          </a:prstGeom>
          <a:solidFill>
            <a:srgbClr val="5EC962"/>
          </a:solidFill>
          <a:ln/>
        </p:spPr>
      </p:sp>
      <p:sp>
        <p:nvSpPr>
          <p:cNvPr id="12" name="Text 10"/>
          <p:cNvSpPr/>
          <p:nvPr/>
        </p:nvSpPr>
        <p:spPr>
          <a:xfrm>
            <a:off x="1399032" y="228600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Candidate names for each group</a:t>
            </a:r>
            <a:endParaRPr lang="en-US" sz="1400" dirty="0"/>
          </a:p>
        </p:txBody>
      </p:sp>
      <p:sp>
        <p:nvSpPr>
          <p:cNvPr id="13" name="Shape 11"/>
          <p:cNvSpPr/>
          <p:nvPr/>
        </p:nvSpPr>
        <p:spPr>
          <a:xfrm>
            <a:off x="1051560" y="2926080"/>
            <a:ext cx="182880" cy="182880"/>
          </a:xfrm>
          <a:prstGeom prst="ellipse">
            <a:avLst/>
          </a:prstGeom>
          <a:solidFill>
            <a:srgbClr val="5EC962"/>
          </a:solidFill>
          <a:ln/>
        </p:spPr>
      </p:sp>
      <p:sp>
        <p:nvSpPr>
          <p:cNvPr id="14" name="Text 12"/>
          <p:cNvSpPr/>
          <p:nvPr/>
        </p:nvSpPr>
        <p:spPr>
          <a:xfrm>
            <a:off x="1399032" y="283464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Plain-language readings of results</a:t>
            </a:r>
            <a:endParaRPr lang="en-US" sz="1400" dirty="0"/>
          </a:p>
        </p:txBody>
      </p:sp>
      <p:sp>
        <p:nvSpPr>
          <p:cNvPr id="15" name="Shape 13"/>
          <p:cNvSpPr/>
          <p:nvPr/>
        </p:nvSpPr>
        <p:spPr>
          <a:xfrm>
            <a:off x="1051560" y="3474720"/>
            <a:ext cx="182880" cy="182880"/>
          </a:xfrm>
          <a:prstGeom prst="ellipse">
            <a:avLst/>
          </a:prstGeom>
          <a:solidFill>
            <a:srgbClr val="5EC962"/>
          </a:solidFill>
          <a:ln/>
        </p:spPr>
      </p:sp>
      <p:sp>
        <p:nvSpPr>
          <p:cNvPr id="16" name="Text 14"/>
          <p:cNvSpPr/>
          <p:nvPr/>
        </p:nvSpPr>
        <p:spPr>
          <a:xfrm>
            <a:off x="1399032" y="3383280"/>
            <a:ext cx="429768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From computed numbers, never raw data</a:t>
            </a:r>
            <a:endParaRPr lang="en-US" sz="1400" dirty="0"/>
          </a:p>
        </p:txBody>
      </p:sp>
      <p:sp>
        <p:nvSpPr>
          <p:cNvPr id="17" name="Shape 15"/>
          <p:cNvSpPr/>
          <p:nvPr/>
        </p:nvSpPr>
        <p:spPr>
          <a:xfrm>
            <a:off x="6537960" y="1600200"/>
            <a:ext cx="4937760" cy="2651760"/>
          </a:xfrm>
          <a:prstGeom prst="roundRect">
            <a:avLst>
              <a:gd name="adj" fmla="val 1724"/>
            </a:avLst>
          </a:prstGeom>
          <a:solidFill>
            <a:srgbClr val="F1EBF4"/>
          </a:solidFill>
          <a:ln w="12700">
            <a:solidFill>
              <a:srgbClr val="F1EBF4"/>
            </a:solidFill>
            <a:prstDash val="solid"/>
          </a:ln>
        </p:spPr>
      </p:sp>
      <p:sp>
        <p:nvSpPr>
          <p:cNvPr id="18" name="Text 16"/>
          <p:cNvSpPr/>
          <p:nvPr/>
        </p:nvSpPr>
        <p:spPr>
          <a:xfrm>
            <a:off x="6858000" y="1828800"/>
            <a:ext cx="4389120" cy="32004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It never decides</a:t>
            </a:r>
            <a:endParaRPr lang="en-US" sz="1700" dirty="0"/>
          </a:p>
        </p:txBody>
      </p:sp>
      <p:sp>
        <p:nvSpPr>
          <p:cNvPr id="19" name="Shape 17"/>
          <p:cNvSpPr/>
          <p:nvPr/>
        </p:nvSpPr>
        <p:spPr>
          <a:xfrm>
            <a:off x="6903720" y="2377440"/>
            <a:ext cx="182880" cy="182880"/>
          </a:xfrm>
          <a:prstGeom prst="ellipse">
            <a:avLst/>
          </a:prstGeom>
          <a:solidFill>
            <a:srgbClr val="440154"/>
          </a:solidFill>
          <a:ln/>
        </p:spPr>
      </p:sp>
      <p:sp>
        <p:nvSpPr>
          <p:cNvPr id="20" name="Text 18"/>
          <p:cNvSpPr/>
          <p:nvPr/>
        </p:nvSpPr>
        <p:spPr>
          <a:xfrm>
            <a:off x="7251192" y="228600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How many groups there are</a:t>
            </a:r>
            <a:endParaRPr lang="en-US" sz="1400" dirty="0"/>
          </a:p>
        </p:txBody>
      </p:sp>
      <p:sp>
        <p:nvSpPr>
          <p:cNvPr id="21" name="Shape 19"/>
          <p:cNvSpPr/>
          <p:nvPr/>
        </p:nvSpPr>
        <p:spPr>
          <a:xfrm>
            <a:off x="6903720" y="2926080"/>
            <a:ext cx="182880" cy="182880"/>
          </a:xfrm>
          <a:prstGeom prst="ellipse">
            <a:avLst/>
          </a:prstGeom>
          <a:solidFill>
            <a:srgbClr val="440154"/>
          </a:solidFill>
          <a:ln/>
        </p:spPr>
      </p:sp>
      <p:sp>
        <p:nvSpPr>
          <p:cNvPr id="22" name="Text 20"/>
          <p:cNvSpPr/>
          <p:nvPr/>
        </p:nvSpPr>
        <p:spPr>
          <a:xfrm>
            <a:off x="7251192" y="283464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Which items to keep or drop</a:t>
            </a:r>
            <a:endParaRPr lang="en-US" sz="1400" dirty="0"/>
          </a:p>
        </p:txBody>
      </p:sp>
      <p:sp>
        <p:nvSpPr>
          <p:cNvPr id="23" name="Shape 21"/>
          <p:cNvSpPr/>
          <p:nvPr/>
        </p:nvSpPr>
        <p:spPr>
          <a:xfrm>
            <a:off x="6903720" y="3474720"/>
            <a:ext cx="182880" cy="182880"/>
          </a:xfrm>
          <a:prstGeom prst="ellipse">
            <a:avLst/>
          </a:prstGeom>
          <a:solidFill>
            <a:srgbClr val="440154"/>
          </a:solidFill>
          <a:ln/>
        </p:spPr>
      </p:sp>
      <p:sp>
        <p:nvSpPr>
          <p:cNvPr id="24" name="Text 22"/>
          <p:cNvSpPr/>
          <p:nvPr/>
        </p:nvSpPr>
        <p:spPr>
          <a:xfrm>
            <a:off x="7251192" y="3383280"/>
            <a:ext cx="4023360" cy="365760"/>
          </a:xfrm>
          <a:prstGeom prst="rect">
            <a:avLst/>
          </a:prstGeom>
          <a:noFill/>
          <a:ln/>
        </p:spPr>
        <p:txBody>
          <a:bodyPr wrap="square" lIns="0" tIns="0" rIns="0" bIns="0" rtlCol="0" anchor="ctr"/>
          <a:lstStyle/>
          <a:p>
            <a:pPr indent="0" marL="0">
              <a:buNone/>
            </a:pPr>
            <a:r>
              <a:rPr lang="en-US" sz="1400" dirty="0">
                <a:solidFill>
                  <a:srgbClr val="1F1F1F"/>
                </a:solidFill>
                <a:latin typeface="Calibri" pitchFamily="34" charset="0"/>
                <a:ea typeface="Calibri" pitchFamily="34" charset="-122"/>
                <a:cs typeface="Calibri" pitchFamily="34" charset="-120"/>
              </a:rPr>
              <a:t>Which differences are statistically real</a:t>
            </a:r>
            <a:endParaRPr lang="en-US" sz="1400" dirty="0"/>
          </a:p>
        </p:txBody>
      </p:sp>
      <p:sp>
        <p:nvSpPr>
          <p:cNvPr id="25" name="Shape 23"/>
          <p:cNvSpPr/>
          <p:nvPr/>
        </p:nvSpPr>
        <p:spPr>
          <a:xfrm>
            <a:off x="685800" y="4526280"/>
            <a:ext cx="10789920" cy="960120"/>
          </a:xfrm>
          <a:prstGeom prst="roundRect">
            <a:avLst>
              <a:gd name="adj" fmla="val 4762"/>
            </a:avLst>
          </a:prstGeom>
          <a:solidFill>
            <a:srgbClr val="E8F3F2"/>
          </a:solidFill>
          <a:ln w="12700">
            <a:solidFill>
              <a:srgbClr val="E8F3F2"/>
            </a:solidFill>
            <a:prstDash val="solid"/>
          </a:ln>
        </p:spPr>
      </p:sp>
      <p:sp>
        <p:nvSpPr>
          <p:cNvPr id="26" name="Text 24"/>
          <p:cNvSpPr/>
          <p:nvPr/>
        </p:nvSpPr>
        <p:spPr>
          <a:xfrm>
            <a:off x="685800" y="4526280"/>
            <a:ext cx="10789920" cy="960120"/>
          </a:xfrm>
          <a:prstGeom prst="rect">
            <a:avLst/>
          </a:prstGeom>
          <a:noFill/>
          <a:ln/>
        </p:spPr>
        <p:txBody>
          <a:bodyPr wrap="square" lIns="0" tIns="0" rIns="0" bIns="0" rtlCol="0" anchor="ctr"/>
          <a:lstStyle/>
          <a:p>
            <a:pPr algn="ctr" indent="0" marL="0">
              <a:buNone/>
            </a:pPr>
            <a:r>
              <a:rPr lang="en-US" sz="1900" b="1" dirty="0">
                <a:solidFill>
                  <a:srgbClr val="440154"/>
                </a:solidFill>
                <a:latin typeface="Cambria" pitchFamily="34" charset="0"/>
                <a:ea typeface="Cambria" pitchFamily="34" charset="-122"/>
                <a:cs typeface="Cambria" pitchFamily="34" charset="-120"/>
              </a:rPr>
              <a:t>R computes every number and runs every test. The model only drafts wording.</a:t>
            </a:r>
            <a:endParaRPr lang="en-US" sz="1900" dirty="0"/>
          </a:p>
        </p:txBody>
      </p:sp>
      <p:sp>
        <p:nvSpPr>
          <p:cNvPr id="27" name="Text 25"/>
          <p:cNvSpPr/>
          <p:nvPr/>
        </p:nvSpPr>
        <p:spPr>
          <a:xfrm>
            <a:off x="685800" y="56692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No number in this briefing was produced by a language model.</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A one-country pilot shows what this adds before scaling up</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NEXT STEP</a:t>
            </a:r>
            <a:endParaRPr lang="en-US" sz="1000" dirty="0"/>
          </a:p>
        </p:txBody>
      </p:sp>
      <p:sp>
        <p:nvSpPr>
          <p:cNvPr id="9" name="Shape 9"/>
          <p:cNvSpPr/>
          <p:nvPr/>
        </p:nvSpPr>
        <p:spPr>
          <a:xfrm>
            <a:off x="685800" y="1508760"/>
            <a:ext cx="5212080" cy="2834640"/>
          </a:xfrm>
          <a:prstGeom prst="roundRect">
            <a:avLst>
              <a:gd name="adj" fmla="val 1000"/>
            </a:avLst>
          </a:prstGeom>
          <a:solidFill>
            <a:srgbClr val="E9F7EC"/>
          </a:solidFill>
          <a:ln w="12700">
            <a:solidFill>
              <a:srgbClr val="E9F7EC"/>
            </a:solidFill>
            <a:prstDash val="solid"/>
          </a:ln>
        </p:spPr>
      </p:sp>
      <p:sp>
        <p:nvSpPr>
          <p:cNvPr id="10" name="Text 10"/>
          <p:cNvSpPr/>
          <p:nvPr/>
        </p:nvSpPr>
        <p:spPr>
          <a:xfrm>
            <a:off x="1005840" y="1709928"/>
            <a:ext cx="45720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The pilot</a:t>
            </a:r>
            <a:endParaRPr lang="en-US" sz="1000" dirty="0"/>
          </a:p>
        </p:txBody>
      </p:sp>
      <p:sp>
        <p:nvSpPr>
          <p:cNvPr id="11" name="Shape 11"/>
          <p:cNvSpPr/>
          <p:nvPr/>
        </p:nvSpPr>
        <p:spPr>
          <a:xfrm>
            <a:off x="1051560" y="2231136"/>
            <a:ext cx="182880" cy="182880"/>
          </a:xfrm>
          <a:prstGeom prst="ellipse">
            <a:avLst/>
          </a:prstGeom>
          <a:solidFill>
            <a:srgbClr val="5EC962"/>
          </a:solidFill>
          <a:ln/>
        </p:spPr>
      </p:sp>
      <p:sp>
        <p:nvSpPr>
          <p:cNvPr id="12" name="Text 12"/>
          <p:cNvSpPr/>
          <p:nvPr/>
        </p:nvSpPr>
        <p:spPr>
          <a:xfrm>
            <a:off x="1399032" y="219456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One country and one topic, such as trust in institutions or security concerns.</a:t>
            </a:r>
            <a:endParaRPr lang="en-US" sz="1000" dirty="0"/>
          </a:p>
        </p:txBody>
      </p:sp>
      <p:sp>
        <p:nvSpPr>
          <p:cNvPr id="13" name="Shape 13"/>
          <p:cNvSpPr/>
          <p:nvPr/>
        </p:nvSpPr>
        <p:spPr>
          <a:xfrm>
            <a:off x="1051560" y="2916936"/>
            <a:ext cx="182880" cy="182880"/>
          </a:xfrm>
          <a:prstGeom prst="ellipse">
            <a:avLst/>
          </a:prstGeom>
          <a:solidFill>
            <a:srgbClr val="5EC962"/>
          </a:solidFill>
          <a:ln/>
        </p:spPr>
      </p:sp>
      <p:sp>
        <p:nvSpPr>
          <p:cNvPr id="14" name="Text 14"/>
          <p:cNvSpPr/>
          <p:nvPr/>
        </p:nvSpPr>
        <p:spPr>
          <a:xfrm>
            <a:off x="1399032" y="288036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 survey file already in hand, with its sample-design information.</a:t>
            </a:r>
            <a:endParaRPr lang="en-US" sz="1000" dirty="0"/>
          </a:p>
        </p:txBody>
      </p:sp>
      <p:sp>
        <p:nvSpPr>
          <p:cNvPr id="15" name="Shape 15"/>
          <p:cNvSpPr/>
          <p:nvPr/>
        </p:nvSpPr>
        <p:spPr>
          <a:xfrm>
            <a:off x="1051560" y="3602736"/>
            <a:ext cx="182880" cy="182880"/>
          </a:xfrm>
          <a:prstGeom prst="ellipse">
            <a:avLst/>
          </a:prstGeom>
          <a:solidFill>
            <a:srgbClr val="5EC962"/>
          </a:solidFill>
          <a:ln/>
        </p:spPr>
      </p:sp>
      <p:sp>
        <p:nvSpPr>
          <p:cNvPr id="16" name="Text 16"/>
          <p:cNvSpPr/>
          <p:nvPr/>
        </p:nvSpPr>
        <p:spPr>
          <a:xfrm>
            <a:off x="1399032" y="356616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Delivers: the publics, their size, where they are, and how sure we are.</a:t>
            </a:r>
            <a:endParaRPr lang="en-US" sz="1000" dirty="0"/>
          </a:p>
        </p:txBody>
      </p:sp>
      <p:sp>
        <p:nvSpPr>
          <p:cNvPr id="17" name="Shape 17"/>
          <p:cNvSpPr/>
          <p:nvPr/>
        </p:nvSpPr>
        <p:spPr>
          <a:xfrm>
            <a:off x="6537960" y="1508760"/>
            <a:ext cx="4937760" cy="2834640"/>
          </a:xfrm>
          <a:prstGeom prst="roundRect">
            <a:avLst>
              <a:gd name="adj" fmla="val 1000"/>
            </a:avLst>
          </a:prstGeom>
          <a:solidFill>
            <a:srgbClr val="F1EBF4"/>
          </a:solidFill>
          <a:ln w="12700">
            <a:solidFill>
              <a:srgbClr val="F1EBF4"/>
            </a:solidFill>
            <a:prstDash val="solid"/>
          </a:ln>
        </p:spPr>
      </p:sp>
      <p:sp>
        <p:nvSpPr>
          <p:cNvPr id="18" name="Text 18"/>
          <p:cNvSpPr/>
          <p:nvPr/>
        </p:nvSpPr>
        <p:spPr>
          <a:xfrm>
            <a:off x="6858000" y="1709928"/>
            <a:ext cx="438912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Where it can go next</a:t>
            </a:r>
            <a:endParaRPr lang="en-US" sz="1000" dirty="0"/>
          </a:p>
        </p:txBody>
      </p:sp>
      <p:sp>
        <p:nvSpPr>
          <p:cNvPr id="19" name="Shape 19"/>
          <p:cNvSpPr/>
          <p:nvPr/>
        </p:nvSpPr>
        <p:spPr>
          <a:xfrm>
            <a:off x="6903720" y="2231136"/>
            <a:ext cx="182880" cy="182880"/>
          </a:xfrm>
          <a:prstGeom prst="ellipse">
            <a:avLst/>
          </a:prstGeom>
          <a:solidFill>
            <a:srgbClr val="440154"/>
          </a:solidFill>
          <a:ln/>
        </p:spPr>
      </p:sp>
      <p:sp>
        <p:nvSpPr>
          <p:cNvPr id="20" name="Text 20"/>
          <p:cNvSpPr/>
          <p:nvPr/>
        </p:nvSpPr>
        <p:spPr>
          <a:xfrm>
            <a:off x="7251192" y="219456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Neighboring countries or new survey waves, once question equivalence is checked.</a:t>
            </a:r>
            <a:endParaRPr lang="en-US" sz="1000" dirty="0"/>
          </a:p>
        </p:txBody>
      </p:sp>
      <p:sp>
        <p:nvSpPr>
          <p:cNvPr id="21" name="Shape 21"/>
          <p:cNvSpPr/>
          <p:nvPr/>
        </p:nvSpPr>
        <p:spPr>
          <a:xfrm>
            <a:off x="6903720" y="2916936"/>
            <a:ext cx="182880" cy="182880"/>
          </a:xfrm>
          <a:prstGeom prst="ellipse">
            <a:avLst/>
          </a:prstGeom>
          <a:solidFill>
            <a:srgbClr val="440154"/>
          </a:solidFill>
          <a:ln/>
        </p:spPr>
      </p:sp>
      <p:sp>
        <p:nvSpPr>
          <p:cNvPr id="22" name="Text 22"/>
          <p:cNvSpPr/>
          <p:nvPr/>
        </p:nvSpPr>
        <p:spPr>
          <a:xfrm>
            <a:off x="7251192" y="288036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 standing library of foreign publics for recurring briefings.</a:t>
            </a:r>
            <a:endParaRPr lang="en-US" sz="1000" dirty="0"/>
          </a:p>
        </p:txBody>
      </p:sp>
      <p:sp>
        <p:nvSpPr>
          <p:cNvPr id="23" name="Shape 23"/>
          <p:cNvSpPr/>
          <p:nvPr/>
        </p:nvSpPr>
        <p:spPr>
          <a:xfrm>
            <a:off x="6903720" y="3602736"/>
            <a:ext cx="182880" cy="182880"/>
          </a:xfrm>
          <a:prstGeom prst="ellipse">
            <a:avLst/>
          </a:prstGeom>
          <a:solidFill>
            <a:srgbClr val="440154"/>
          </a:solidFill>
          <a:ln/>
        </p:spPr>
      </p:sp>
      <p:sp>
        <p:nvSpPr>
          <p:cNvPr id="24" name="Text 24"/>
          <p:cNvSpPr/>
          <p:nvPr/>
        </p:nvSpPr>
        <p:spPr>
          <a:xfrm>
            <a:off x="7251192" y="356616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Pairing with program data to see which publics a program reaches.</a:t>
            </a:r>
            <a:endParaRPr lang="en-US" sz="1000" dirty="0"/>
          </a:p>
        </p:txBody>
      </p:sp>
      <p:sp>
        <p:nvSpPr>
          <p:cNvPr id="25" name="Shape 25"/>
          <p:cNvSpPr/>
          <p:nvPr/>
        </p:nvSpPr>
        <p:spPr>
          <a:xfrm>
            <a:off x="685800" y="4480560"/>
            <a:ext cx="10789920" cy="1005840"/>
          </a:xfrm>
          <a:prstGeom prst="roundRect">
            <a:avLst>
              <a:gd name="adj" fmla="val 1724"/>
            </a:avLst>
          </a:prstGeom>
          <a:solidFill>
            <a:srgbClr val="E8F3F2"/>
          </a:solidFill>
          <a:ln w="12700">
            <a:solidFill>
              <a:srgbClr val="E8F3F2"/>
            </a:solidFill>
            <a:prstDash val="solid"/>
          </a:ln>
        </p:spPr>
      </p:sp>
      <p:sp>
        <p:nvSpPr>
          <p:cNvPr id="26" name="Text 26"/>
          <p:cNvSpPr/>
          <p:nvPr/>
        </p:nvSpPr>
        <p:spPr>
          <a:xfrm>
            <a:off x="1143000" y="4480560"/>
            <a:ext cx="9875520" cy="1005840"/>
          </a:xfrm>
          <a:prstGeom prst="rect">
            <a:avLst/>
          </a:prstGeom>
          <a:noFill/>
          <a:ln/>
        </p:spPr>
        <p:txBody>
          <a:bodyPr wrap="square" lIns="0" tIns="0" rIns="0" bIns="0" rtlCol="0" anchor="ctr"/>
          <a:lstStyle/>
          <a:p>
            <a:pPr algn="ctr" indent="0" marL="0">
              <a:buNone/>
            </a:pPr>
            <a:r>
              <a:rPr lang="en-US" sz="1700" b="1" dirty="0">
                <a:solidFill>
                  <a:srgbClr val="440154"/>
                </a:solidFill>
                <a:latin typeface="Calibri" pitchFamily="34" charset="0"/>
                <a:ea typeface="Calibri" pitchFamily="34" charset="-122"/>
                <a:cs typeface="Calibri" pitchFamily="34" charset="-120"/>
              </a:rPr>
              <a:t>Next step: choose the country and topic for the pilot.</a:t>
            </a:r>
          </a:p>
        </p:txBody>
      </p:sp>
      <p:sp>
        <p:nvSpPr>
          <p:cNvPr id="27" name="Text 27"/>
          <p:cNvSpPr/>
          <p:nvPr/>
        </p:nvSpPr>
        <p:spPr>
          <a:xfrm>
            <a:off x="685800" y="5669280"/>
            <a:ext cx="10789920" cy="320040"/>
          </a:xfrm>
          <a:prstGeom prst="rect">
            <a:avLst/>
          </a:prstGeom>
          <a:noFill/>
          <a:ln/>
        </p:spPr>
        <p:txBody>
          <a:bodyPr wrap="square" lIns="0" tIns="0" rIns="0" bIns="0" rtlCol="0" anchor="ctr"/>
          <a:lstStyle/>
          <a:p>
            <a:pPr algn="ctr" indent="0" marL="0">
              <a:buNone/>
            </a:pPr>
            <a:r>
              <a:rPr lang="en-US" sz="1200" b="1" dirty="0">
                <a:solidFill>
                  <a:srgbClr val="BBA800"/>
                </a:solidFill>
                <a:latin typeface="Calibri" pitchFamily="34" charset="0"/>
                <a:ea typeface="Calibri" pitchFamily="34" charset="-122"/>
                <a:cs typeface="Calibri" pitchFamily="34" charset="-120"/>
              </a:rPr>
              <a:t>[Add the timeline and staffing estimate before presenting]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26</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Every stage of Total Survey Error is in scope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FRAMEWORK THIS SITS IN</a:t>
            </a:r>
            <a:endParaRPr lang="en-US" sz="1000" dirty="0"/>
          </a:p>
        </p:txBody>
      </p:sp>
      <p:pic>
        <p:nvPicPr>
          <p:cNvPr id="9" name="Image 0" descr="img/p4.png">    </p:cNvPr>
          <p:cNvPicPr>
            <a:picLocks noChangeAspect="1"/>
          </p:cNvPicPr>
          <p:nvPr/>
        </p:nvPicPr>
        <p:blipFill>
          <a:blip r:embed="rId1"/>
          <a:stretch>
            <a:fillRect/>
          </a:stretch>
        </p:blipFill>
        <p:spPr>
          <a:xfrm>
            <a:off x="2194560" y="1554480"/>
            <a:ext cx="7772400" cy="3429000"/>
          </a:xfrm>
          <a:prstGeom prst="rect">
            <a:avLst/>
          </a:prstGeom>
        </p:spPr>
      </p:pic>
      <p:sp>
        <p:nvSpPr>
          <p:cNvPr id="10" name="Text 7"/>
          <p:cNvSpPr/>
          <p:nvPr/>
        </p:nvSpPr>
        <p:spPr>
          <a:xfrm>
            <a:off x="685800" y="521208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This project touches validity, measurement error, processing error, sampling error, and adjustment error.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21</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Four moves yield a defensible variance estimate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ASKED HOW IT WORKS</a:t>
            </a:r>
            <a:endParaRPr lang="en-US" sz="1000" dirty="0"/>
          </a:p>
        </p:txBody>
      </p:sp>
      <p:sp>
        <p:nvSpPr>
          <p:cNvPr id="9" name="Shape 7"/>
          <p:cNvSpPr/>
          <p:nvPr/>
        </p:nvSpPr>
        <p:spPr>
          <a:xfrm>
            <a:off x="685800" y="1600200"/>
            <a:ext cx="5212080" cy="1554480"/>
          </a:xfrm>
          <a:prstGeom prst="roundRect">
            <a:avLst>
              <a:gd name="adj" fmla="val 2941"/>
            </a:avLst>
          </a:prstGeom>
          <a:solidFill>
            <a:srgbClr val="F7F7F7"/>
          </a:solidFill>
          <a:ln w="12700">
            <a:solidFill>
              <a:srgbClr val="E4E4E4"/>
            </a:solidFill>
            <a:prstDash val="solid"/>
          </a:ln>
        </p:spPr>
      </p:sp>
      <p:sp>
        <p:nvSpPr>
          <p:cNvPr id="10" name="Shape 8"/>
          <p:cNvSpPr/>
          <p:nvPr/>
        </p:nvSpPr>
        <p:spPr>
          <a:xfrm>
            <a:off x="960120" y="1856232"/>
            <a:ext cx="310896" cy="310896"/>
          </a:xfrm>
          <a:prstGeom prst="ellipse">
            <a:avLst/>
          </a:prstGeom>
          <a:solidFill>
            <a:srgbClr val="21918C"/>
          </a:solidFill>
          <a:ln/>
        </p:spPr>
      </p:sp>
      <p:sp>
        <p:nvSpPr>
          <p:cNvPr id="11" name="Text 9"/>
          <p:cNvSpPr/>
          <p:nvPr/>
        </p:nvSpPr>
        <p:spPr>
          <a:xfrm>
            <a:off x="139903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1. Weight the likelihood</a:t>
            </a:r>
            <a:endParaRPr lang="en-US" sz="1500" dirty="0"/>
          </a:p>
        </p:txBody>
      </p:sp>
      <p:sp>
        <p:nvSpPr>
          <p:cNvPr id="12" name="Text 10"/>
          <p:cNvSpPr/>
          <p:nvPr/>
        </p:nvSpPr>
        <p:spPr>
          <a:xfrm>
            <a:off x="960120" y="228600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Every respondent contributes in proportion to the population they represent.</a:t>
            </a:r>
            <a:endParaRPr lang="en-US" sz="1300" dirty="0"/>
          </a:p>
        </p:txBody>
      </p:sp>
      <p:sp>
        <p:nvSpPr>
          <p:cNvPr id="13" name="Shape 11"/>
          <p:cNvSpPr/>
          <p:nvPr/>
        </p:nvSpPr>
        <p:spPr>
          <a:xfrm>
            <a:off x="6263640" y="1600200"/>
            <a:ext cx="5212080" cy="1554480"/>
          </a:xfrm>
          <a:prstGeom prst="roundRect">
            <a:avLst>
              <a:gd name="adj" fmla="val 2941"/>
            </a:avLst>
          </a:prstGeom>
          <a:solidFill>
            <a:srgbClr val="F7F7F7"/>
          </a:solidFill>
          <a:ln w="12700">
            <a:solidFill>
              <a:srgbClr val="E4E4E4"/>
            </a:solidFill>
            <a:prstDash val="solid"/>
          </a:ln>
        </p:spPr>
      </p:sp>
      <p:sp>
        <p:nvSpPr>
          <p:cNvPr id="14" name="Shape 12"/>
          <p:cNvSpPr/>
          <p:nvPr/>
        </p:nvSpPr>
        <p:spPr>
          <a:xfrm>
            <a:off x="6537960" y="1856232"/>
            <a:ext cx="310896" cy="310896"/>
          </a:xfrm>
          <a:prstGeom prst="ellipse">
            <a:avLst/>
          </a:prstGeom>
          <a:solidFill>
            <a:srgbClr val="3B528B"/>
          </a:solidFill>
          <a:ln/>
        </p:spPr>
      </p:sp>
      <p:sp>
        <p:nvSpPr>
          <p:cNvPr id="15" name="Text 13"/>
          <p:cNvSpPr/>
          <p:nvPr/>
        </p:nvSpPr>
        <p:spPr>
          <a:xfrm>
            <a:off x="6976872" y="181965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2. Calibrate the criteria</a:t>
            </a:r>
            <a:endParaRPr lang="en-US" sz="1500" dirty="0"/>
          </a:p>
        </p:txBody>
      </p:sp>
      <p:sp>
        <p:nvSpPr>
          <p:cNvPr id="16" name="Text 14"/>
          <p:cNvSpPr/>
          <p:nvPr/>
        </p:nvSpPr>
        <p:spPr>
          <a:xfrm>
            <a:off x="6537960" y="228600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Base weights do not sum to n, so fit statistics are rescaled before comparison to a sample-size penalty.</a:t>
            </a:r>
            <a:endParaRPr lang="en-US" sz="1300" dirty="0"/>
          </a:p>
        </p:txBody>
      </p:sp>
      <p:sp>
        <p:nvSpPr>
          <p:cNvPr id="17" name="Shape 15"/>
          <p:cNvSpPr/>
          <p:nvPr/>
        </p:nvSpPr>
        <p:spPr>
          <a:xfrm>
            <a:off x="685800" y="3383280"/>
            <a:ext cx="5212080" cy="1554480"/>
          </a:xfrm>
          <a:prstGeom prst="roundRect">
            <a:avLst>
              <a:gd name="adj" fmla="val 2941"/>
            </a:avLst>
          </a:prstGeom>
          <a:solidFill>
            <a:srgbClr val="F7F7F7"/>
          </a:solidFill>
          <a:ln w="12700">
            <a:solidFill>
              <a:srgbClr val="E4E4E4"/>
            </a:solidFill>
            <a:prstDash val="solid"/>
          </a:ln>
        </p:spPr>
      </p:sp>
      <p:sp>
        <p:nvSpPr>
          <p:cNvPr id="18" name="Shape 16"/>
          <p:cNvSpPr/>
          <p:nvPr/>
        </p:nvSpPr>
        <p:spPr>
          <a:xfrm>
            <a:off x="960120" y="3639312"/>
            <a:ext cx="310896" cy="310896"/>
          </a:xfrm>
          <a:prstGeom prst="ellipse">
            <a:avLst/>
          </a:prstGeom>
          <a:solidFill>
            <a:srgbClr val="440154"/>
          </a:solidFill>
          <a:ln/>
        </p:spPr>
      </p:sp>
      <p:sp>
        <p:nvSpPr>
          <p:cNvPr id="19" name="Text 17"/>
          <p:cNvSpPr/>
          <p:nvPr/>
        </p:nvSpPr>
        <p:spPr>
          <a:xfrm>
            <a:off x="139903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3. Replicate the variance</a:t>
            </a:r>
            <a:endParaRPr lang="en-US" sz="1500" dirty="0"/>
          </a:p>
        </p:txBody>
      </p:sp>
      <p:sp>
        <p:nvSpPr>
          <p:cNvPr id="20" name="Text 18"/>
          <p:cNvSpPr/>
          <p:nvPr/>
        </p:nvSpPr>
        <p:spPr>
          <a:xfrm>
            <a:off x="960120" y="406908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A weighted likelihood gives no usable information matrix, so the model is refit on 130 jackknife replicates.</a:t>
            </a:r>
            <a:endParaRPr lang="en-US" sz="1300" dirty="0"/>
          </a:p>
        </p:txBody>
      </p:sp>
      <p:sp>
        <p:nvSpPr>
          <p:cNvPr id="21" name="Shape 19"/>
          <p:cNvSpPr/>
          <p:nvPr/>
        </p:nvSpPr>
        <p:spPr>
          <a:xfrm>
            <a:off x="6263640" y="3383280"/>
            <a:ext cx="5212080" cy="1554480"/>
          </a:xfrm>
          <a:prstGeom prst="roundRect">
            <a:avLst>
              <a:gd name="adj" fmla="val 2941"/>
            </a:avLst>
          </a:prstGeom>
          <a:solidFill>
            <a:srgbClr val="F7F7F7"/>
          </a:solidFill>
          <a:ln w="12700">
            <a:solidFill>
              <a:srgbClr val="E4E4E4"/>
            </a:solidFill>
            <a:prstDash val="solid"/>
          </a:ln>
        </p:spPr>
      </p:sp>
      <p:sp>
        <p:nvSpPr>
          <p:cNvPr id="22" name="Shape 20"/>
          <p:cNvSpPr/>
          <p:nvPr/>
        </p:nvSpPr>
        <p:spPr>
          <a:xfrm>
            <a:off x="6537960" y="3639312"/>
            <a:ext cx="310896" cy="310896"/>
          </a:xfrm>
          <a:prstGeom prst="ellipse">
            <a:avLst/>
          </a:prstGeom>
          <a:solidFill>
            <a:srgbClr val="BBA800"/>
          </a:solidFill>
          <a:ln/>
        </p:spPr>
      </p:sp>
      <p:sp>
        <p:nvSpPr>
          <p:cNvPr id="23" name="Text 21"/>
          <p:cNvSpPr/>
          <p:nvPr/>
        </p:nvSpPr>
        <p:spPr>
          <a:xfrm>
            <a:off x="6976872" y="3602736"/>
            <a:ext cx="4297680" cy="36576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4. Correct the classification</a:t>
            </a:r>
            <a:endParaRPr lang="en-US" sz="1500" dirty="0"/>
          </a:p>
        </p:txBody>
      </p:sp>
      <p:sp>
        <p:nvSpPr>
          <p:cNvPr id="24" name="Text 22"/>
          <p:cNvSpPr/>
          <p:nvPr/>
        </p:nvSpPr>
        <p:spPr>
          <a:xfrm>
            <a:off x="6537960" y="4069080"/>
            <a:ext cx="4663440" cy="731520"/>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Assignment is imperfect. BCH removes the resulting bias before any demographic comparison.</a:t>
            </a:r>
            <a:endParaRPr lang="en-US" sz="1300" dirty="0"/>
          </a:p>
        </p:txBody>
      </p:sp>
      <p:sp>
        <p:nvSpPr>
          <p:cNvPr id="25" name="Text 23"/>
          <p:cNvSpPr/>
          <p:nvPr/>
        </p:nvSpPr>
        <p:spPr>
          <a:xfrm>
            <a:off x="685800" y="53492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Design: 4 strata, 130 PSUs, 126 degrees of freedom for every interval in this deck.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22</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Clustering and latent class analysis differ in kind</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ASKED ABOUT PEW</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789920" cy="914400"/>
        </p:xfrm>
        <a:graphic>
          <a:graphicData uri="http://schemas.openxmlformats.org/drawingml/2006/table">
            <a:tbl>
              <a:tblPr/>
              <a:tblGrid>
                <a:gridCol w="2651760"/>
                <a:gridCol w="4069080"/>
                <a:gridCol w="4069080"/>
              </a:tblGrid>
              <a:tr h="402336">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Distance-based partition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Latent class analysis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An algorithm that partitions this sample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model of the population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Requires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distance you choose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likelihood the data imply</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Number of groups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Elbow or silhouette heuristics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AIC, BIC, entropy: comparable fit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Assignment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Hard. One label per person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A probability per person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Survey weights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Can size the groups, not the variance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Enter the likelihood directly</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440154"/>
                          </a:solidFill>
                          <a:latin typeface="Calibri" pitchFamily="34" charset="0"/>
                          <a:ea typeface="Calibri" pitchFamily="34" charset="-122"/>
                          <a:cs typeface="Calibri" pitchFamily="34" charset="-120"/>
                        </a:rPr>
                        <a:t>What you report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Shares in this file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indent="0" marL="0">
                        <a:buNone/>
                      </a:pPr>
                      <a:r>
                        <a:rPr lang="en-US" sz="1300" dirty="0">
                          <a:solidFill>
                            <a:srgbClr val="1F1F1F"/>
                          </a:solidFill>
                          <a:latin typeface="Calibri" pitchFamily="34" charset="0"/>
                          <a:ea typeface="Calibri" pitchFamily="34" charset="-122"/>
                          <a:cs typeface="Calibri" pitchFamily="34" charset="-120"/>
                        </a:rPr>
                        <a:t>Population shares with intervals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bl>
          </a:graphicData>
        </a:graphic>
      </p:graphicFrame>
      <p:sp>
        <p:nvSpPr>
          <p:cNvPr id="10" name="Shape 7"/>
          <p:cNvSpPr/>
          <p:nvPr/>
        </p:nvSpPr>
        <p:spPr>
          <a:xfrm>
            <a:off x="685800" y="4572000"/>
            <a:ext cx="10789920" cy="914400"/>
          </a:xfrm>
          <a:prstGeom prst="roundRect">
            <a:avLst>
              <a:gd name="adj" fmla="val 5000"/>
            </a:avLst>
          </a:prstGeom>
          <a:solidFill>
            <a:srgbClr val="E8F3F2"/>
          </a:solidFill>
          <a:ln w="12700">
            <a:solidFill>
              <a:srgbClr val="E8F3F2"/>
            </a:solidFill>
            <a:prstDash val="solid"/>
          </a:ln>
        </p:spPr>
      </p:sp>
      <p:sp>
        <p:nvSpPr>
          <p:cNvPr id="11" name="Text 8"/>
          <p:cNvSpPr/>
          <p:nvPr/>
        </p:nvSpPr>
        <p:spPr>
          <a:xfrm>
            <a:off x="685800" y="4572000"/>
            <a:ext cx="10789920" cy="91440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Clustering is a fine exploratory tool. The objection is to reporting a cluster share as a population estimate.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23</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open-source gap is weighted LCA with variance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TOOLING GAP</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10789920" cy="914400"/>
        </p:xfrm>
        <a:graphic>
          <a:graphicData uri="http://schemas.openxmlformats.org/drawingml/2006/table">
            <a:tbl>
              <a:tblPr/>
              <a:tblGrid>
                <a:gridCol w="3108960"/>
                <a:gridCol w="2834640"/>
                <a:gridCol w="3108960"/>
                <a:gridCol w="173736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Weighted likelihood</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Design-based variance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Open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440154"/>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poLCA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survey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 mixture models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Mplus, Latent GOLD</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linearization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dirty="0">
                          <a:solidFill>
                            <a:srgbClr val="1F1F1F"/>
                          </a:solidFill>
                          <a:latin typeface="Calibri" pitchFamily="34" charset="0"/>
                          <a:ea typeface="Calibri" pitchFamily="34" charset="-122"/>
                          <a:cs typeface="Calibri" pitchFamily="34" charset="-120"/>
                        </a:rPr>
                        <a:t>baysc (R)</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 Bayesian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sandwich adjustment</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F1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FFFFFF"/>
                    </a:solidFill>
                  </a:tcPr>
                </a:tc>
              </a:tr>
              <a:tr h="420624">
                <a:tc>
                  <a:txBody>
                    <a:bodyPr/>
                    <a:lstStyle/>
                    <a:p>
                      <a:pPr algn="l" indent="0" marL="0">
                        <a:buNone/>
                      </a:pPr>
                      <a:r>
                        <a:rPr lang="en-US" sz="1300" b="1" dirty="0">
                          <a:solidFill>
                            <a:srgbClr val="440154"/>
                          </a:solidFill>
                          <a:latin typeface="Calibri" pitchFamily="34" charset="0"/>
                          <a:ea typeface="Calibri" pitchFamily="34" charset="-122"/>
                          <a:cs typeface="Calibri" pitchFamily="34" charset="-120"/>
                        </a:rPr>
                        <a:t>This pipeline</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replicate (JKn)</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c>
                  <a:txBody>
                    <a:bodyPr/>
                    <a:lstStyle/>
                    <a:p>
                      <a:pPr algn="ctr" indent="0" marL="0">
                        <a:buNone/>
                      </a:pPr>
                      <a:r>
                        <a:rPr lang="en-US" sz="1300" b="1" dirty="0">
                          <a:solidFill>
                            <a:srgbClr val="440154"/>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E8F3F2"/>
                    </a:solidFill>
                  </a:tcPr>
                </a:tc>
              </a:tr>
            </a:tbl>
          </a:graphicData>
        </a:graphic>
      </p:graphicFrame>
      <p:sp>
        <p:nvSpPr>
          <p:cNvPr id="10" name="Text 7"/>
          <p:cNvSpPr/>
          <p:nvPr/>
        </p:nvSpPr>
        <p:spPr>
          <a:xfrm>
            <a:off x="685800" y="4663440"/>
            <a:ext cx="10789920" cy="457200"/>
          </a:xfrm>
          <a:prstGeom prst="rect">
            <a:avLst/>
          </a:prstGeom>
          <a:noFill/>
          <a:ln/>
        </p:spPr>
        <p:txBody>
          <a:bodyPr wrap="square" lIns="0" tIns="0" rIns="0" bIns="0" rtlCol="0" anchor="ctr"/>
          <a:lstStyle/>
          <a:p>
            <a:pPr indent="0" marL="0">
              <a:buNone/>
            </a:pPr>
            <a:r>
              <a:rPr lang="en-US" sz="1500" dirty="0">
                <a:solidFill>
                  <a:srgbClr val="1F1F1F"/>
                </a:solidFill>
                <a:latin typeface="Calibri" pitchFamily="34" charset="0"/>
                <a:ea typeface="Calibri" pitchFamily="34" charset="-122"/>
                <a:cs typeface="Calibri" pitchFamily="34" charset="-120"/>
              </a:rPr>
              <a:t>Mplus and Latent GOLD do this well and cost money. The gap is specific, not a claim that nobody solved segmentation.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24</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Four safeguards make the numbers reproducible</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REPRODUCIBILITY</a:t>
            </a:r>
            <a:endParaRPr lang="en-US" sz="1000" dirty="0"/>
          </a:p>
        </p:txBody>
      </p:sp>
      <p:sp>
        <p:nvSpPr>
          <p:cNvPr id="9" name="Shape 7"/>
          <p:cNvSpPr/>
          <p:nvPr/>
        </p:nvSpPr>
        <p:spPr>
          <a:xfrm>
            <a:off x="685800" y="1600200"/>
            <a:ext cx="10789920" cy="914400"/>
          </a:xfrm>
          <a:prstGeom prst="roundRect">
            <a:avLst>
              <a:gd name="adj" fmla="val 5000"/>
            </a:avLst>
          </a:prstGeom>
          <a:solidFill>
            <a:srgbClr val="E8F3F2"/>
          </a:solidFill>
          <a:ln w="12700">
            <a:solidFill>
              <a:srgbClr val="E8F3F2"/>
            </a:solidFill>
            <a:prstDash val="solid"/>
          </a:ln>
        </p:spPr>
      </p:sp>
      <p:sp>
        <p:nvSpPr>
          <p:cNvPr id="10" name="Text 8"/>
          <p:cNvSpPr/>
          <p:nvPr/>
        </p:nvSpPr>
        <p:spPr>
          <a:xfrm>
            <a:off x="1005840" y="1600200"/>
            <a:ext cx="10149840" cy="91440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Validation.  </a:t>
            </a:r>
            <a:pPr indent="0" marL="0">
              <a:buNone/>
            </a:pPr>
            <a:r>
              <a:rPr lang="en-US" sz="1400" dirty="0">
                <a:solidFill>
                  <a:srgbClr val="1F1F1F"/>
                </a:solidFill>
                <a:latin typeface="Calibri" pitchFamily="34" charset="0"/>
                <a:ea typeface="Calibri" pitchFamily="34" charset="-122"/>
                <a:cs typeface="Calibri" pitchFamily="34" charset="-120"/>
              </a:rPr>
              <a:t>At equal weights this estimator and an independent published implementation agree to 0.00000 on every segment share and every response probability.</a:t>
            </a:r>
            <a:endParaRPr lang="en-US" sz="1400" dirty="0"/>
          </a:p>
        </p:txBody>
      </p:sp>
      <p:sp>
        <p:nvSpPr>
          <p:cNvPr id="11" name="Shape 9"/>
          <p:cNvSpPr/>
          <p:nvPr/>
        </p:nvSpPr>
        <p:spPr>
          <a:xfrm>
            <a:off x="685800" y="2843784"/>
            <a:ext cx="256032" cy="256032"/>
          </a:xfrm>
          <a:prstGeom prst="ellipse">
            <a:avLst/>
          </a:prstGeom>
          <a:solidFill>
            <a:srgbClr val="5EC962"/>
          </a:solidFill>
          <a:ln/>
        </p:spPr>
      </p:sp>
      <p:sp>
        <p:nvSpPr>
          <p:cNvPr id="12" name="Text 10"/>
          <p:cNvSpPr/>
          <p:nvPr/>
        </p:nvSpPr>
        <p:spPr>
          <a:xfrm>
            <a:off x="1124712" y="2788920"/>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One verdict, one place.  </a:t>
            </a:r>
            <a:pPr indent="0" marL="0">
              <a:buNone/>
            </a:pPr>
            <a:r>
              <a:rPr lang="en-US" sz="1400" dirty="0">
                <a:solidFill>
                  <a:srgbClr val="1F1F1F"/>
                </a:solidFill>
                <a:latin typeface="Calibri" pitchFamily="34" charset="0"/>
                <a:ea typeface="Calibri" pitchFamily="34" charset="-122"/>
                <a:cs typeface="Calibri" pitchFamily="34" charset="-120"/>
              </a:rPr>
              <a:t>The validation result is written to disk and read by every downstream document.</a:t>
            </a:r>
            <a:endParaRPr lang="en-US" sz="1400" dirty="0"/>
          </a:p>
        </p:txBody>
      </p:sp>
      <p:sp>
        <p:nvSpPr>
          <p:cNvPr id="13" name="Shape 11"/>
          <p:cNvSpPr/>
          <p:nvPr/>
        </p:nvSpPr>
        <p:spPr>
          <a:xfrm>
            <a:off x="685800" y="3593592"/>
            <a:ext cx="256032" cy="256032"/>
          </a:xfrm>
          <a:prstGeom prst="ellipse">
            <a:avLst/>
          </a:prstGeom>
          <a:solidFill>
            <a:srgbClr val="5EC962"/>
          </a:solidFill>
          <a:ln/>
        </p:spPr>
      </p:sp>
      <p:sp>
        <p:nvSpPr>
          <p:cNvPr id="14" name="Text 12"/>
          <p:cNvSpPr/>
          <p:nvPr/>
        </p:nvSpPr>
        <p:spPr>
          <a:xfrm>
            <a:off x="1124712" y="3538728"/>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Frozen decisions.  </a:t>
            </a:r>
            <a:pPr indent="0" marL="0">
              <a:buNone/>
            </a:pPr>
            <a:r>
              <a:rPr lang="en-US" sz="1400" dirty="0">
                <a:solidFill>
                  <a:srgbClr val="1F1F1F"/>
                </a:solidFill>
                <a:latin typeface="Calibri" pitchFamily="34" charset="0"/>
                <a:ea typeface="Calibri" pitchFamily="34" charset="-122"/>
                <a:cs typeface="Calibri" pitchFamily="34" charset="-120"/>
              </a:rPr>
              <a:t>The number of groups and their names live in version control, not in someone's memory.</a:t>
            </a:r>
            <a:endParaRPr lang="en-US" sz="1400" dirty="0"/>
          </a:p>
        </p:txBody>
      </p:sp>
      <p:sp>
        <p:nvSpPr>
          <p:cNvPr id="15" name="Shape 13"/>
          <p:cNvSpPr/>
          <p:nvPr/>
        </p:nvSpPr>
        <p:spPr>
          <a:xfrm>
            <a:off x="685800" y="4343400"/>
            <a:ext cx="256032" cy="256032"/>
          </a:xfrm>
          <a:prstGeom prst="ellipse">
            <a:avLst/>
          </a:prstGeom>
          <a:solidFill>
            <a:srgbClr val="5EC962"/>
          </a:solidFill>
          <a:ln/>
        </p:spPr>
      </p:sp>
      <p:sp>
        <p:nvSpPr>
          <p:cNvPr id="16" name="Text 14"/>
          <p:cNvSpPr/>
          <p:nvPr/>
        </p:nvSpPr>
        <p:spPr>
          <a:xfrm>
            <a:off x="1124712" y="4288536"/>
            <a:ext cx="10332720" cy="640080"/>
          </a:xfrm>
          <a:prstGeom prst="rect">
            <a:avLst/>
          </a:prstGeom>
          <a:noFill/>
          <a:ln/>
        </p:spPr>
        <p:txBody>
          <a:bodyPr wrap="square" lIns="0" tIns="0" rIns="0" bIns="0" rtlCol="0" anchor="ctr"/>
          <a:lstStyle/>
          <a:p>
            <a:pPr indent="0" marL="0">
              <a:buNone/>
            </a:pPr>
            <a:r>
              <a:rPr lang="en-US" sz="1400" b="1" dirty="0">
                <a:solidFill>
                  <a:srgbClr val="440154"/>
                </a:solidFill>
                <a:latin typeface="Calibri" pitchFamily="34" charset="0"/>
                <a:ea typeface="Calibri" pitchFamily="34" charset="-122"/>
                <a:cs typeface="Calibri" pitchFamily="34" charset="-120"/>
              </a:rPr>
              <a:t>Rendered from source.  </a:t>
            </a:r>
            <a:pPr indent="0" marL="0">
              <a:buNone/>
            </a:pPr>
            <a:r>
              <a:rPr lang="en-US" sz="1400" dirty="0">
                <a:solidFill>
                  <a:srgbClr val="1F1F1F"/>
                </a:solidFill>
                <a:latin typeface="Calibri" pitchFamily="34" charset="0"/>
                <a:ea typeface="Calibri" pitchFamily="34" charset="-122"/>
                <a:cs typeface="Calibri" pitchFamily="34" charset="-120"/>
              </a:rPr>
              <a:t>Every figure was generated from stored model objects at compile time. Nothing was pasted.</a:t>
            </a:r>
            <a:endParaRPr lang="en-US" sz="1400" dirty="0"/>
          </a:p>
        </p:txBody>
      </p:sp>
      <p:sp>
        <p:nvSpPr>
          <p:cNvPr id="17" name="Shape 15"/>
          <p:cNvSpPr/>
          <p:nvPr/>
        </p:nvSpPr>
        <p:spPr>
          <a:xfrm>
            <a:off x="685800" y="5029200"/>
            <a:ext cx="10789920" cy="685800"/>
          </a:xfrm>
          <a:prstGeom prst="roundRect">
            <a:avLst>
              <a:gd name="adj" fmla="val 6667"/>
            </a:avLst>
          </a:prstGeom>
          <a:solidFill>
            <a:srgbClr val="F7F7F7"/>
          </a:solidFill>
          <a:ln w="12700">
            <a:solidFill>
              <a:srgbClr val="F7F7F7"/>
            </a:solidFill>
            <a:prstDash val="solid"/>
          </a:ln>
        </p:spPr>
      </p:sp>
      <p:sp>
        <p:nvSpPr>
          <p:cNvPr id="18" name="Text 16"/>
          <p:cNvSpPr/>
          <p:nvPr/>
        </p:nvSpPr>
        <p:spPr>
          <a:xfrm>
            <a:off x="685800" y="5029200"/>
            <a:ext cx="10789920" cy="685800"/>
          </a:xfrm>
          <a:prstGeom prst="rect">
            <a:avLst/>
          </a:prstGeom>
          <a:noFill/>
          <a:ln/>
        </p:spPr>
        <p:txBody>
          <a:bodyPr wrap="square" lIns="0" tIns="0" rIns="0" bIns="0" rtlCol="0" anchor="ctr"/>
          <a:lstStyle/>
          <a:p>
            <a:pPr algn="ctr" indent="0" marL="0">
              <a:buNone/>
            </a:pPr>
            <a:r>
              <a:rPr lang="en-US" sz="1400" dirty="0">
                <a:solidFill>
                  <a:srgbClr val="1F1F1F"/>
                </a:solidFill>
                <a:latin typeface="Calibri" pitchFamily="34" charset="0"/>
                <a:ea typeface="Calibri" pitchFamily="34" charset="-122"/>
                <a:cs typeface="Calibri" pitchFamily="34" charset="-120"/>
              </a:rPr>
              <a:t>1618 of 1622 respondents received a group, including 188 who skipped items but answered enough to be scored.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25</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The full response profile is what a label must match</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IF A LABEL IS CHALLENGED</a:t>
            </a:r>
            <a:endParaRPr lang="en-US" sz="1000" dirty="0"/>
          </a:p>
        </p:txBody>
      </p:sp>
      <p:pic>
        <p:nvPicPr>
          <p:cNvPr id="9" name="Image 0" descr="img/p29.png">    </p:cNvPr>
          <p:cNvPicPr>
            <a:picLocks noChangeAspect="1"/>
          </p:cNvPicPr>
          <p:nvPr/>
        </p:nvPicPr>
        <p:blipFill>
          <a:blip r:embed="rId1"/>
          <a:stretch>
            <a:fillRect/>
          </a:stretch>
        </p:blipFill>
        <p:spPr>
          <a:xfrm>
            <a:off x="1371600" y="1600200"/>
            <a:ext cx="9418320" cy="3785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61520" cy="256032"/>
          </a:xfrm>
          <a:prstGeom prst="rect">
            <a:avLst/>
          </a:prstGeom>
          <a:solidFill>
            <a:srgbClr val="006400"/>
          </a:solidFill>
          <a:ln/>
        </p:spPr>
      </p:sp>
      <p:sp>
        <p:nvSpPr>
          <p:cNvPr id="3" name="Text 1"/>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4" name="Shape 2"/>
          <p:cNvSpPr/>
          <p:nvPr/>
        </p:nvSpPr>
        <p:spPr>
          <a:xfrm>
            <a:off x="0" y="6601968"/>
            <a:ext cx="12161520" cy="256032"/>
          </a:xfrm>
          <a:prstGeom prst="rect">
            <a:avLst/>
          </a:prstGeom>
          <a:solidFill>
            <a:srgbClr val="006400"/>
          </a:solidFill>
          <a:ln/>
        </p:spPr>
      </p:sp>
      <p:sp>
        <p:nvSpPr>
          <p:cNvPr id="5" name="Text 3"/>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4"/>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27</a:t>
            </a:r>
            <a:endParaRPr lang="en-US" sz="1000" dirty="0"/>
          </a:p>
        </p:txBody>
      </p:sp>
      <p:sp>
        <p:nvSpPr>
          <p:cNvPr id="7" name="Text 5"/>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References</a:t>
            </a:r>
            <a:endParaRPr lang="en-US" sz="2700" dirty="0"/>
          </a:p>
        </p:txBody>
      </p:sp>
      <p:sp>
        <p:nvSpPr>
          <p:cNvPr id="8" name="Text 6"/>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SOURCES CITED</a:t>
            </a:r>
            <a:endParaRPr lang="en-US" sz="1000" dirty="0"/>
          </a:p>
        </p:txBody>
      </p:sp>
      <p:sp>
        <p:nvSpPr>
          <p:cNvPr id="9" name="Text 7"/>
          <p:cNvSpPr/>
          <p:nvPr/>
        </p:nvSpPr>
        <p:spPr>
          <a:xfrm>
            <a:off x="685800" y="1554480"/>
            <a:ext cx="5120640" cy="27432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Method</a:t>
            </a:r>
            <a:endParaRPr lang="en-US" sz="1500" dirty="0"/>
          </a:p>
        </p:txBody>
      </p:sp>
      <p:sp>
        <p:nvSpPr>
          <p:cNvPr id="10" name="Text 8"/>
          <p:cNvSpPr/>
          <p:nvPr/>
        </p:nvSpPr>
        <p:spPr>
          <a:xfrm>
            <a:off x="685800" y="1920240"/>
            <a:ext cx="5120640" cy="3657600"/>
          </a:xfrm>
          <a:prstGeom prst="rect">
            <a:avLst/>
          </a:prstGeom>
          <a:noFill/>
          <a:ln/>
        </p:spPr>
        <p:txBody>
          <a:bodyPr wrap="square" lIns="0" tIns="0" rIns="0" bIns="0" rtlCol="0" anchor="t"/>
          <a:lstStyle/>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Lazarsfeld, P. and Henry, N. (1968). Latent structure analysis. Houghton Mifflin.</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Goodman, L. (1974). Exploratory latent structure analysis. Biometrika 61(2).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Patterson, Dayton and Graubard (2002). Latent class analysis of complex sample survey data. JASA 97(459), 721 to 728.</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Bolck, Croon and Hagenaars (2004). Estimating latent structure models with categorical variables. Political Analysis 12(1), 3 to 27.</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Vermunt, J. (2010). Latent class modeling with covariates. Political Analysis 18(4), 450 to 469.</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Bakk, Oberski and Vermunt (2014). Relating latent class assignments to external variables. Political Analysis 22(4), 520 to 540.</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Lumley and Scott (2015). AIC and BIC for modeling with complex survey data. JSSAM 3(1), 1 to 18.</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Linzer and Lewis (2011). poLCA: polytomous variable latent class analysis. JSS 42(10).</a:t>
            </a:r>
            <a:endParaRPr lang="en-US" sz="1050" dirty="0"/>
          </a:p>
        </p:txBody>
      </p:sp>
      <p:sp>
        <p:nvSpPr>
          <p:cNvPr id="11" name="Text 9"/>
          <p:cNvSpPr/>
          <p:nvPr/>
        </p:nvSpPr>
        <p:spPr>
          <a:xfrm>
            <a:off x="6263640" y="1554480"/>
            <a:ext cx="5120640" cy="27432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Applications in public opinion</a:t>
            </a:r>
            <a:endParaRPr lang="en-US" sz="1500" dirty="0"/>
          </a:p>
        </p:txBody>
      </p:sp>
      <p:sp>
        <p:nvSpPr>
          <p:cNvPr id="12" name="Text 10"/>
          <p:cNvSpPr/>
          <p:nvPr/>
        </p:nvSpPr>
        <p:spPr>
          <a:xfrm>
            <a:off x="6263640" y="1920240"/>
            <a:ext cx="5120640" cy="3657600"/>
          </a:xfrm>
          <a:prstGeom prst="rect">
            <a:avLst/>
          </a:prstGeom>
          <a:noFill/>
          <a:ln/>
        </p:spPr>
        <p:txBody>
          <a:bodyPr wrap="square" lIns="0" tIns="0" rIns="0" bIns="0" rtlCol="0" anchor="t"/>
          <a:lstStyle/>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Breen, R. (2000). Why is support for extreme parties underestimated by surveys? BJPS 30(2), 375 to 382.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Blaydes and Linzer (2008). The political economy of women's support for fundamentalist Islam. World Politics 60(4), 576 to 609.</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Oser, Hooghe and Marien (2013). Is online participation distinct from offline? PRQ 66(1), 91 to 101.</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Bonikowski and DiMaggio (2016). Varieties of American popular nationalism. ASR 81(5).</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Alvarez, Levin and Núñez (2017). The four faces of political participation in Argentina. Journal of Politics 79(4), 1386 to 1402.</a:t>
            </a:r>
            <a:endParaRPr lang="en-US" sz="1050" dirty="0"/>
          </a:p>
          <a:p>
            <a:pPr indent="0" marL="0">
              <a:spcAft>
                <a:spcPts val="800"/>
              </a:spcAft>
              <a:buNone/>
            </a:pPr>
            <a:r>
              <a:rPr lang="en-US" sz="1050" dirty="0">
                <a:solidFill>
                  <a:srgbClr val="1F1F1F"/>
                </a:solidFill>
                <a:latin typeface="Calibri" pitchFamily="34" charset="0"/>
                <a:ea typeface="Calibri" pitchFamily="34" charset="-122"/>
                <a:cs typeface="Calibri" pitchFamily="34" charset="-120"/>
              </a:rPr>
              <a:t>Pew Research Center (2026). Beyond Red vs. Blue: The Political Typology, 10 June 2026. Appendix B: weighted clustering around medoids.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One-page summary to forward</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LEAVE-BEHIND</a:t>
            </a:r>
            <a:endParaRPr lang="en-US" sz="1000" dirty="0"/>
          </a:p>
        </p:txBody>
      </p:sp>
      <p:sp>
        <p:nvSpPr>
          <p:cNvPr id="9" name="Shape 9"/>
          <p:cNvSpPr/>
          <p:nvPr/>
        </p:nvSpPr>
        <p:spPr>
          <a:xfrm>
            <a:off x="960120" y="1550000"/>
            <a:ext cx="457200" cy="457200"/>
          </a:xfrm>
          <a:prstGeom prst="ellipse">
            <a:avLst/>
          </a:prstGeom>
          <a:solidFill>
            <a:srgbClr val="21918C"/>
          </a:solidFill>
          <a:ln/>
        </p:spPr>
      </p:sp>
      <p:sp>
        <p:nvSpPr>
          <p:cNvPr id="10" name="Text 10"/>
          <p:cNvSpPr/>
          <p:nvPr/>
        </p:nvSpPr>
        <p:spPr>
          <a:xfrm>
            <a:off x="960120" y="15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11"/>
          <p:cNvSpPr/>
          <p:nvPr/>
        </p:nvSpPr>
        <p:spPr>
          <a:xfrm>
            <a:off x="1600200" y="15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The point</a:t>
            </a:r>
            <a:endParaRPr lang="en-US" sz="1000" dirty="0"/>
          </a:p>
        </p:txBody>
      </p:sp>
      <p:sp>
        <p:nvSpPr>
          <p:cNvPr id="12" name="Text 12"/>
          <p:cNvSpPr/>
          <p:nvPr/>
        </p:nvSpPr>
        <p:spPr>
          <a:xfrm>
            <a:off x="1600200" y="20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Foreign opinion is not one audience. This shows the distinct publics inside a survey, and how big each is.</a:t>
            </a:r>
            <a:endParaRPr lang="en-US" sz="1000" dirty="0"/>
          </a:p>
        </p:txBody>
      </p:sp>
      <p:sp>
        <p:nvSpPr>
          <p:cNvPr id="13" name="Shape 13"/>
          <p:cNvSpPr/>
          <p:nvPr/>
        </p:nvSpPr>
        <p:spPr>
          <a:xfrm>
            <a:off x="960120" y="2450000"/>
            <a:ext cx="457200" cy="457200"/>
          </a:xfrm>
          <a:prstGeom prst="ellipse">
            <a:avLst/>
          </a:prstGeom>
          <a:solidFill>
            <a:srgbClr val="3B528B"/>
          </a:solidFill>
          <a:ln/>
        </p:spPr>
      </p:sp>
      <p:sp>
        <p:nvSpPr>
          <p:cNvPr id="14" name="Text 14"/>
          <p:cNvSpPr/>
          <p:nvPr/>
        </p:nvSpPr>
        <p:spPr>
          <a:xfrm>
            <a:off x="960120" y="24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000" dirty="0"/>
          </a:p>
        </p:txBody>
      </p:sp>
      <p:sp>
        <p:nvSpPr>
          <p:cNvPr id="15" name="Text 15"/>
          <p:cNvSpPr/>
          <p:nvPr/>
        </p:nvSpPr>
        <p:spPr>
          <a:xfrm>
            <a:off x="1600200" y="24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What it found</a:t>
            </a:r>
            <a:endParaRPr lang="en-US" sz="1000" dirty="0"/>
          </a:p>
        </p:txBody>
      </p:sp>
      <p:sp>
        <p:nvSpPr>
          <p:cNvPr id="16" name="Text 16"/>
          <p:cNvSpPr/>
          <p:nvPr/>
        </p:nvSpPr>
        <p:spPr>
          <a:xfrm>
            <a:off x="1600200" y="29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Ecuador 2023: five publics. About 1 in 10 adults distrust every institution.</a:t>
            </a:r>
            <a:endParaRPr lang="en-US" sz="1000" dirty="0"/>
          </a:p>
        </p:txBody>
      </p:sp>
      <p:sp>
        <p:nvSpPr>
          <p:cNvPr id="17" name="Shape 17"/>
          <p:cNvSpPr/>
          <p:nvPr/>
        </p:nvSpPr>
        <p:spPr>
          <a:xfrm>
            <a:off x="960120" y="3350000"/>
            <a:ext cx="457200" cy="457200"/>
          </a:xfrm>
          <a:prstGeom prst="ellipse">
            <a:avLst/>
          </a:prstGeom>
          <a:solidFill>
            <a:srgbClr val="440154"/>
          </a:solidFill>
          <a:ln/>
        </p:spPr>
      </p:sp>
      <p:sp>
        <p:nvSpPr>
          <p:cNvPr id="18" name="Text 18"/>
          <p:cNvSpPr/>
          <p:nvPr/>
        </p:nvSpPr>
        <p:spPr>
          <a:xfrm>
            <a:off x="960120" y="33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9"/>
          <p:cNvSpPr/>
          <p:nvPr/>
        </p:nvSpPr>
        <p:spPr>
          <a:xfrm>
            <a:off x="1600200" y="33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Why it matters</a:t>
            </a:r>
            <a:endParaRPr lang="en-US" sz="1000" dirty="0"/>
          </a:p>
        </p:txBody>
      </p:sp>
      <p:sp>
        <p:nvSpPr>
          <p:cNvPr id="20" name="Text 20"/>
          <p:cNvSpPr/>
          <p:nvPr/>
        </p:nvSpPr>
        <p:spPr>
          <a:xfrm>
            <a:off x="1600200" y="38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Among the president's harshest critics, half still trust other institutions; half reject them all.</a:t>
            </a:r>
            <a:endParaRPr lang="en-US" sz="1000" dirty="0"/>
          </a:p>
        </p:txBody>
      </p:sp>
      <p:sp>
        <p:nvSpPr>
          <p:cNvPr id="21" name="Shape 21"/>
          <p:cNvSpPr/>
          <p:nvPr/>
        </p:nvSpPr>
        <p:spPr>
          <a:xfrm>
            <a:off x="960120" y="4250000"/>
            <a:ext cx="457200" cy="457200"/>
          </a:xfrm>
          <a:prstGeom prst="ellipse">
            <a:avLst/>
          </a:prstGeom>
          <a:solidFill>
            <a:srgbClr val="BBA800"/>
          </a:solidFill>
          <a:ln/>
        </p:spPr>
      </p:sp>
      <p:sp>
        <p:nvSpPr>
          <p:cNvPr id="22" name="Text 22"/>
          <p:cNvSpPr/>
          <p:nvPr/>
        </p:nvSpPr>
        <p:spPr>
          <a:xfrm>
            <a:off x="960120" y="42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3"/>
          <p:cNvSpPr/>
          <p:nvPr/>
        </p:nvSpPr>
        <p:spPr>
          <a:xfrm>
            <a:off x="1600200" y="42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Why it can be trusted</a:t>
            </a:r>
            <a:endParaRPr lang="en-US" sz="1000" dirty="0"/>
          </a:p>
        </p:txBody>
      </p:sp>
      <p:sp>
        <p:nvSpPr>
          <p:cNvPr id="24" name="Text 24"/>
          <p:cNvSpPr/>
          <p:nvPr/>
        </p:nvSpPr>
        <p:spPr>
          <a:xfrm>
            <a:off x="1600200" y="47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Margins of error on every number, people make the calls, limits stated in every report.</a:t>
            </a:r>
            <a:endParaRPr lang="en-US" sz="1000" dirty="0"/>
          </a:p>
        </p:txBody>
      </p:sp>
      <p:sp>
        <p:nvSpPr>
          <p:cNvPr id="25" name="Shape 25"/>
          <p:cNvSpPr/>
          <p:nvPr/>
        </p:nvSpPr>
        <p:spPr>
          <a:xfrm>
            <a:off x="960120" y="5150000"/>
            <a:ext cx="457200" cy="457200"/>
          </a:xfrm>
          <a:prstGeom prst="ellipse">
            <a:avLst/>
          </a:prstGeom>
          <a:solidFill>
            <a:srgbClr val="5EC962"/>
          </a:solidFill>
          <a:ln/>
        </p:spPr>
      </p:sp>
      <p:sp>
        <p:nvSpPr>
          <p:cNvPr id="26" name="Text 26"/>
          <p:cNvSpPr/>
          <p:nvPr/>
        </p:nvSpPr>
        <p:spPr>
          <a:xfrm>
            <a:off x="960120" y="5150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000" dirty="0"/>
          </a:p>
        </p:txBody>
      </p:sp>
      <p:sp>
        <p:nvSpPr>
          <p:cNvPr id="27" name="Text 27"/>
          <p:cNvSpPr/>
          <p:nvPr/>
        </p:nvSpPr>
        <p:spPr>
          <a:xfrm>
            <a:off x="1600200" y="5150000"/>
            <a:ext cx="9500000" cy="457200"/>
          </a:xfrm>
          <a:prstGeom prst="rect">
            <a:avLst/>
          </a:prstGeom>
          <a:noFill/>
          <a:ln/>
        </p:spPr>
        <p:txBody>
          <a:bodyPr wrap="square" lIns="0" tIns="0" rIns="0" bIns="0" rtlCol="0" anchor="ctr"/>
          <a:lstStyle/>
          <a:p>
            <a:pPr indent="0" marL="0">
              <a:buNone/>
            </a:pPr>
            <a:r>
              <a:rPr lang="en-US" sz="1800" b="1" dirty="0">
                <a:solidFill>
                  <a:srgbClr val="440154"/>
                </a:solidFill>
                <a:latin typeface="Calibri" pitchFamily="34" charset="0"/>
                <a:ea typeface="Calibri" pitchFamily="34" charset="-122"/>
                <a:cs typeface="Calibri" pitchFamily="34" charset="-120"/>
              </a:rPr>
              <a:t>Next step</a:t>
            </a:r>
            <a:endParaRPr lang="en-US" sz="1000" dirty="0"/>
          </a:p>
        </p:txBody>
      </p:sp>
      <p:sp>
        <p:nvSpPr>
          <p:cNvPr id="28" name="Text 28"/>
          <p:cNvSpPr/>
          <p:nvPr/>
        </p:nvSpPr>
        <p:spPr>
          <a:xfrm>
            <a:off x="1600200" y="5652920"/>
            <a:ext cx="9500000" cy="320040"/>
          </a:xfrm>
          <a:prstGeom prst="rect">
            <a:avLst/>
          </a:prstGeom>
          <a:noFill/>
          <a:ln/>
        </p:spPr>
        <p:txBody>
          <a:bodyPr wrap="square" lIns="0" tIns="0" rIns="0" bIns="0" rtlCol="0" anchor="t"/>
          <a:lstStyle/>
          <a:p>
            <a:pPr indent="0" marL="0">
              <a:buNone/>
            </a:pPr>
            <a:r>
              <a:rPr lang="en-US" sz="1300" dirty="0">
                <a:solidFill>
                  <a:srgbClr val="1F1F1F"/>
                </a:solidFill>
                <a:latin typeface="Calibri" pitchFamily="34" charset="0"/>
                <a:ea typeface="Calibri" pitchFamily="34" charset="-122"/>
                <a:cs typeface="Calibri" pitchFamily="34" charset="-120"/>
              </a:rPr>
              <a:t>A one-country pilot on a survey already in hand.</a:t>
            </a:r>
            <a:endParaRPr lang="en-US" sz="1000" dirty="0"/>
          </a:p>
        </p:txBody>
      </p:sp>
      <p:sp>
        <p:nvSpPr>
          <p:cNvPr id="29" name="Text 29"/>
          <p:cNvSpPr/>
          <p:nvPr/>
        </p:nvSpPr>
        <p:spPr>
          <a:xfrm>
            <a:off x="685800" y="5980000"/>
            <a:ext cx="10789920" cy="400000"/>
          </a:xfrm>
          <a:prstGeom prst="rect">
            <a:avLst/>
          </a:prstGeom>
          <a:noFill/>
          <a:ln/>
        </p:spPr>
        <p:txBody>
          <a:bodyPr wrap="square" lIns="0" tIns="0" rIns="0" bIns="0" rtlCol="0" anchor="ctr"/>
          <a:lstStyle/>
          <a:p>
            <a:pPr algn="ctr" indent="0" marL="0">
              <a:buNone/>
            </a:pPr>
            <a:r>
              <a:rPr lang="en-US" sz="1400" dirty="0">
                <a:solidFill>
                  <a:srgbClr val="6B6B6B"/>
                </a:solidFill>
                <a:latin typeface="Calibri" pitchFamily="34" charset="0"/>
                <a:ea typeface="Calibri" pitchFamily="34" charset="-122"/>
                <a:cs typeface="Calibri" pitchFamily="34" charset="-120"/>
              </a:rPr>
              <a:t>Forward this page to anyone who missed the briefing.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Sized foreign publics let US engagement aim instead of guess</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BOTTOM LINE</a:t>
            </a:r>
            <a:endParaRPr lang="en-US" sz="1000" dirty="0"/>
          </a:p>
        </p:txBody>
      </p:sp>
      <p:sp>
        <p:nvSpPr>
          <p:cNvPr id="9" name="Shape 9"/>
          <p:cNvSpPr/>
          <p:nvPr/>
        </p:nvSpPr>
        <p:spPr>
          <a:xfrm>
            <a:off x="685800" y="1508760"/>
            <a:ext cx="10789920" cy="960120"/>
          </a:xfrm>
          <a:prstGeom prst="roundRect">
            <a:avLst>
              <a:gd name="adj" fmla="val 1724"/>
            </a:avLst>
          </a:prstGeom>
          <a:solidFill>
            <a:srgbClr val="E8F3F2"/>
          </a:solidFill>
          <a:ln w="12700">
            <a:solidFill>
              <a:srgbClr val="E8F3F2"/>
            </a:solidFill>
            <a:prstDash val="solid"/>
          </a:ln>
        </p:spPr>
      </p:sp>
      <p:sp>
        <p:nvSpPr>
          <p:cNvPr id="10" name="Text 10"/>
          <p:cNvSpPr/>
          <p:nvPr/>
        </p:nvSpPr>
        <p:spPr>
          <a:xfrm>
            <a:off x="1143000" y="1508760"/>
            <a:ext cx="9875520" cy="96012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Surveys of foreign populations usually report one number per question.</a:t>
            </a:r>
          </a:p>
          <a:p>
            <a:pPr algn="ctr" indent="0" marL="0">
              <a:buNone/>
            </a:pPr>
            <a:r>
              <a:rPr lang="en-US" sz="1550" b="1" dirty="0">
                <a:solidFill>
                  <a:srgbClr val="440154"/>
                </a:solidFill>
                <a:latin typeface="Calibri" pitchFamily="34" charset="0"/>
                <a:ea typeface="Calibri" pitchFamily="34" charset="-122"/>
                <a:cs typeface="Calibri" pitchFamily="34" charset="-120"/>
              </a:rPr>
              <a:t>This capability shows the distinct publics behind those numbers, and how many people are in each.</a:t>
            </a:r>
          </a:p>
        </p:txBody>
      </p:sp>
      <p:sp>
        <p:nvSpPr>
          <p:cNvPr id="11" name="Text 11"/>
          <p:cNvSpPr/>
          <p:nvPr/>
        </p:nvSpPr>
        <p:spPr>
          <a:xfrm>
            <a:off x="685800" y="2606040"/>
            <a:ext cx="4206240" cy="274320"/>
          </a:xfrm>
          <a:prstGeom prst="rect">
            <a:avLst/>
          </a:prstGeom>
          <a:noFill/>
          <a:ln/>
        </p:spPr>
        <p:txBody>
          <a:bodyPr wrap="square" lIns="0" tIns="0" rIns="0" bIns="0" rtlCol="0" anchor="ctr"/>
          <a:lstStyle/>
          <a:p>
            <a:pPr indent="0" marL="0">
              <a:buNone/>
            </a:pPr>
            <a:r>
              <a:rPr lang="en-US" sz="1050" b="1" spc="120" kern="0" dirty="0">
                <a:solidFill>
                  <a:srgbClr val="21918C"/>
                </a:solidFill>
                <a:latin typeface="Calibri" pitchFamily="34" charset="0"/>
                <a:ea typeface="Calibri" pitchFamily="34" charset="-122"/>
                <a:cs typeface="Calibri" pitchFamily="34" charset="-120"/>
              </a:rPr>
              <a:t>WHAT YOU LEARN</a:t>
            </a:r>
            <a:endParaRPr lang="en-US" sz="1000" dirty="0"/>
          </a:p>
        </p:txBody>
      </p:sp>
      <p:sp>
        <p:nvSpPr>
          <p:cNvPr id="12" name="Text 12"/>
          <p:cNvSpPr/>
          <p:nvPr/>
        </p:nvSpPr>
        <p:spPr>
          <a:xfrm>
            <a:off x="5303520" y="2606040"/>
            <a:ext cx="6172200" cy="274320"/>
          </a:xfrm>
          <a:prstGeom prst="rect">
            <a:avLst/>
          </a:prstGeom>
          <a:noFill/>
          <a:ln/>
        </p:spPr>
        <p:txBody>
          <a:bodyPr wrap="square" lIns="0" tIns="0" rIns="0" bIns="0" rtlCol="0" anchor="ctr"/>
          <a:lstStyle/>
          <a:p>
            <a:pPr indent="0" marL="0">
              <a:buNone/>
            </a:pPr>
            <a:r>
              <a:rPr lang="en-US" sz="1050" b="1" spc="120" kern="0" dirty="0">
                <a:solidFill>
                  <a:srgbClr val="21918C"/>
                </a:solidFill>
                <a:latin typeface="Calibri" pitchFamily="34" charset="0"/>
                <a:ea typeface="Calibri" pitchFamily="34" charset="-122"/>
                <a:cs typeface="Calibri" pitchFamily="34" charset="-120"/>
              </a:rPr>
              <a:t>WHAT IT LETS US POLICYMAKERS DO</a:t>
            </a:r>
            <a:endParaRPr lang="en-US" sz="1000" dirty="0"/>
          </a:p>
        </p:txBody>
      </p:sp>
      <p:sp>
        <p:nvSpPr>
          <p:cNvPr id="13" name="Shape 13"/>
          <p:cNvSpPr/>
          <p:nvPr/>
        </p:nvSpPr>
        <p:spPr>
          <a:xfrm>
            <a:off x="685800" y="2926080"/>
            <a:ext cx="10789920" cy="548640"/>
          </a:xfrm>
          <a:prstGeom prst="roundRect">
            <a:avLst>
              <a:gd name="adj" fmla="val 4000"/>
            </a:avLst>
          </a:prstGeom>
          <a:solidFill>
            <a:srgbClr val="F7F7F7"/>
          </a:solidFill>
          <a:ln w="12700">
            <a:solidFill>
              <a:srgbClr val="E4E4E4"/>
            </a:solidFill>
            <a:prstDash val="solid"/>
          </a:ln>
        </p:spPr>
      </p:sp>
      <p:sp>
        <p:nvSpPr>
          <p:cNvPr id="14" name="Shape 14"/>
          <p:cNvSpPr/>
          <p:nvPr/>
        </p:nvSpPr>
        <p:spPr>
          <a:xfrm>
            <a:off x="685800" y="2926080"/>
            <a:ext cx="91440" cy="548640"/>
          </a:xfrm>
          <a:prstGeom prst="rect">
            <a:avLst/>
          </a:prstGeom>
          <a:solidFill>
            <a:srgbClr val="21918C"/>
          </a:solidFill>
          <a:ln w="12700">
            <a:solidFill>
              <a:srgbClr val="21918C"/>
            </a:solidFill>
            <a:prstDash val="solid"/>
          </a:ln>
        </p:spPr>
      </p:sp>
      <p:sp>
        <p:nvSpPr>
          <p:cNvPr id="15" name="Text 15"/>
          <p:cNvSpPr/>
          <p:nvPr/>
        </p:nvSpPr>
        <p:spPr>
          <a:xfrm>
            <a:off x="914400" y="2926080"/>
            <a:ext cx="4114800" cy="54864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Which publics exist</a:t>
            </a:r>
            <a:endParaRPr lang="en-US" sz="1000" dirty="0"/>
          </a:p>
        </p:txBody>
      </p:sp>
      <p:sp>
        <p:nvSpPr>
          <p:cNvPr id="16" name="Text 16"/>
          <p:cNvSpPr/>
          <p:nvPr/>
        </p:nvSpPr>
        <p:spPr>
          <a:xfrm>
            <a:off x="5303520" y="2926080"/>
            <a:ext cx="6035040" cy="548640"/>
          </a:xfrm>
          <a:prstGeom prst="rect">
            <a:avLst/>
          </a:prstGeom>
          <a:noFill/>
          <a:ln/>
        </p:spPr>
        <p:txBody>
          <a:bodyPr wrap="square" lIns="0" tIns="0" rIns="0" bIns="0" rtlCol="0" anchor="ctr"/>
          <a:lstStyle/>
          <a:p>
            <a:pPr indent="0" marL="0">
              <a:buNone/>
            </a:pPr>
            <a:r>
              <a:rPr lang="en-US" sz="1350" dirty="0">
                <a:solidFill>
                  <a:srgbClr val="1F1F1F"/>
                </a:solidFill>
                <a:latin typeface="Calibri" pitchFamily="34" charset="0"/>
                <a:ea typeface="Calibri" pitchFamily="34" charset="-122"/>
                <a:cs typeface="Calibri" pitchFamily="34" charset="-120"/>
              </a:rPr>
              <a:t>Aim messages at audiences that actually exist, not at an average that describes no one.</a:t>
            </a:r>
            <a:endParaRPr lang="en-US" sz="1000" dirty="0"/>
          </a:p>
        </p:txBody>
      </p:sp>
      <p:sp>
        <p:nvSpPr>
          <p:cNvPr id="17" name="Shape 17"/>
          <p:cNvSpPr/>
          <p:nvPr/>
        </p:nvSpPr>
        <p:spPr>
          <a:xfrm>
            <a:off x="685800" y="3520440"/>
            <a:ext cx="10789920" cy="548640"/>
          </a:xfrm>
          <a:prstGeom prst="roundRect">
            <a:avLst>
              <a:gd name="adj" fmla="val 4000"/>
            </a:avLst>
          </a:prstGeom>
          <a:solidFill>
            <a:srgbClr val="F7F7F7"/>
          </a:solidFill>
          <a:ln w="12700">
            <a:solidFill>
              <a:srgbClr val="E4E4E4"/>
            </a:solidFill>
            <a:prstDash val="solid"/>
          </a:ln>
        </p:spPr>
      </p:sp>
      <p:sp>
        <p:nvSpPr>
          <p:cNvPr id="18" name="Shape 18"/>
          <p:cNvSpPr/>
          <p:nvPr/>
        </p:nvSpPr>
        <p:spPr>
          <a:xfrm>
            <a:off x="685800" y="3520440"/>
            <a:ext cx="91440" cy="548640"/>
          </a:xfrm>
          <a:prstGeom prst="rect">
            <a:avLst/>
          </a:prstGeom>
          <a:solidFill>
            <a:srgbClr val="3B528B"/>
          </a:solidFill>
          <a:ln w="12700">
            <a:solidFill>
              <a:srgbClr val="3B528B"/>
            </a:solidFill>
            <a:prstDash val="solid"/>
          </a:ln>
        </p:spPr>
      </p:sp>
      <p:sp>
        <p:nvSpPr>
          <p:cNvPr id="19" name="Text 19"/>
          <p:cNvSpPr/>
          <p:nvPr/>
        </p:nvSpPr>
        <p:spPr>
          <a:xfrm>
            <a:off x="914400" y="3520440"/>
            <a:ext cx="4114800" cy="54864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How big each one is</a:t>
            </a:r>
            <a:endParaRPr lang="en-US" sz="1000" dirty="0"/>
          </a:p>
        </p:txBody>
      </p:sp>
      <p:sp>
        <p:nvSpPr>
          <p:cNvPr id="20" name="Text 20"/>
          <p:cNvSpPr/>
          <p:nvPr/>
        </p:nvSpPr>
        <p:spPr>
          <a:xfrm>
            <a:off x="5303520" y="3520440"/>
            <a:ext cx="6035040" cy="548640"/>
          </a:xfrm>
          <a:prstGeom prst="rect">
            <a:avLst/>
          </a:prstGeom>
          <a:noFill/>
          <a:ln/>
        </p:spPr>
        <p:txBody>
          <a:bodyPr wrap="square" lIns="0" tIns="0" rIns="0" bIns="0" rtlCol="0" anchor="ctr"/>
          <a:lstStyle/>
          <a:p>
            <a:pPr indent="0" marL="0">
              <a:buNone/>
            </a:pPr>
            <a:r>
              <a:rPr lang="en-US" sz="1350" dirty="0">
                <a:solidFill>
                  <a:srgbClr val="1F1F1F"/>
                </a:solidFill>
                <a:latin typeface="Calibri" pitchFamily="34" charset="0"/>
                <a:ea typeface="Calibri" pitchFamily="34" charset="-122"/>
                <a:cs typeface="Calibri" pitchFamily="34" charset="-120"/>
              </a:rPr>
              <a:t>Weigh how much of a country a policy option or message would reach.</a:t>
            </a:r>
            <a:endParaRPr lang="en-US" sz="1000" dirty="0"/>
          </a:p>
        </p:txBody>
      </p:sp>
      <p:sp>
        <p:nvSpPr>
          <p:cNvPr id="21" name="Shape 21"/>
          <p:cNvSpPr/>
          <p:nvPr/>
        </p:nvSpPr>
        <p:spPr>
          <a:xfrm>
            <a:off x="685800" y="4114800"/>
            <a:ext cx="10789920" cy="548640"/>
          </a:xfrm>
          <a:prstGeom prst="roundRect">
            <a:avLst>
              <a:gd name="adj" fmla="val 4000"/>
            </a:avLst>
          </a:prstGeom>
          <a:solidFill>
            <a:srgbClr val="F7F7F7"/>
          </a:solidFill>
          <a:ln w="12700">
            <a:solidFill>
              <a:srgbClr val="E4E4E4"/>
            </a:solidFill>
            <a:prstDash val="solid"/>
          </a:ln>
        </p:spPr>
      </p:sp>
      <p:sp>
        <p:nvSpPr>
          <p:cNvPr id="22" name="Shape 22"/>
          <p:cNvSpPr/>
          <p:nvPr/>
        </p:nvSpPr>
        <p:spPr>
          <a:xfrm>
            <a:off x="685800" y="4114800"/>
            <a:ext cx="91440" cy="548640"/>
          </a:xfrm>
          <a:prstGeom prst="rect">
            <a:avLst/>
          </a:prstGeom>
          <a:solidFill>
            <a:srgbClr val="440154"/>
          </a:solidFill>
          <a:ln w="12700">
            <a:solidFill>
              <a:srgbClr val="440154"/>
            </a:solidFill>
            <a:prstDash val="solid"/>
          </a:ln>
        </p:spPr>
      </p:sp>
      <p:sp>
        <p:nvSpPr>
          <p:cNvPr id="23" name="Text 23"/>
          <p:cNvSpPr/>
          <p:nvPr/>
        </p:nvSpPr>
        <p:spPr>
          <a:xfrm>
            <a:off x="914400" y="4114800"/>
            <a:ext cx="4114800" cy="54864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Where each is concentrated</a:t>
            </a:r>
            <a:endParaRPr lang="en-US" sz="1000" dirty="0"/>
          </a:p>
        </p:txBody>
      </p:sp>
      <p:sp>
        <p:nvSpPr>
          <p:cNvPr id="24" name="Text 24"/>
          <p:cNvSpPr/>
          <p:nvPr/>
        </p:nvSpPr>
        <p:spPr>
          <a:xfrm>
            <a:off x="5303520" y="4114800"/>
            <a:ext cx="6035040" cy="548640"/>
          </a:xfrm>
          <a:prstGeom prst="rect">
            <a:avLst/>
          </a:prstGeom>
          <a:noFill/>
          <a:ln/>
        </p:spPr>
        <p:txBody>
          <a:bodyPr wrap="square" lIns="0" tIns="0" rIns="0" bIns="0" rtlCol="0" anchor="ctr"/>
          <a:lstStyle/>
          <a:p>
            <a:pPr indent="0" marL="0">
              <a:buNone/>
            </a:pPr>
            <a:r>
              <a:rPr lang="en-US" sz="1350" dirty="0">
                <a:solidFill>
                  <a:srgbClr val="1F1F1F"/>
                </a:solidFill>
                <a:latin typeface="Calibri" pitchFamily="34" charset="0"/>
                <a:ea typeface="Calibri" pitchFamily="34" charset="-122"/>
                <a:cs typeface="Calibri" pitchFamily="34" charset="-120"/>
              </a:rPr>
              <a:t>Focus programs by region, age, or any group already tracked.</a:t>
            </a:r>
            <a:endParaRPr lang="en-US" sz="1000" dirty="0"/>
          </a:p>
        </p:txBody>
      </p:sp>
      <p:sp>
        <p:nvSpPr>
          <p:cNvPr id="25" name="Shape 25"/>
          <p:cNvSpPr/>
          <p:nvPr/>
        </p:nvSpPr>
        <p:spPr>
          <a:xfrm>
            <a:off x="685800" y="4709160"/>
            <a:ext cx="10789920" cy="548640"/>
          </a:xfrm>
          <a:prstGeom prst="roundRect">
            <a:avLst>
              <a:gd name="adj" fmla="val 4000"/>
            </a:avLst>
          </a:prstGeom>
          <a:solidFill>
            <a:srgbClr val="F7F7F7"/>
          </a:solidFill>
          <a:ln w="12700">
            <a:solidFill>
              <a:srgbClr val="E4E4E4"/>
            </a:solidFill>
            <a:prstDash val="solid"/>
          </a:ln>
        </p:spPr>
      </p:sp>
      <p:sp>
        <p:nvSpPr>
          <p:cNvPr id="26" name="Shape 26"/>
          <p:cNvSpPr/>
          <p:nvPr/>
        </p:nvSpPr>
        <p:spPr>
          <a:xfrm>
            <a:off x="685800" y="4709160"/>
            <a:ext cx="91440" cy="548640"/>
          </a:xfrm>
          <a:prstGeom prst="rect">
            <a:avLst/>
          </a:prstGeom>
          <a:solidFill>
            <a:srgbClr val="BBA800"/>
          </a:solidFill>
          <a:ln w="12700">
            <a:solidFill>
              <a:srgbClr val="BBA800"/>
            </a:solidFill>
            <a:prstDash val="solid"/>
          </a:ln>
        </p:spPr>
      </p:sp>
      <p:sp>
        <p:nvSpPr>
          <p:cNvPr id="27" name="Text 27"/>
          <p:cNvSpPr/>
          <p:nvPr/>
        </p:nvSpPr>
        <p:spPr>
          <a:xfrm>
            <a:off x="914400" y="4709160"/>
            <a:ext cx="4114800" cy="54864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How sure we can be</a:t>
            </a:r>
            <a:endParaRPr lang="en-US" sz="1000" dirty="0"/>
          </a:p>
        </p:txBody>
      </p:sp>
      <p:sp>
        <p:nvSpPr>
          <p:cNvPr id="28" name="Text 28"/>
          <p:cNvSpPr/>
          <p:nvPr/>
        </p:nvSpPr>
        <p:spPr>
          <a:xfrm>
            <a:off x="5303520" y="4709160"/>
            <a:ext cx="6035040" cy="548640"/>
          </a:xfrm>
          <a:prstGeom prst="rect">
            <a:avLst/>
          </a:prstGeom>
          <a:noFill/>
          <a:ln/>
        </p:spPr>
        <p:txBody>
          <a:bodyPr wrap="square" lIns="0" tIns="0" rIns="0" bIns="0" rtlCol="0" anchor="ctr"/>
          <a:lstStyle/>
          <a:p>
            <a:pPr indent="0" marL="0">
              <a:buNone/>
            </a:pPr>
            <a:r>
              <a:rPr lang="en-US" sz="1350" dirty="0">
                <a:solidFill>
                  <a:srgbClr val="1F1F1F"/>
                </a:solidFill>
                <a:latin typeface="Calibri" pitchFamily="34" charset="0"/>
                <a:ea typeface="Calibri" pitchFamily="34" charset="-122"/>
                <a:cs typeface="Calibri" pitchFamily="34" charset="-120"/>
              </a:rPr>
              <a:t>Brief decision-makers without overstating what a survey can show.</a:t>
            </a:r>
            <a:endParaRPr lang="en-US" sz="1000" dirty="0"/>
          </a:p>
        </p:txBody>
      </p:sp>
      <p:sp>
        <p:nvSpPr>
          <p:cNvPr id="29" name="Text 29"/>
          <p:cNvSpPr/>
          <p:nvPr/>
        </p:nvSpPr>
        <p:spPr>
          <a:xfrm>
            <a:off x="685800" y="5394960"/>
            <a:ext cx="10789920" cy="45720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Demonstrated on Ecuador's 2023 national survey (LAPOP AmericasBarometer). Works on any national survey released with its sample-design information.</a:t>
            </a:r>
            <a:endParaRPr lang="en-US" sz="1000" dirty="0"/>
          </a:p>
        </p:txBody>
      </p:sp>
      <p:sp>
        <p:nvSpPr>
          <p:cNvPr id="30" name="Shape 30"/>
          <p:cNvSpPr/>
          <p:nvPr/>
        </p:nvSpPr>
        <p:spPr>
          <a:xfrm>
            <a:off x="685800" y="5897880"/>
            <a:ext cx="10789920" cy="548640"/>
          </a:xfrm>
          <a:prstGeom prst="roundRect">
            <a:avLst>
              <a:gd name="adj" fmla="val 1724"/>
            </a:avLst>
          </a:prstGeom>
          <a:solidFill>
            <a:srgbClr val="F1EBF4"/>
          </a:solidFill>
          <a:ln w="12700">
            <a:solidFill>
              <a:srgbClr val="F1EBF4"/>
            </a:solidFill>
            <a:prstDash val="solid"/>
          </a:ln>
        </p:spPr>
      </p:sp>
      <p:sp>
        <p:nvSpPr>
          <p:cNvPr id="31" name="Text 31"/>
          <p:cNvSpPr/>
          <p:nvPr/>
        </p:nvSpPr>
        <p:spPr>
          <a:xfrm>
            <a:off x="1143000" y="5897880"/>
            <a:ext cx="9875520" cy="548640"/>
          </a:xfrm>
          <a:prstGeom prst="rect">
            <a:avLst/>
          </a:prstGeom>
          <a:noFill/>
          <a:ln/>
        </p:spPr>
        <p:txBody>
          <a:bodyPr wrap="square" lIns="0" tIns="0" rIns="0" bIns="0" rtlCol="0" anchor="ctr"/>
          <a:lstStyle/>
          <a:p>
            <a:pPr algn="ctr" indent="0" marL="0">
              <a:buNone/>
            </a:pPr>
            <a:r>
              <a:rPr lang="en-US" sz="1500" b="1" dirty="0">
                <a:solidFill>
                  <a:srgbClr val="440154"/>
                </a:solidFill>
                <a:latin typeface="Calibri" pitchFamily="34" charset="0"/>
                <a:ea typeface="Calibri" pitchFamily="34" charset="-122"/>
                <a:cs typeface="Calibri" pitchFamily="34" charset="-120"/>
              </a:rPr>
              <a:t>The opportunity: engagement built on the publics that are really there.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Built to be trusted: margins shown, people decide, limits stated</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HOW FAR TO RELY ON IT</a:t>
            </a:r>
            <a:endParaRPr lang="en-US" sz="1000" dirty="0"/>
          </a:p>
        </p:txBody>
      </p:sp>
      <p:sp>
        <p:nvSpPr>
          <p:cNvPr id="9" name="Shape 9"/>
          <p:cNvSpPr/>
          <p:nvPr/>
        </p:nvSpPr>
        <p:spPr>
          <a:xfrm>
            <a:off x="685800" y="1508760"/>
            <a:ext cx="5212080" cy="3749040"/>
          </a:xfrm>
          <a:prstGeom prst="roundRect">
            <a:avLst>
              <a:gd name="adj" fmla="val 1000"/>
            </a:avLst>
          </a:prstGeom>
          <a:solidFill>
            <a:srgbClr val="E8F3F2"/>
          </a:solidFill>
          <a:ln w="12700">
            <a:solidFill>
              <a:srgbClr val="E8F3F2"/>
            </a:solidFill>
            <a:prstDash val="solid"/>
          </a:ln>
        </p:spPr>
      </p:sp>
      <p:sp>
        <p:nvSpPr>
          <p:cNvPr id="10" name="Text 10"/>
          <p:cNvSpPr/>
          <p:nvPr/>
        </p:nvSpPr>
        <p:spPr>
          <a:xfrm>
            <a:off x="1005840" y="1709928"/>
            <a:ext cx="45720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Why you can rely on it</a:t>
            </a:r>
            <a:endParaRPr lang="en-US" sz="1000" dirty="0"/>
          </a:p>
        </p:txBody>
      </p:sp>
      <p:sp>
        <p:nvSpPr>
          <p:cNvPr id="11" name="Shape 11"/>
          <p:cNvSpPr/>
          <p:nvPr/>
        </p:nvSpPr>
        <p:spPr>
          <a:xfrm>
            <a:off x="1051560" y="2231136"/>
            <a:ext cx="182880" cy="182880"/>
          </a:xfrm>
          <a:prstGeom prst="ellipse">
            <a:avLst/>
          </a:prstGeom>
          <a:solidFill>
            <a:srgbClr val="21918C"/>
          </a:solidFill>
          <a:ln/>
        </p:spPr>
      </p:sp>
      <p:sp>
        <p:nvSpPr>
          <p:cNvPr id="12" name="Text 12"/>
          <p:cNvSpPr/>
          <p:nvPr/>
        </p:nvSpPr>
        <p:spPr>
          <a:xfrm>
            <a:off x="1399032" y="2194560"/>
            <a:ext cx="429768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Every number carries a margin of error from how the survey was actually drawn.</a:t>
            </a:r>
            <a:endParaRPr lang="en-US" sz="1000" dirty="0"/>
          </a:p>
        </p:txBody>
      </p:sp>
      <p:sp>
        <p:nvSpPr>
          <p:cNvPr id="13" name="Shape 13"/>
          <p:cNvSpPr/>
          <p:nvPr/>
        </p:nvSpPr>
        <p:spPr>
          <a:xfrm>
            <a:off x="1051560" y="2971800"/>
            <a:ext cx="182880" cy="182880"/>
          </a:xfrm>
          <a:prstGeom prst="ellipse">
            <a:avLst/>
          </a:prstGeom>
          <a:solidFill>
            <a:srgbClr val="21918C"/>
          </a:solidFill>
          <a:ln/>
        </p:spPr>
      </p:sp>
      <p:sp>
        <p:nvSpPr>
          <p:cNvPr id="14" name="Text 14"/>
          <p:cNvSpPr/>
          <p:nvPr/>
        </p:nvSpPr>
        <p:spPr>
          <a:xfrm>
            <a:off x="1399032" y="2935224"/>
            <a:ext cx="429768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People make every judgment call, and each one is on the record.</a:t>
            </a:r>
            <a:endParaRPr lang="en-US" sz="1000" dirty="0"/>
          </a:p>
        </p:txBody>
      </p:sp>
      <p:sp>
        <p:nvSpPr>
          <p:cNvPr id="15" name="Shape 15"/>
          <p:cNvSpPr/>
          <p:nvPr/>
        </p:nvSpPr>
        <p:spPr>
          <a:xfrm>
            <a:off x="1051560" y="3712464"/>
            <a:ext cx="182880" cy="182880"/>
          </a:xfrm>
          <a:prstGeom prst="ellipse">
            <a:avLst/>
          </a:prstGeom>
          <a:solidFill>
            <a:srgbClr val="21918C"/>
          </a:solidFill>
          <a:ln/>
        </p:spPr>
      </p:sp>
      <p:sp>
        <p:nvSpPr>
          <p:cNvPr id="16" name="Text 16"/>
          <p:cNvSpPr/>
          <p:nvPr/>
        </p:nvSpPr>
        <p:spPr>
          <a:xfrm>
            <a:off x="1399032" y="3675888"/>
            <a:ext cx="429768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Results match standard statistical software when checked.</a:t>
            </a:r>
            <a:endParaRPr lang="en-US" sz="1000" dirty="0"/>
          </a:p>
        </p:txBody>
      </p:sp>
      <p:sp>
        <p:nvSpPr>
          <p:cNvPr id="17" name="Shape 17"/>
          <p:cNvSpPr/>
          <p:nvPr/>
        </p:nvSpPr>
        <p:spPr>
          <a:xfrm>
            <a:off x="1051560" y="4453128"/>
            <a:ext cx="182880" cy="182880"/>
          </a:xfrm>
          <a:prstGeom prst="ellipse">
            <a:avLst/>
          </a:prstGeom>
          <a:solidFill>
            <a:srgbClr val="21918C"/>
          </a:solidFill>
          <a:ln/>
        </p:spPr>
      </p:sp>
      <p:sp>
        <p:nvSpPr>
          <p:cNvPr id="18" name="Text 18"/>
          <p:cNvSpPr/>
          <p:nvPr/>
        </p:nvSpPr>
        <p:spPr>
          <a:xfrm>
            <a:off x="1399032" y="4416552"/>
            <a:ext cx="429768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AI only drafts wording. It never produces a number and can be switched off.</a:t>
            </a:r>
            <a:endParaRPr lang="en-US" sz="1000" dirty="0"/>
          </a:p>
        </p:txBody>
      </p:sp>
      <p:sp>
        <p:nvSpPr>
          <p:cNvPr id="19" name="Shape 19"/>
          <p:cNvSpPr/>
          <p:nvPr/>
        </p:nvSpPr>
        <p:spPr>
          <a:xfrm>
            <a:off x="6537960" y="1508760"/>
            <a:ext cx="4937760" cy="3749040"/>
          </a:xfrm>
          <a:prstGeom prst="roundRect">
            <a:avLst>
              <a:gd name="adj" fmla="val 1000"/>
            </a:avLst>
          </a:prstGeom>
          <a:solidFill>
            <a:srgbClr val="F1EBF4"/>
          </a:solidFill>
          <a:ln w="12700">
            <a:solidFill>
              <a:srgbClr val="F1EBF4"/>
            </a:solidFill>
            <a:prstDash val="solid"/>
          </a:ln>
        </p:spPr>
      </p:sp>
      <p:sp>
        <p:nvSpPr>
          <p:cNvPr id="20" name="Text 20"/>
          <p:cNvSpPr/>
          <p:nvPr/>
        </p:nvSpPr>
        <p:spPr>
          <a:xfrm>
            <a:off x="6858000" y="1709928"/>
            <a:ext cx="438912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What to watch</a:t>
            </a:r>
            <a:endParaRPr lang="en-US" sz="1000" dirty="0"/>
          </a:p>
        </p:txBody>
      </p:sp>
      <p:sp>
        <p:nvSpPr>
          <p:cNvPr id="21" name="Shape 21"/>
          <p:cNvSpPr/>
          <p:nvPr/>
        </p:nvSpPr>
        <p:spPr>
          <a:xfrm>
            <a:off x="6903720" y="2231136"/>
            <a:ext cx="182880" cy="182880"/>
          </a:xfrm>
          <a:prstGeom prst="ellipse">
            <a:avLst/>
          </a:prstGeom>
          <a:solidFill>
            <a:srgbClr val="440154"/>
          </a:solidFill>
          <a:ln/>
        </p:spPr>
      </p:sp>
      <p:sp>
        <p:nvSpPr>
          <p:cNvPr id="22" name="Text 22"/>
          <p:cNvSpPr/>
          <p:nvPr/>
        </p:nvSpPr>
        <p:spPr>
          <a:xfrm>
            <a:off x="7251192" y="2194560"/>
            <a:ext cx="402336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 question can mean different things in different places. The tool does not yet test this.</a:t>
            </a:r>
            <a:endParaRPr lang="en-US" sz="1000" dirty="0"/>
          </a:p>
        </p:txBody>
      </p:sp>
      <p:sp>
        <p:nvSpPr>
          <p:cNvPr id="23" name="Shape 23"/>
          <p:cNvSpPr/>
          <p:nvPr/>
        </p:nvSpPr>
        <p:spPr>
          <a:xfrm>
            <a:off x="6903720" y="2971800"/>
            <a:ext cx="182880" cy="182880"/>
          </a:xfrm>
          <a:prstGeom prst="ellipse">
            <a:avLst/>
          </a:prstGeom>
          <a:solidFill>
            <a:srgbClr val="440154"/>
          </a:solidFill>
          <a:ln/>
        </p:spPr>
      </p:sp>
      <p:sp>
        <p:nvSpPr>
          <p:cNvPr id="24" name="Text 24"/>
          <p:cNvSpPr/>
          <p:nvPr/>
        </p:nvSpPr>
        <p:spPr>
          <a:xfrm>
            <a:off x="7251192" y="2935224"/>
            <a:ext cx="402336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Differences between groups look more certain than they are. Every report flags this.</a:t>
            </a:r>
            <a:endParaRPr lang="en-US" sz="1000" dirty="0"/>
          </a:p>
        </p:txBody>
      </p:sp>
      <p:sp>
        <p:nvSpPr>
          <p:cNvPr id="25" name="Shape 25"/>
          <p:cNvSpPr/>
          <p:nvPr/>
        </p:nvSpPr>
        <p:spPr>
          <a:xfrm>
            <a:off x="6903720" y="3712464"/>
            <a:ext cx="182880" cy="182880"/>
          </a:xfrm>
          <a:prstGeom prst="ellipse">
            <a:avLst/>
          </a:prstGeom>
          <a:solidFill>
            <a:srgbClr val="440154"/>
          </a:solidFill>
          <a:ln/>
        </p:spPr>
      </p:sp>
      <p:sp>
        <p:nvSpPr>
          <p:cNvPr id="26" name="Text 26"/>
          <p:cNvSpPr/>
          <p:nvPr/>
        </p:nvSpPr>
        <p:spPr>
          <a:xfrm>
            <a:off x="7251192" y="3675888"/>
            <a:ext cx="4023360" cy="694944"/>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With AI on, question wording and summary tables go to an outside service. Respondent data never does.</a:t>
            </a:r>
            <a:endParaRPr lang="en-US" sz="1000" dirty="0"/>
          </a:p>
        </p:txBody>
      </p:sp>
      <p:sp>
        <p:nvSpPr>
          <p:cNvPr id="27" name="Shape 27"/>
          <p:cNvSpPr/>
          <p:nvPr/>
        </p:nvSpPr>
        <p:spPr>
          <a:xfrm>
            <a:off x="685800" y="5440680"/>
            <a:ext cx="10789920" cy="822960"/>
          </a:xfrm>
          <a:prstGeom prst="roundRect">
            <a:avLst>
              <a:gd name="adj" fmla="val 1724"/>
            </a:avLst>
          </a:prstGeom>
          <a:solidFill>
            <a:srgbClr val="E9F7EC"/>
          </a:solidFill>
          <a:ln w="12700">
            <a:solidFill>
              <a:srgbClr val="E9F7EC"/>
            </a:solidFill>
            <a:prstDash val="solid"/>
          </a:ln>
        </p:spPr>
      </p:sp>
      <p:sp>
        <p:nvSpPr>
          <p:cNvPr id="28" name="Text 28"/>
          <p:cNvSpPr/>
          <p:nvPr/>
        </p:nvSpPr>
        <p:spPr>
          <a:xfrm>
            <a:off x="1143000" y="5440680"/>
            <a:ext cx="9875520" cy="82296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Decision to make early: </a:t>
            </a:r>
            <a:r>
              <a:rPr lang="en-US" sz="1500" b="1" dirty="0">
                <a:solidFill>
                  <a:srgbClr val="440154"/>
                </a:solidFill>
                <a:latin typeface="Calibri" pitchFamily="34" charset="0"/>
                <a:ea typeface="Calibri" pitchFamily="34" charset="-122"/>
                <a:cs typeface="Calibri" pitchFamily="34" charset="-120"/>
              </a:rPr>
              <a:t>whether AI drafting is allowed for these datasets.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Four ways this sharpens US engagement with foreign publics</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OPPORTUNITIES</a:t>
            </a:r>
            <a:endParaRPr lang="en-US" sz="1000" dirty="0"/>
          </a:p>
        </p:txBody>
      </p:sp>
      <p:sp>
        <p:nvSpPr>
          <p:cNvPr id="9" name="Shape 9"/>
          <p:cNvSpPr/>
          <p:nvPr/>
        </p:nvSpPr>
        <p:spPr>
          <a:xfrm>
            <a:off x="685800" y="1508760"/>
            <a:ext cx="5212080" cy="1600200"/>
          </a:xfrm>
          <a:prstGeom prst="roundRect">
            <a:avLst>
              <a:gd name="adj" fmla="val 2941"/>
            </a:avLst>
          </a:prstGeom>
          <a:solidFill>
            <a:srgbClr val="F7F7F7"/>
          </a:solidFill>
          <a:ln w="12700">
            <a:solidFill>
              <a:srgbClr val="E4E4E4"/>
            </a:solidFill>
            <a:prstDash val="solid"/>
          </a:ln>
        </p:spPr>
      </p:sp>
      <p:sp>
        <p:nvSpPr>
          <p:cNvPr id="10" name="Shape 10"/>
          <p:cNvSpPr/>
          <p:nvPr/>
        </p:nvSpPr>
        <p:spPr>
          <a:xfrm>
            <a:off x="960120" y="1764792"/>
            <a:ext cx="310896" cy="310896"/>
          </a:xfrm>
          <a:prstGeom prst="ellipse">
            <a:avLst/>
          </a:prstGeom>
          <a:solidFill>
            <a:srgbClr val="21918C"/>
          </a:solidFill>
          <a:ln/>
        </p:spPr>
      </p:sp>
      <p:sp>
        <p:nvSpPr>
          <p:cNvPr id="11" name="Text 11"/>
          <p:cNvSpPr/>
          <p:nvPr/>
        </p:nvSpPr>
        <p:spPr>
          <a:xfrm>
            <a:off x="1399032" y="1728216"/>
            <a:ext cx="4297680" cy="36576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Match message and messenger</a:t>
            </a:r>
            <a:endParaRPr lang="en-US" sz="1000" dirty="0"/>
          </a:p>
        </p:txBody>
      </p:sp>
      <p:sp>
        <p:nvSpPr>
          <p:cNvPr id="12" name="Text 12"/>
          <p:cNvSpPr/>
          <p:nvPr/>
        </p:nvSpPr>
        <p:spPr>
          <a:xfrm>
            <a:off x="960120" y="2240280"/>
            <a:ext cx="4663440" cy="7772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Route a message through the institutions each public actually trusts: the military for one, courts or local government for another.</a:t>
            </a:r>
            <a:endParaRPr lang="en-US" sz="1000" dirty="0"/>
          </a:p>
        </p:txBody>
      </p:sp>
      <p:sp>
        <p:nvSpPr>
          <p:cNvPr id="13" name="Shape 13"/>
          <p:cNvSpPr/>
          <p:nvPr/>
        </p:nvSpPr>
        <p:spPr>
          <a:xfrm>
            <a:off x="6263640" y="1508760"/>
            <a:ext cx="5212080" cy="1600200"/>
          </a:xfrm>
          <a:prstGeom prst="roundRect">
            <a:avLst>
              <a:gd name="adj" fmla="val 2941"/>
            </a:avLst>
          </a:prstGeom>
          <a:solidFill>
            <a:srgbClr val="F7F7F7"/>
          </a:solidFill>
          <a:ln w="12700">
            <a:solidFill>
              <a:srgbClr val="E4E4E4"/>
            </a:solidFill>
            <a:prstDash val="solid"/>
          </a:ln>
        </p:spPr>
      </p:sp>
      <p:sp>
        <p:nvSpPr>
          <p:cNvPr id="14" name="Shape 14"/>
          <p:cNvSpPr/>
          <p:nvPr/>
        </p:nvSpPr>
        <p:spPr>
          <a:xfrm>
            <a:off x="6537960" y="1764792"/>
            <a:ext cx="310896" cy="310896"/>
          </a:xfrm>
          <a:prstGeom prst="ellipse">
            <a:avLst/>
          </a:prstGeom>
          <a:solidFill>
            <a:srgbClr val="3B528B"/>
          </a:solidFill>
          <a:ln/>
        </p:spPr>
      </p:sp>
      <p:sp>
        <p:nvSpPr>
          <p:cNvPr id="15" name="Text 15"/>
          <p:cNvSpPr/>
          <p:nvPr/>
        </p:nvSpPr>
        <p:spPr>
          <a:xfrm>
            <a:off x="6976872" y="1728216"/>
            <a:ext cx="4297680" cy="36576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Size before you spend</a:t>
            </a:r>
            <a:endParaRPr lang="en-US" sz="1000" dirty="0"/>
          </a:p>
        </p:txBody>
      </p:sp>
      <p:sp>
        <p:nvSpPr>
          <p:cNvPr id="16" name="Text 16"/>
          <p:cNvSpPr/>
          <p:nvPr/>
        </p:nvSpPr>
        <p:spPr>
          <a:xfrm>
            <a:off x="6537960" y="2240280"/>
            <a:ext cx="4663440" cy="7772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Know whether a receptive public is 1 in 10 or 1 in 3 before committing program resources.</a:t>
            </a:r>
            <a:endParaRPr lang="en-US" sz="1000" dirty="0"/>
          </a:p>
        </p:txBody>
      </p:sp>
      <p:sp>
        <p:nvSpPr>
          <p:cNvPr id="17" name="Shape 17"/>
          <p:cNvSpPr/>
          <p:nvPr/>
        </p:nvSpPr>
        <p:spPr>
          <a:xfrm>
            <a:off x="685800" y="3291840"/>
            <a:ext cx="5212080" cy="1600200"/>
          </a:xfrm>
          <a:prstGeom prst="roundRect">
            <a:avLst>
              <a:gd name="adj" fmla="val 2941"/>
            </a:avLst>
          </a:prstGeom>
          <a:solidFill>
            <a:srgbClr val="F7F7F7"/>
          </a:solidFill>
          <a:ln w="12700">
            <a:solidFill>
              <a:srgbClr val="E4E4E4"/>
            </a:solidFill>
            <a:prstDash val="solid"/>
          </a:ln>
        </p:spPr>
      </p:sp>
      <p:sp>
        <p:nvSpPr>
          <p:cNvPr id="18" name="Shape 18"/>
          <p:cNvSpPr/>
          <p:nvPr/>
        </p:nvSpPr>
        <p:spPr>
          <a:xfrm>
            <a:off x="960120" y="3547872"/>
            <a:ext cx="310896" cy="310896"/>
          </a:xfrm>
          <a:prstGeom prst="ellipse">
            <a:avLst/>
          </a:prstGeom>
          <a:solidFill>
            <a:srgbClr val="440154"/>
          </a:solidFill>
          <a:ln/>
        </p:spPr>
      </p:sp>
      <p:sp>
        <p:nvSpPr>
          <p:cNvPr id="19" name="Text 19"/>
          <p:cNvSpPr/>
          <p:nvPr/>
        </p:nvSpPr>
        <p:spPr>
          <a:xfrm>
            <a:off x="1399032" y="3511296"/>
            <a:ext cx="4297680" cy="36576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Separate critics from rejecters</a:t>
            </a:r>
            <a:endParaRPr lang="en-US" sz="1000" dirty="0"/>
          </a:p>
        </p:txBody>
      </p:sp>
      <p:sp>
        <p:nvSpPr>
          <p:cNvPr id="20" name="Text 20"/>
          <p:cNvSpPr/>
          <p:nvPr/>
        </p:nvSpPr>
        <p:spPr>
          <a:xfrm>
            <a:off x="960120" y="4023360"/>
            <a:ext cx="4663440" cy="7772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Tell people unhappy with a leader apart from people who reject every institution, and plan for each.</a:t>
            </a:r>
            <a:endParaRPr lang="en-US" sz="1000" dirty="0"/>
          </a:p>
        </p:txBody>
      </p:sp>
      <p:sp>
        <p:nvSpPr>
          <p:cNvPr id="21" name="Shape 21"/>
          <p:cNvSpPr/>
          <p:nvPr/>
        </p:nvSpPr>
        <p:spPr>
          <a:xfrm>
            <a:off x="6263640" y="3291840"/>
            <a:ext cx="5212080" cy="1600200"/>
          </a:xfrm>
          <a:prstGeom prst="roundRect">
            <a:avLst>
              <a:gd name="adj" fmla="val 2941"/>
            </a:avLst>
          </a:prstGeom>
          <a:solidFill>
            <a:srgbClr val="F7F7F7"/>
          </a:solidFill>
          <a:ln w="12700">
            <a:solidFill>
              <a:srgbClr val="E4E4E4"/>
            </a:solidFill>
            <a:prstDash val="solid"/>
          </a:ln>
        </p:spPr>
      </p:sp>
      <p:sp>
        <p:nvSpPr>
          <p:cNvPr id="22" name="Shape 22"/>
          <p:cNvSpPr/>
          <p:nvPr/>
        </p:nvSpPr>
        <p:spPr>
          <a:xfrm>
            <a:off x="6537960" y="3547872"/>
            <a:ext cx="310896" cy="310896"/>
          </a:xfrm>
          <a:prstGeom prst="ellipse">
            <a:avLst/>
          </a:prstGeom>
          <a:solidFill>
            <a:srgbClr val="BBA800"/>
          </a:solidFill>
          <a:ln/>
        </p:spPr>
      </p:sp>
      <p:sp>
        <p:nvSpPr>
          <p:cNvPr id="23" name="Text 23"/>
          <p:cNvSpPr/>
          <p:nvPr/>
        </p:nvSpPr>
        <p:spPr>
          <a:xfrm>
            <a:off x="6976872" y="3511296"/>
            <a:ext cx="4297680" cy="36576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Watch for shifts</a:t>
            </a:r>
            <a:endParaRPr lang="en-US" sz="1000" dirty="0"/>
          </a:p>
        </p:txBody>
      </p:sp>
      <p:sp>
        <p:nvSpPr>
          <p:cNvPr id="24" name="Text 24"/>
          <p:cNvSpPr/>
          <p:nvPr/>
        </p:nvSpPr>
        <p:spPr>
          <a:xfrm>
            <a:off x="6537960" y="4023360"/>
            <a:ext cx="4663440" cy="77724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Re-run on each new survey wave to see whether the distrustful public is growing, and where.</a:t>
            </a:r>
            <a:endParaRPr lang="en-US" sz="1000" dirty="0"/>
          </a:p>
        </p:txBody>
      </p:sp>
      <p:sp>
        <p:nvSpPr>
          <p:cNvPr id="25" name="Text 25"/>
          <p:cNvSpPr/>
          <p:nvPr/>
        </p:nvSpPr>
        <p:spPr>
          <a:xfrm>
            <a:off x="685800" y="5212080"/>
            <a:ext cx="10789920" cy="45720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Illustrative uses. Each needs survey data for the country. Comparing waves or countries also needs a check that the questions mean the same thing in each (see next slide).</a:t>
            </a:r>
            <a:endParaRPr lang="en-US" sz="1000" dirty="0"/>
          </a:p>
        </p:txBody>
      </p:sp>
      <p:sp>
        <p:nvSpPr>
          <p:cNvPr id="26" name="Shape 26"/>
          <p:cNvSpPr/>
          <p:nvPr/>
        </p:nvSpPr>
        <p:spPr>
          <a:xfrm>
            <a:off x="685800" y="5760720"/>
            <a:ext cx="10789920" cy="640080"/>
          </a:xfrm>
          <a:prstGeom prst="roundRect">
            <a:avLst>
              <a:gd name="adj" fmla="val 1724"/>
            </a:avLst>
          </a:prstGeom>
          <a:solidFill>
            <a:srgbClr val="F1EBF4"/>
          </a:solidFill>
          <a:ln w="12700">
            <a:solidFill>
              <a:srgbClr val="F1EBF4"/>
            </a:solidFill>
            <a:prstDash val="solid"/>
          </a:ln>
        </p:spPr>
      </p:sp>
      <p:sp>
        <p:nvSpPr>
          <p:cNvPr id="27" name="Text 27"/>
          <p:cNvSpPr/>
          <p:nvPr/>
        </p:nvSpPr>
        <p:spPr>
          <a:xfrm>
            <a:off x="1143000" y="5760720"/>
            <a:ext cx="9875520" cy="640080"/>
          </a:xfrm>
          <a:prstGeom prst="rect">
            <a:avLst/>
          </a:prstGeom>
          <a:noFill/>
          <a:ln/>
        </p:spPr>
        <p:txBody>
          <a:bodyPr wrap="square" lIns="0" tIns="0" rIns="0" bIns="0" rtlCol="0" anchor="ctr"/>
          <a:lstStyle/>
          <a:p>
            <a:pPr algn="ctr" indent="0" marL="0">
              <a:buNone/>
            </a:pPr>
            <a:r>
              <a:rPr lang="en-US" sz="1500" b="1" dirty="0">
                <a:solidFill>
                  <a:srgbClr val="440154"/>
                </a:solidFill>
                <a:latin typeface="Calibri" pitchFamily="34" charset="0"/>
                <a:ea typeface="Calibri" pitchFamily="34" charset="-122"/>
                <a:cs typeface="Calibri" pitchFamily="34" charset="-120"/>
              </a:rPr>
              <a:t>Same survey budget, sharper answers: the data are usually already collected.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Backup: Why this did not already exist in open tools</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PRIOR ART</a:t>
            </a:r>
            <a:endParaRPr lang="en-US" sz="1000" dirty="0"/>
          </a:p>
        </p:txBody>
      </p:sp>
      <p:sp>
        <p:nvSpPr>
          <p:cNvPr id="9" name="Shape 9"/>
          <p:cNvSpPr/>
          <p:nvPr/>
        </p:nvSpPr>
        <p:spPr>
          <a:xfrm>
            <a:off x="685800" y="1554480"/>
            <a:ext cx="10789920" cy="868680"/>
          </a:xfrm>
          <a:prstGeom prst="roundRect">
            <a:avLst>
              <a:gd name="adj" fmla="val 1724"/>
            </a:avLst>
          </a:prstGeom>
          <a:solidFill>
            <a:srgbClr val="E8F3F2"/>
          </a:solidFill>
          <a:ln w="12700">
            <a:solidFill>
              <a:srgbClr val="E8F3F2"/>
            </a:solidFill>
            <a:prstDash val="solid"/>
          </a:ln>
        </p:spPr>
      </p:sp>
      <p:sp>
        <p:nvSpPr>
          <p:cNvPr id="10" name="Text 10"/>
          <p:cNvSpPr/>
          <p:nvPr/>
        </p:nvSpPr>
        <p:spPr>
          <a:xfrm>
            <a:off x="1143000" y="1554480"/>
            <a:ext cx="9875520" cy="868680"/>
          </a:xfrm>
          <a:prstGeom prst="rect">
            <a:avLst/>
          </a:prstGeom>
          <a:noFill/>
          <a:ln/>
        </p:spPr>
        <p:txBody>
          <a:bodyPr wrap="square" lIns="0" tIns="0" rIns="0" bIns="0" rtlCol="0" anchor="ctr"/>
          <a:lstStyle/>
          <a:p>
            <a:pPr algn="ctr" indent="0" marL="0">
              <a:buNone/>
            </a:pPr>
            <a:r>
              <a:rPr lang="en-US" sz="1450" dirty="0">
                <a:solidFill>
                  <a:srgbClr val="1F1F1F"/>
                </a:solidFill>
                <a:latin typeface="Calibri" pitchFamily="34" charset="0"/>
                <a:ea typeface="Calibri" pitchFamily="34" charset="-122"/>
                <a:cs typeface="Calibri" pitchFamily="34" charset="-120"/>
              </a:rPr>
              <a:t>Latent class models date to the 1950s (Lazarsfeld); practical estimation arrived in 1974 (Goodman).</a:t>
            </a:r>
          </a:p>
          <a:p>
            <a:pPr algn="ctr" indent="0" marL="0">
              <a:buNone/>
            </a:pPr>
            <a:r>
              <a:rPr lang="en-US" sz="1450" b="1" dirty="0">
                <a:solidFill>
                  <a:srgbClr val="440154"/>
                </a:solidFill>
                <a:latin typeface="Calibri" pitchFamily="34" charset="0"/>
                <a:ea typeface="Calibri" pitchFamily="34" charset="-122"/>
                <a:cs typeface="Calibri" pitchFamily="34" charset="-120"/>
              </a:rPr>
              <a:t>What is new here: the survey design carried through every margin, in a tool an analyst runs without code.</a:t>
            </a:r>
          </a:p>
        </p:txBody>
      </p:sp>
      <p:sp>
        <p:nvSpPr>
          <p:cNvPr id="11" name="Shape 11"/>
          <p:cNvSpPr/>
          <p:nvPr/>
        </p:nvSpPr>
        <p:spPr>
          <a:xfrm>
            <a:off x="685800" y="2560320"/>
            <a:ext cx="5212080" cy="2743200"/>
          </a:xfrm>
          <a:prstGeom prst="roundRect">
            <a:avLst>
              <a:gd name="adj" fmla="val 1000"/>
            </a:avLst>
          </a:prstGeom>
          <a:solidFill>
            <a:srgbClr val="E8F3F2"/>
          </a:solidFill>
          <a:ln w="12700">
            <a:solidFill>
              <a:srgbClr val="E8F3F2"/>
            </a:solidFill>
            <a:prstDash val="solid"/>
          </a:ln>
        </p:spPr>
      </p:sp>
      <p:sp>
        <p:nvSpPr>
          <p:cNvPr id="12" name="Text 12"/>
          <p:cNvSpPr/>
          <p:nvPr/>
        </p:nvSpPr>
        <p:spPr>
          <a:xfrm>
            <a:off x="1005840" y="2788920"/>
            <a:ext cx="457200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WITHOUT THE DESIGN</a:t>
            </a:r>
            <a:endParaRPr lang="en-US" sz="1000" dirty="0"/>
          </a:p>
        </p:txBody>
      </p:sp>
      <p:sp>
        <p:nvSpPr>
          <p:cNvPr id="13" name="Shape 13"/>
          <p:cNvSpPr/>
          <p:nvPr/>
        </p:nvSpPr>
        <p:spPr>
          <a:xfrm>
            <a:off x="1051560" y="3364992"/>
            <a:ext cx="182880" cy="182880"/>
          </a:xfrm>
          <a:prstGeom prst="ellipse">
            <a:avLst/>
          </a:prstGeom>
          <a:solidFill>
            <a:srgbClr val="21918C"/>
          </a:solidFill>
          <a:ln/>
        </p:spPr>
      </p:sp>
      <p:sp>
        <p:nvSpPr>
          <p:cNvPr id="14" name="Text 14"/>
          <p:cNvSpPr/>
          <p:nvPr/>
        </p:nvSpPr>
        <p:spPr>
          <a:xfrm>
            <a:off x="1399032" y="333756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Some respondents stand in for far more of the population than others.</a:t>
            </a:r>
            <a:endParaRPr lang="en-US" sz="1000" dirty="0"/>
          </a:p>
        </p:txBody>
      </p:sp>
      <p:sp>
        <p:nvSpPr>
          <p:cNvPr id="15" name="Shape 15"/>
          <p:cNvSpPr/>
          <p:nvPr/>
        </p:nvSpPr>
        <p:spPr>
          <a:xfrm>
            <a:off x="1051560" y="4005072"/>
            <a:ext cx="182880" cy="182880"/>
          </a:xfrm>
          <a:prstGeom prst="ellipse">
            <a:avLst/>
          </a:prstGeom>
          <a:solidFill>
            <a:srgbClr val="21918C"/>
          </a:solidFill>
          <a:ln/>
        </p:spPr>
      </p:sp>
      <p:sp>
        <p:nvSpPr>
          <p:cNvPr id="16" name="Text 16"/>
          <p:cNvSpPr/>
          <p:nvPr/>
        </p:nvSpPr>
        <p:spPr>
          <a:xfrm>
            <a:off x="1399032" y="397764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Ignore that, and audience sizes and their margins can be wrong.</a:t>
            </a:r>
            <a:endParaRPr lang="en-US" sz="1000" dirty="0"/>
          </a:p>
        </p:txBody>
      </p:sp>
      <p:sp>
        <p:nvSpPr>
          <p:cNvPr id="17" name="Shape 17"/>
          <p:cNvSpPr/>
          <p:nvPr/>
        </p:nvSpPr>
        <p:spPr>
          <a:xfrm>
            <a:off x="1051560" y="4645152"/>
            <a:ext cx="182880" cy="182880"/>
          </a:xfrm>
          <a:prstGeom prst="ellipse">
            <a:avLst/>
          </a:prstGeom>
          <a:solidFill>
            <a:srgbClr val="21918C"/>
          </a:solidFill>
          <a:ln/>
        </p:spPr>
      </p:sp>
      <p:sp>
        <p:nvSpPr>
          <p:cNvPr id="18" name="Text 18"/>
          <p:cNvSpPr/>
          <p:nvPr/>
        </p:nvSpPr>
        <p:spPr>
          <a:xfrm>
            <a:off x="1399032" y="4617720"/>
            <a:ext cx="429768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Free tools either ignore the design or stop short of these models.</a:t>
            </a:r>
            <a:endParaRPr lang="en-US" sz="1000" dirty="0"/>
          </a:p>
        </p:txBody>
      </p:sp>
      <p:sp>
        <p:nvSpPr>
          <p:cNvPr id="19" name="Shape 19"/>
          <p:cNvSpPr/>
          <p:nvPr/>
        </p:nvSpPr>
        <p:spPr>
          <a:xfrm>
            <a:off x="6537960" y="2560320"/>
            <a:ext cx="4937760" cy="2743200"/>
          </a:xfrm>
          <a:prstGeom prst="roundRect">
            <a:avLst>
              <a:gd name="adj" fmla="val 1000"/>
            </a:avLst>
          </a:prstGeom>
          <a:solidFill>
            <a:srgbClr val="F1EBF4"/>
          </a:solidFill>
          <a:ln w="12700">
            <a:solidFill>
              <a:srgbClr val="F1EBF4"/>
            </a:solidFill>
            <a:prstDash val="solid"/>
          </a:ln>
        </p:spPr>
      </p:sp>
      <p:sp>
        <p:nvSpPr>
          <p:cNvPr id="20" name="Text 20"/>
          <p:cNvSpPr/>
          <p:nvPr/>
        </p:nvSpPr>
        <p:spPr>
          <a:xfrm>
            <a:off x="6858000" y="2788920"/>
            <a:ext cx="4389120" cy="320040"/>
          </a:xfrm>
          <a:prstGeom prst="rect">
            <a:avLst/>
          </a:prstGeom>
          <a:noFill/>
          <a:ln/>
        </p:spPr>
        <p:txBody>
          <a:bodyPr wrap="square" lIns="0" tIns="0" rIns="0" bIns="0" rtlCol="0" anchor="ctr"/>
          <a:lstStyle/>
          <a:p>
            <a:pPr indent="0" marL="0">
              <a:buNone/>
            </a:pPr>
            <a:r>
              <a:rPr lang="en-US" sz="1600" b="1" dirty="0">
                <a:solidFill>
                  <a:srgbClr val="440154"/>
                </a:solidFill>
                <a:latin typeface="Calibri" pitchFamily="34" charset="0"/>
                <a:ea typeface="Calibri" pitchFamily="34" charset="-122"/>
                <a:cs typeface="Calibri" pitchFamily="34" charset="-120"/>
              </a:rPr>
              <a:t>WHAT THIS TOOL ADDS</a:t>
            </a:r>
            <a:endParaRPr lang="en-US" sz="1000" dirty="0"/>
          </a:p>
        </p:txBody>
      </p:sp>
      <p:sp>
        <p:nvSpPr>
          <p:cNvPr id="21" name="Shape 21"/>
          <p:cNvSpPr/>
          <p:nvPr/>
        </p:nvSpPr>
        <p:spPr>
          <a:xfrm>
            <a:off x="6903720" y="3364992"/>
            <a:ext cx="182880" cy="182880"/>
          </a:xfrm>
          <a:prstGeom prst="ellipse">
            <a:avLst/>
          </a:prstGeom>
          <a:solidFill>
            <a:srgbClr val="440154"/>
          </a:solidFill>
          <a:ln/>
        </p:spPr>
      </p:sp>
      <p:sp>
        <p:nvSpPr>
          <p:cNvPr id="22" name="Text 22"/>
          <p:cNvSpPr/>
          <p:nvPr/>
        </p:nvSpPr>
        <p:spPr>
          <a:xfrm>
            <a:off x="7251192" y="333756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The design carried through fitting, sizing and comparisons.</a:t>
            </a:r>
            <a:endParaRPr lang="en-US" sz="1000" dirty="0"/>
          </a:p>
        </p:txBody>
      </p:sp>
      <p:sp>
        <p:nvSpPr>
          <p:cNvPr id="23" name="Shape 23"/>
          <p:cNvSpPr/>
          <p:nvPr/>
        </p:nvSpPr>
        <p:spPr>
          <a:xfrm>
            <a:off x="6903720" y="4005072"/>
            <a:ext cx="182880" cy="182880"/>
          </a:xfrm>
          <a:prstGeom prst="ellipse">
            <a:avLst/>
          </a:prstGeom>
          <a:solidFill>
            <a:srgbClr val="440154"/>
          </a:solidFill>
          <a:ln/>
        </p:spPr>
      </p:sp>
      <p:sp>
        <p:nvSpPr>
          <p:cNvPr id="24" name="Text 24"/>
          <p:cNvSpPr/>
          <p:nvPr/>
        </p:nvSpPr>
        <p:spPr>
          <a:xfrm>
            <a:off x="7251192" y="397764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A point-and-click workflow; no coding required.</a:t>
            </a:r>
            <a:endParaRPr lang="en-US" sz="1000" dirty="0"/>
          </a:p>
        </p:txBody>
      </p:sp>
      <p:sp>
        <p:nvSpPr>
          <p:cNvPr id="25" name="Shape 25"/>
          <p:cNvSpPr/>
          <p:nvPr/>
        </p:nvSpPr>
        <p:spPr>
          <a:xfrm>
            <a:off x="6903720" y="4645152"/>
            <a:ext cx="182880" cy="182880"/>
          </a:xfrm>
          <a:prstGeom prst="ellipse">
            <a:avLst/>
          </a:prstGeom>
          <a:solidFill>
            <a:srgbClr val="440154"/>
          </a:solidFill>
          <a:ln/>
        </p:spPr>
      </p:sp>
      <p:sp>
        <p:nvSpPr>
          <p:cNvPr id="26" name="Text 26"/>
          <p:cNvSpPr/>
          <p:nvPr/>
        </p:nvSpPr>
        <p:spPr>
          <a:xfrm>
            <a:off x="7251192" y="4617720"/>
            <a:ext cx="402336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Optional AI drafting of wording, reviewed by the analyst.</a:t>
            </a:r>
            <a:endParaRPr lang="en-US" sz="1000" dirty="0"/>
          </a:p>
        </p:txBody>
      </p:sp>
      <p:sp>
        <p:nvSpPr>
          <p:cNvPr id="27" name="Text 27"/>
          <p:cNvSpPr/>
          <p:nvPr/>
        </p:nvSpPr>
        <p:spPr>
          <a:xfrm>
            <a:off x="685800" y="5486400"/>
            <a:ext cx="10789920" cy="457200"/>
          </a:xfrm>
          <a:prstGeom prst="rect">
            <a:avLst/>
          </a:prstGeom>
          <a:noFill/>
          <a:ln/>
        </p:spPr>
        <p:txBody>
          <a:bodyPr wrap="square" lIns="0" tIns="0" rIns="0" bIns="0" rtlCol="0" anchor="ctr"/>
          <a:lstStyle/>
          <a:p>
            <a:pPr algn="ctr" indent="0" marL="0">
              <a:buNone/>
            </a:pPr>
            <a:r>
              <a:rPr lang="en-US" sz="1350" dirty="0">
                <a:solidFill>
                  <a:srgbClr val="1F1F1F"/>
                </a:solidFill>
                <a:latin typeface="Calibri" pitchFamily="34" charset="0"/>
                <a:ea typeface="Calibri" pitchFamily="34" charset="-122"/>
                <a:cs typeface="Calibri" pitchFamily="34" charset="-120"/>
              </a:rPr>
              <a:t>Commercial packages (Mplus, Latent GOLD) do much of this. The gap was an open, auditable version.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Averages can hide publics that need opposite US approaches</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THE PROBLEM</a:t>
            </a:r>
            <a:endParaRPr lang="en-US" sz="1000" dirty="0"/>
          </a:p>
        </p:txBody>
      </p:sp>
      <p:sp>
        <p:nvSpPr>
          <p:cNvPr id="9" name="Shape 9"/>
          <p:cNvSpPr/>
          <p:nvPr/>
        </p:nvSpPr>
        <p:spPr>
          <a:xfrm>
            <a:off x="685800" y="1508760"/>
            <a:ext cx="3474720" cy="2743200"/>
          </a:xfrm>
          <a:prstGeom prst="roundRect">
            <a:avLst>
              <a:gd name="adj" fmla="val 2300"/>
            </a:avLst>
          </a:prstGeom>
          <a:solidFill>
            <a:srgbClr val="F1EBF4"/>
          </a:solidFill>
          <a:ln w="12700">
            <a:solidFill>
              <a:srgbClr val="F1EBF4"/>
            </a:solidFill>
            <a:prstDash val="solid"/>
          </a:ln>
        </p:spPr>
      </p:sp>
      <p:sp>
        <p:nvSpPr>
          <p:cNvPr id="10" name="Text 10"/>
          <p:cNvSpPr/>
          <p:nvPr/>
        </p:nvSpPr>
        <p:spPr>
          <a:xfrm>
            <a:off x="685800" y="1737360"/>
            <a:ext cx="3474720" cy="320040"/>
          </a:xfrm>
          <a:prstGeom prst="rect">
            <a:avLst/>
          </a:prstGeom>
          <a:noFill/>
          <a:ln/>
        </p:spPr>
        <p:txBody>
          <a:bodyPr wrap="square" lIns="0" tIns="0" rIns="0" bIns="0" rtlCol="0" anchor="ctr"/>
          <a:lstStyle/>
          <a:p>
            <a:pPr algn="ctr" indent="0" marL="0">
              <a:buNone/>
            </a:pPr>
            <a:r>
              <a:rPr lang="en-US" sz="1400" b="1" dirty="0">
                <a:solidFill>
                  <a:srgbClr val="6B6B6B"/>
                </a:solidFill>
                <a:latin typeface="Calibri" pitchFamily="34" charset="0"/>
                <a:ea typeface="Calibri" pitchFamily="34" charset="-122"/>
                <a:cs typeface="Calibri" pitchFamily="34" charset="-120"/>
              </a:rPr>
              <a:t>What the topline says</a:t>
            </a:r>
            <a:endParaRPr lang="en-US" sz="1000" dirty="0"/>
          </a:p>
        </p:txBody>
      </p:sp>
      <p:sp>
        <p:nvSpPr>
          <p:cNvPr id="11" name="Text 11"/>
          <p:cNvSpPr/>
          <p:nvPr/>
        </p:nvSpPr>
        <p:spPr>
          <a:xfrm>
            <a:off x="685800" y="2148840"/>
            <a:ext cx="3474720" cy="914400"/>
          </a:xfrm>
          <a:prstGeom prst="rect">
            <a:avLst/>
          </a:prstGeom>
          <a:noFill/>
          <a:ln/>
        </p:spPr>
        <p:txBody>
          <a:bodyPr wrap="square" lIns="0" tIns="0" rIns="0" bIns="0" rtlCol="0" anchor="ctr"/>
          <a:lstStyle/>
          <a:p>
            <a:pPr algn="ctr" indent="0" marL="0">
              <a:buNone/>
            </a:pPr>
            <a:r>
              <a:rPr lang="en-US" sz="4400" b="1" dirty="0">
                <a:solidFill>
                  <a:srgbClr val="440154"/>
                </a:solidFill>
                <a:latin typeface="Cambria" pitchFamily="34" charset="0"/>
                <a:ea typeface="Cambria" pitchFamily="34" charset="-122"/>
                <a:cs typeface="Cambria" pitchFamily="34" charset="-120"/>
              </a:rPr>
              <a:t>4.0 of 7</a:t>
            </a:r>
            <a:endParaRPr lang="en-US" sz="1000" dirty="0"/>
          </a:p>
        </p:txBody>
      </p:sp>
      <p:sp>
        <p:nvSpPr>
          <p:cNvPr id="12" name="Text 12"/>
          <p:cNvSpPr/>
          <p:nvPr/>
        </p:nvSpPr>
        <p:spPr>
          <a:xfrm>
            <a:off x="868680" y="3108960"/>
            <a:ext cx="3108960" cy="914400"/>
          </a:xfrm>
          <a:prstGeom prst="rect">
            <a:avLst/>
          </a:prstGeom>
          <a:noFill/>
          <a:ln/>
        </p:spPr>
        <p:txBody>
          <a:bodyPr wrap="square" lIns="0" tIns="0" rIns="0" bIns="0" rtlCol="0" anchor="t"/>
          <a:lstStyle/>
          <a:p>
            <a:pPr algn="ctr" indent="0" marL="0">
              <a:buNone/>
            </a:pPr>
            <a:r>
              <a:rPr lang="en-US" sz="1300" dirty="0">
                <a:solidFill>
                  <a:srgbClr val="1F1F1F"/>
                </a:solidFill>
                <a:latin typeface="Calibri" pitchFamily="34" charset="0"/>
                <a:ea typeface="Calibri" pitchFamily="34" charset="-122"/>
                <a:cs typeface="Calibri" pitchFamily="34" charset="-120"/>
              </a:rPr>
              <a:t>Average trust in six institutions, identical for both people</a:t>
            </a:r>
            <a:endParaRPr lang="en-US" sz="1000" dirty="0"/>
          </a:p>
        </p:txBody>
      </p:sp>
      <p:sp>
        <p:nvSpPr>
          <p:cNvPr id="13" name="Shape 13"/>
          <p:cNvSpPr/>
          <p:nvPr/>
        </p:nvSpPr>
        <p:spPr>
          <a:xfrm>
            <a:off x="4343400" y="1508760"/>
            <a:ext cx="3474720" cy="2743200"/>
          </a:xfrm>
          <a:prstGeom prst="roundRect">
            <a:avLst>
              <a:gd name="adj" fmla="val 2300"/>
            </a:avLst>
          </a:prstGeom>
          <a:solidFill>
            <a:srgbClr val="F7F7F7"/>
          </a:solidFill>
          <a:ln w="12700">
            <a:solidFill>
              <a:srgbClr val="E4E4E4"/>
            </a:solidFill>
            <a:prstDash val="solid"/>
          </a:ln>
        </p:spPr>
      </p:sp>
      <p:sp>
        <p:nvSpPr>
          <p:cNvPr id="14" name="Shape 14"/>
          <p:cNvSpPr/>
          <p:nvPr/>
        </p:nvSpPr>
        <p:spPr>
          <a:xfrm>
            <a:off x="4343400" y="1508760"/>
            <a:ext cx="3474720" cy="91440"/>
          </a:xfrm>
          <a:prstGeom prst="rect">
            <a:avLst/>
          </a:prstGeom>
          <a:solidFill>
            <a:srgbClr val="440154"/>
          </a:solidFill>
          <a:ln w="12700">
            <a:solidFill>
              <a:srgbClr val="440154"/>
            </a:solidFill>
            <a:prstDash val="solid"/>
          </a:ln>
        </p:spPr>
      </p:sp>
      <p:sp>
        <p:nvSpPr>
          <p:cNvPr id="15" name="Text 15"/>
          <p:cNvSpPr/>
          <p:nvPr/>
        </p:nvSpPr>
        <p:spPr>
          <a:xfrm>
            <a:off x="4572000" y="1691640"/>
            <a:ext cx="3017520" cy="36576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Person A</a:t>
            </a:r>
            <a:endParaRPr lang="en-US" sz="1000" dirty="0"/>
          </a:p>
        </p:txBody>
      </p:sp>
      <p:sp>
        <p:nvSpPr>
          <p:cNvPr id="16" name="Text 16"/>
          <p:cNvSpPr/>
          <p:nvPr/>
        </p:nvSpPr>
        <p:spPr>
          <a:xfrm>
            <a:off x="4572000" y="2194560"/>
            <a:ext cx="3017520" cy="274320"/>
          </a:xfrm>
          <a:prstGeom prst="rect">
            <a:avLst/>
          </a:prstGeom>
          <a:noFill/>
          <a:ln/>
        </p:spPr>
        <p:txBody>
          <a:bodyPr wrap="square" lIns="0" tIns="0" rIns="0" bIns="0" rtlCol="0" anchor="ctr"/>
          <a:lstStyle/>
          <a:p>
            <a:pPr indent="0" marL="0">
              <a:buNone/>
            </a:pPr>
            <a:r>
              <a:rPr lang="en-US" sz="1000" b="1" spc="120" kern="0" dirty="0">
                <a:solidFill>
                  <a:srgbClr val="21918C"/>
                </a:solidFill>
                <a:latin typeface="Calibri" pitchFamily="34" charset="0"/>
                <a:ea typeface="Calibri" pitchFamily="34" charset="-122"/>
                <a:cs typeface="Calibri" pitchFamily="34" charset="-120"/>
              </a:rPr>
              <a:t>TRUSTS</a:t>
            </a:r>
            <a:endParaRPr lang="en-US" sz="1000" dirty="0"/>
          </a:p>
        </p:txBody>
      </p:sp>
      <p:sp>
        <p:nvSpPr>
          <p:cNvPr id="17" name="Text 17"/>
          <p:cNvSpPr/>
          <p:nvPr/>
        </p:nvSpPr>
        <p:spPr>
          <a:xfrm>
            <a:off x="4572000" y="2468880"/>
            <a:ext cx="301752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Courts, the auditor, elections</a:t>
            </a:r>
            <a:endParaRPr lang="en-US" sz="1000" dirty="0"/>
          </a:p>
        </p:txBody>
      </p:sp>
      <p:sp>
        <p:nvSpPr>
          <p:cNvPr id="18" name="Text 18"/>
          <p:cNvSpPr/>
          <p:nvPr/>
        </p:nvSpPr>
        <p:spPr>
          <a:xfrm>
            <a:off x="4572000" y="3154680"/>
            <a:ext cx="3017520" cy="274320"/>
          </a:xfrm>
          <a:prstGeom prst="rect">
            <a:avLst/>
          </a:prstGeom>
          <a:noFill/>
          <a:ln/>
        </p:spPr>
        <p:txBody>
          <a:bodyPr wrap="square" lIns="0" tIns="0" rIns="0" bIns="0" rtlCol="0" anchor="ctr"/>
          <a:lstStyle/>
          <a:p>
            <a:pPr indent="0" marL="0">
              <a:buNone/>
            </a:pPr>
            <a:r>
              <a:rPr lang="en-US" sz="1000" b="1" spc="120" kern="0" dirty="0">
                <a:solidFill>
                  <a:srgbClr val="21918C"/>
                </a:solidFill>
                <a:latin typeface="Calibri" pitchFamily="34" charset="0"/>
                <a:ea typeface="Calibri" pitchFamily="34" charset="-122"/>
                <a:cs typeface="Calibri" pitchFamily="34" charset="-120"/>
              </a:rPr>
              <a:t>DISTRUSTS</a:t>
            </a:r>
            <a:endParaRPr lang="en-US" sz="1000" dirty="0"/>
          </a:p>
        </p:txBody>
      </p:sp>
      <p:sp>
        <p:nvSpPr>
          <p:cNvPr id="19" name="Text 19"/>
          <p:cNvSpPr/>
          <p:nvPr/>
        </p:nvSpPr>
        <p:spPr>
          <a:xfrm>
            <a:off x="4572000" y="3429000"/>
            <a:ext cx="301752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The president and the military</a:t>
            </a:r>
            <a:endParaRPr lang="en-US" sz="1000" dirty="0"/>
          </a:p>
        </p:txBody>
      </p:sp>
      <p:sp>
        <p:nvSpPr>
          <p:cNvPr id="20" name="Shape 20"/>
          <p:cNvSpPr/>
          <p:nvPr/>
        </p:nvSpPr>
        <p:spPr>
          <a:xfrm>
            <a:off x="8001000" y="1508760"/>
            <a:ext cx="3474720" cy="2743200"/>
          </a:xfrm>
          <a:prstGeom prst="roundRect">
            <a:avLst>
              <a:gd name="adj" fmla="val 2300"/>
            </a:avLst>
          </a:prstGeom>
          <a:solidFill>
            <a:srgbClr val="F7F7F7"/>
          </a:solidFill>
          <a:ln w="12700">
            <a:solidFill>
              <a:srgbClr val="E4E4E4"/>
            </a:solidFill>
            <a:prstDash val="solid"/>
          </a:ln>
        </p:spPr>
      </p:sp>
      <p:sp>
        <p:nvSpPr>
          <p:cNvPr id="21" name="Shape 21"/>
          <p:cNvSpPr/>
          <p:nvPr/>
        </p:nvSpPr>
        <p:spPr>
          <a:xfrm>
            <a:off x="8001000" y="1508760"/>
            <a:ext cx="3474720" cy="91440"/>
          </a:xfrm>
          <a:prstGeom prst="rect">
            <a:avLst/>
          </a:prstGeom>
          <a:solidFill>
            <a:srgbClr val="21918C"/>
          </a:solidFill>
          <a:ln w="12700">
            <a:solidFill>
              <a:srgbClr val="21918C"/>
            </a:solidFill>
            <a:prstDash val="solid"/>
          </a:ln>
        </p:spPr>
      </p:sp>
      <p:sp>
        <p:nvSpPr>
          <p:cNvPr id="22" name="Text 22"/>
          <p:cNvSpPr/>
          <p:nvPr/>
        </p:nvSpPr>
        <p:spPr>
          <a:xfrm>
            <a:off x="8229600" y="1691640"/>
            <a:ext cx="3017520" cy="365760"/>
          </a:xfrm>
          <a:prstGeom prst="rect">
            <a:avLst/>
          </a:prstGeom>
          <a:noFill/>
          <a:ln/>
        </p:spPr>
        <p:txBody>
          <a:bodyPr wrap="square" lIns="0" tIns="0" rIns="0" bIns="0" rtlCol="0" anchor="ctr"/>
          <a:lstStyle/>
          <a:p>
            <a:pPr indent="0" marL="0">
              <a:buNone/>
            </a:pPr>
            <a:r>
              <a:rPr lang="en-US" sz="1700" b="1" dirty="0">
                <a:solidFill>
                  <a:srgbClr val="440154"/>
                </a:solidFill>
                <a:latin typeface="Calibri" pitchFamily="34" charset="0"/>
                <a:ea typeface="Calibri" pitchFamily="34" charset="-122"/>
                <a:cs typeface="Calibri" pitchFamily="34" charset="-120"/>
              </a:rPr>
              <a:t>Person B</a:t>
            </a:r>
            <a:endParaRPr lang="en-US" sz="1000" dirty="0"/>
          </a:p>
        </p:txBody>
      </p:sp>
      <p:sp>
        <p:nvSpPr>
          <p:cNvPr id="23" name="Text 23"/>
          <p:cNvSpPr/>
          <p:nvPr/>
        </p:nvSpPr>
        <p:spPr>
          <a:xfrm>
            <a:off x="8229600" y="2194560"/>
            <a:ext cx="3017520" cy="274320"/>
          </a:xfrm>
          <a:prstGeom prst="rect">
            <a:avLst/>
          </a:prstGeom>
          <a:noFill/>
          <a:ln/>
        </p:spPr>
        <p:txBody>
          <a:bodyPr wrap="square" lIns="0" tIns="0" rIns="0" bIns="0" rtlCol="0" anchor="ctr"/>
          <a:lstStyle/>
          <a:p>
            <a:pPr indent="0" marL="0">
              <a:buNone/>
            </a:pPr>
            <a:r>
              <a:rPr lang="en-US" sz="1000" b="1" spc="120" kern="0" dirty="0">
                <a:solidFill>
                  <a:srgbClr val="21918C"/>
                </a:solidFill>
                <a:latin typeface="Calibri" pitchFamily="34" charset="0"/>
                <a:ea typeface="Calibri" pitchFamily="34" charset="-122"/>
                <a:cs typeface="Calibri" pitchFamily="34" charset="-120"/>
              </a:rPr>
              <a:t>TRUSTS</a:t>
            </a:r>
            <a:endParaRPr lang="en-US" sz="1000" dirty="0"/>
          </a:p>
        </p:txBody>
      </p:sp>
      <p:sp>
        <p:nvSpPr>
          <p:cNvPr id="24" name="Text 24"/>
          <p:cNvSpPr/>
          <p:nvPr/>
        </p:nvSpPr>
        <p:spPr>
          <a:xfrm>
            <a:off x="8229600" y="2468880"/>
            <a:ext cx="301752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The president, the military, the police</a:t>
            </a:r>
            <a:endParaRPr lang="en-US" sz="1000" dirty="0"/>
          </a:p>
        </p:txBody>
      </p:sp>
      <p:sp>
        <p:nvSpPr>
          <p:cNvPr id="25" name="Text 25"/>
          <p:cNvSpPr/>
          <p:nvPr/>
        </p:nvSpPr>
        <p:spPr>
          <a:xfrm>
            <a:off x="8229600" y="3154680"/>
            <a:ext cx="3017520" cy="274320"/>
          </a:xfrm>
          <a:prstGeom prst="rect">
            <a:avLst/>
          </a:prstGeom>
          <a:noFill/>
          <a:ln/>
        </p:spPr>
        <p:txBody>
          <a:bodyPr wrap="square" lIns="0" tIns="0" rIns="0" bIns="0" rtlCol="0" anchor="ctr"/>
          <a:lstStyle/>
          <a:p>
            <a:pPr indent="0" marL="0">
              <a:buNone/>
            </a:pPr>
            <a:r>
              <a:rPr lang="en-US" sz="1000" b="1" spc="120" kern="0" dirty="0">
                <a:solidFill>
                  <a:srgbClr val="21918C"/>
                </a:solidFill>
                <a:latin typeface="Calibri" pitchFamily="34" charset="0"/>
                <a:ea typeface="Calibri" pitchFamily="34" charset="-122"/>
                <a:cs typeface="Calibri" pitchFamily="34" charset="-120"/>
              </a:rPr>
              <a:t>DISTRUSTS</a:t>
            </a:r>
            <a:endParaRPr lang="en-US" sz="1000" dirty="0"/>
          </a:p>
        </p:txBody>
      </p:sp>
      <p:sp>
        <p:nvSpPr>
          <p:cNvPr id="26" name="Text 26"/>
          <p:cNvSpPr/>
          <p:nvPr/>
        </p:nvSpPr>
        <p:spPr>
          <a:xfrm>
            <a:off x="8229600" y="3429000"/>
            <a:ext cx="3017520" cy="640080"/>
          </a:xfrm>
          <a:prstGeom prst="rect">
            <a:avLst/>
          </a:prstGeom>
          <a:noFill/>
          <a:ln/>
        </p:spPr>
        <p:txBody>
          <a:bodyPr wrap="square" lIns="0" tIns="0" rIns="0" bIns="0" rtlCol="0" anchor="t"/>
          <a:lstStyle/>
          <a:p>
            <a:pPr indent="0" marL="0">
              <a:buNone/>
            </a:pPr>
            <a:r>
              <a:rPr lang="en-US" sz="1350" dirty="0">
                <a:solidFill>
                  <a:srgbClr val="1F1F1F"/>
                </a:solidFill>
                <a:latin typeface="Calibri" pitchFamily="34" charset="0"/>
                <a:ea typeface="Calibri" pitchFamily="34" charset="-122"/>
                <a:cs typeface="Calibri" pitchFamily="34" charset="-120"/>
              </a:rPr>
              <a:t>Courts and the auditor</a:t>
            </a:r>
            <a:endParaRPr lang="en-US" sz="1000" dirty="0"/>
          </a:p>
        </p:txBody>
      </p:sp>
      <p:sp>
        <p:nvSpPr>
          <p:cNvPr id="27" name="Shape 27"/>
          <p:cNvSpPr/>
          <p:nvPr/>
        </p:nvSpPr>
        <p:spPr>
          <a:xfrm>
            <a:off x="685800" y="4434840"/>
            <a:ext cx="10789920" cy="1188720"/>
          </a:xfrm>
          <a:prstGeom prst="roundRect">
            <a:avLst>
              <a:gd name="adj" fmla="val 1724"/>
            </a:avLst>
          </a:prstGeom>
          <a:solidFill>
            <a:srgbClr val="E8F3F2"/>
          </a:solidFill>
          <a:ln w="12700">
            <a:solidFill>
              <a:srgbClr val="E8F3F2"/>
            </a:solidFill>
            <a:prstDash val="solid"/>
          </a:ln>
        </p:spPr>
      </p:sp>
      <p:sp>
        <p:nvSpPr>
          <p:cNvPr id="28" name="Text 28"/>
          <p:cNvSpPr/>
          <p:nvPr/>
        </p:nvSpPr>
        <p:spPr>
          <a:xfrm>
            <a:off x="1143000" y="4434840"/>
            <a:ext cx="9875520" cy="1188720"/>
          </a:xfrm>
          <a:prstGeom prst="rect">
            <a:avLst/>
          </a:prstGeom>
          <a:noFill/>
          <a:ln/>
        </p:spPr>
        <p:txBody>
          <a:bodyPr wrap="square" lIns="0" tIns="0" rIns="0" bIns="0" rtlCol="0" anchor="ctr"/>
          <a:lstStyle/>
          <a:p>
            <a:pPr algn="ctr" indent="0" marL="0">
              <a:buNone/>
            </a:pPr>
            <a:r>
              <a:rPr lang="en-US" sz="1500" dirty="0">
                <a:solidFill>
                  <a:srgbClr val="1F1F1F"/>
                </a:solidFill>
                <a:latin typeface="Calibri" pitchFamily="34" charset="0"/>
                <a:ea typeface="Calibri" pitchFamily="34" charset="-122"/>
                <a:cs typeface="Calibri" pitchFamily="34" charset="-120"/>
              </a:rPr>
              <a:t>A US message built on security partnership lands with Person B and alienates Person A. A rule-of-law message does the reverse.</a:t>
            </a:r>
          </a:p>
          <a:p>
            <a:pPr algn="ctr" indent="0" marL="0">
              <a:buNone/>
            </a:pPr>
            <a:r>
              <a:rPr lang="en-US" sz="1550" b="1" dirty="0">
                <a:solidFill>
                  <a:srgbClr val="440154"/>
                </a:solidFill>
                <a:latin typeface="Calibri" pitchFamily="34" charset="0"/>
                <a:ea typeface="Calibri" pitchFamily="34" charset="-122"/>
                <a:cs typeface="Calibri" pitchFamily="34" charset="-120"/>
              </a:rPr>
              <a:t>The average points to neither.</a:t>
            </a:r>
          </a:p>
        </p:txBody>
      </p:sp>
      <p:sp>
        <p:nvSpPr>
          <p:cNvPr id="29" name="Text 29"/>
          <p:cNvSpPr/>
          <p:nvPr/>
        </p:nvSpPr>
        <p:spPr>
          <a:xfrm>
            <a:off x="685800" y="5760720"/>
            <a:ext cx="10789920" cy="32004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Illustration: two hypothetical respondents, not survey data. The real survey comes next.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Five publics in Ecuador, and each may need a different channel</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WHAT THE SURVEY SHOWS</a:t>
            </a:r>
            <a:endParaRPr lang="en-US" sz="1000" dirty="0"/>
          </a:p>
        </p:txBody>
      </p:sp>
      <p:sp>
        <p:nvSpPr>
          <p:cNvPr id="9" name="Text 9"/>
          <p:cNvSpPr/>
          <p:nvPr/>
        </p:nvSpPr>
        <p:spPr>
          <a:xfrm>
            <a:off x="685800" y="1417320"/>
            <a:ext cx="3017520" cy="274320"/>
          </a:xfrm>
          <a:prstGeom prst="rect">
            <a:avLst/>
          </a:prstGeom>
          <a:noFill/>
          <a:ln/>
        </p:spPr>
        <p:txBody>
          <a:bodyPr wrap="square" lIns="0" tIns="0" rIns="0" bIns="0" rtlCol="0" anchor="ctr"/>
          <a:lstStyle/>
          <a:p>
            <a:pPr indent="0" marL="0">
              <a:buNone/>
            </a:pPr>
            <a:r>
              <a:rPr lang="en-US" sz="1050" b="1" spc="120" kern="0" dirty="0">
                <a:solidFill>
                  <a:srgbClr val="21918C"/>
                </a:solidFill>
                <a:latin typeface="Calibri" pitchFamily="34" charset="0"/>
                <a:ea typeface="Calibri" pitchFamily="34" charset="-122"/>
                <a:cs typeface="Calibri" pitchFamily="34" charset="-120"/>
              </a:rPr>
              <a:t>PUBLIC</a:t>
            </a:r>
            <a:endParaRPr lang="en-US" sz="1000" dirty="0"/>
          </a:p>
        </p:txBody>
      </p:sp>
      <p:sp>
        <p:nvSpPr>
          <p:cNvPr id="10" name="Text 10"/>
          <p:cNvSpPr/>
          <p:nvPr/>
        </p:nvSpPr>
        <p:spPr>
          <a:xfrm>
            <a:off x="3749040" y="1417320"/>
            <a:ext cx="3474720" cy="274320"/>
          </a:xfrm>
          <a:prstGeom prst="rect">
            <a:avLst/>
          </a:prstGeom>
          <a:noFill/>
          <a:ln/>
        </p:spPr>
        <p:txBody>
          <a:bodyPr wrap="square" lIns="0" tIns="0" rIns="0" bIns="0" rtlCol="0" anchor="ctr"/>
          <a:lstStyle/>
          <a:p>
            <a:pPr indent="0" marL="0">
              <a:buNone/>
            </a:pPr>
            <a:r>
              <a:rPr lang="en-US" sz="1050" b="1" spc="120" kern="0" dirty="0">
                <a:solidFill>
                  <a:srgbClr val="21918C"/>
                </a:solidFill>
                <a:latin typeface="Calibri" pitchFamily="34" charset="0"/>
                <a:ea typeface="Calibri" pitchFamily="34" charset="-122"/>
                <a:cs typeface="Calibri" pitchFamily="34" charset="-120"/>
              </a:rPr>
              <a:t>SHARE OF ADULTS</a:t>
            </a:r>
            <a:endParaRPr lang="en-US" sz="1000" dirty="0"/>
          </a:p>
        </p:txBody>
      </p:sp>
      <p:sp>
        <p:nvSpPr>
          <p:cNvPr id="11" name="Text 11"/>
          <p:cNvSpPr/>
          <p:nvPr/>
        </p:nvSpPr>
        <p:spPr>
          <a:xfrm>
            <a:off x="7406640" y="1417320"/>
            <a:ext cx="4069080" cy="274320"/>
          </a:xfrm>
          <a:prstGeom prst="rect">
            <a:avLst/>
          </a:prstGeom>
          <a:noFill/>
          <a:ln/>
        </p:spPr>
        <p:txBody>
          <a:bodyPr wrap="square" lIns="0" tIns="0" rIns="0" bIns="0" rtlCol="0" anchor="ctr"/>
          <a:lstStyle/>
          <a:p>
            <a:pPr indent="0" marL="0">
              <a:buNone/>
            </a:pPr>
            <a:r>
              <a:rPr lang="en-US" sz="1050" b="1" spc="120" kern="0" dirty="0">
                <a:solidFill>
                  <a:srgbClr val="21918C"/>
                </a:solidFill>
                <a:latin typeface="Calibri" pitchFamily="34" charset="0"/>
                <a:ea typeface="Calibri" pitchFamily="34" charset="-122"/>
                <a:cs typeface="Calibri" pitchFamily="34" charset="-120"/>
              </a:rPr>
              <a:t>WHAT IT SUGGESTS FOR ENGAGEMENT</a:t>
            </a:r>
            <a:endParaRPr lang="en-US" sz="1000" dirty="0"/>
          </a:p>
        </p:txBody>
      </p:sp>
      <p:sp>
        <p:nvSpPr>
          <p:cNvPr id="12" name="Shape 12"/>
          <p:cNvSpPr/>
          <p:nvPr/>
        </p:nvSpPr>
        <p:spPr>
          <a:xfrm>
            <a:off x="685800" y="1737360"/>
            <a:ext cx="10789920" cy="694944"/>
          </a:xfrm>
          <a:prstGeom prst="roundRect">
            <a:avLst>
              <a:gd name="adj" fmla="val 4000"/>
            </a:avLst>
          </a:prstGeom>
          <a:solidFill>
            <a:srgbClr val="F7F7F7"/>
          </a:solidFill>
          <a:ln w="12700">
            <a:solidFill>
              <a:srgbClr val="E4E4E4"/>
            </a:solidFill>
            <a:prstDash val="solid"/>
          </a:ln>
        </p:spPr>
      </p:sp>
      <p:sp>
        <p:nvSpPr>
          <p:cNvPr id="13" name="Text 13"/>
          <p:cNvSpPr/>
          <p:nvPr/>
        </p:nvSpPr>
        <p:spPr>
          <a:xfrm>
            <a:off x="868680" y="1737360"/>
            <a:ext cx="2834640" cy="694944"/>
          </a:xfrm>
          <a:prstGeom prst="rect">
            <a:avLst/>
          </a:prstGeom>
          <a:noFill/>
          <a:ln/>
        </p:spPr>
        <p:txBody>
          <a:bodyPr wrap="square" lIns="0" tIns="0" rIns="0" bIns="0" rtlCol="0" anchor="ctr"/>
          <a:lstStyle/>
          <a:p>
            <a:pPr indent="0" marL="0">
              <a:buNone/>
            </a:pPr>
            <a:r>
              <a:rPr lang="en-US" sz="1450" b="1" dirty="0">
                <a:solidFill>
                  <a:srgbClr val="440154"/>
                </a:solidFill>
                <a:latin typeface="Calibri" pitchFamily="34" charset="0"/>
                <a:ea typeface="Calibri" pitchFamily="34" charset="-122"/>
                <a:cs typeface="Calibri" pitchFamily="34" charset="-120"/>
              </a:rPr>
              <a:t>Trust nearly everything</a:t>
            </a:r>
            <a:endParaRPr lang="en-US" sz="1000" dirty="0"/>
          </a:p>
        </p:txBody>
      </p:sp>
      <p:sp>
        <p:nvSpPr>
          <p:cNvPr id="14" name="Shape 14"/>
          <p:cNvSpPr/>
          <p:nvPr/>
        </p:nvSpPr>
        <p:spPr>
          <a:xfrm>
            <a:off x="3749040" y="1938528"/>
            <a:ext cx="648208" cy="292608"/>
          </a:xfrm>
          <a:prstGeom prst="rect">
            <a:avLst/>
          </a:prstGeom>
          <a:solidFill>
            <a:srgbClr val="5EC962"/>
          </a:solidFill>
          <a:ln w="12700">
            <a:solidFill>
              <a:srgbClr val="5EC962"/>
            </a:solidFill>
            <a:prstDash val="solid"/>
          </a:ln>
        </p:spPr>
      </p:sp>
      <p:sp>
        <p:nvSpPr>
          <p:cNvPr id="15" name="Text 15"/>
          <p:cNvSpPr/>
          <p:nvPr/>
        </p:nvSpPr>
        <p:spPr>
          <a:xfrm>
            <a:off x="4488688" y="1737360"/>
            <a:ext cx="1463040" cy="694944"/>
          </a:xfrm>
          <a:prstGeom prst="rect">
            <a:avLst/>
          </a:prstGeom>
          <a:noFill/>
          <a:ln/>
        </p:spPr>
        <p:txBody>
          <a:bodyPr wrap="square" lIns="0" tIns="0" rIns="0" bIns="0" rtlCol="0" anchor="ctr"/>
          <a:lstStyle/>
          <a:p>
            <a:pPr indent="0" marL="0">
              <a:buNone/>
            </a:pPr>
            <a:r>
              <a:rPr lang="en-US" sz="1450" b="1" dirty="0">
                <a:solidFill>
                  <a:srgbClr val="1F1F1F"/>
                </a:solidFill>
                <a:latin typeface="Calibri" pitchFamily="34" charset="0"/>
                <a:ea typeface="Calibri" pitchFamily="34" charset="-122"/>
                <a:cs typeface="Calibri" pitchFamily="34" charset="-120"/>
              </a:rPr>
              <a:t>11%</a:t>
            </a:r>
            <a:r>
              <a:rPr lang="en-US" sz="1100" dirty="0">
                <a:solidFill>
                  <a:srgbClr val="6B6B6B"/>
                </a:solidFill>
                <a:latin typeface="Calibri" pitchFamily="34" charset="0"/>
                <a:ea typeface="Calibri" pitchFamily="34" charset="-122"/>
                <a:cs typeface="Calibri" pitchFamily="34" charset="-120"/>
              </a:rPr>
              <a:t>  about 1 in 10</a:t>
            </a:r>
            <a:endParaRPr lang="en-US" sz="1000" dirty="0"/>
          </a:p>
        </p:txBody>
      </p:sp>
      <p:sp>
        <p:nvSpPr>
          <p:cNvPr id="16" name="Text 16"/>
          <p:cNvSpPr/>
          <p:nvPr/>
        </p:nvSpPr>
        <p:spPr>
          <a:xfrm>
            <a:off x="7406640" y="1737360"/>
            <a:ext cx="3931920" cy="694944"/>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Receptive to official and partner-government voices</a:t>
            </a:r>
            <a:endParaRPr lang="en-US" sz="1000" dirty="0"/>
          </a:p>
        </p:txBody>
      </p:sp>
      <p:sp>
        <p:nvSpPr>
          <p:cNvPr id="17" name="Shape 17"/>
          <p:cNvSpPr/>
          <p:nvPr/>
        </p:nvSpPr>
        <p:spPr>
          <a:xfrm>
            <a:off x="685800" y="2496312"/>
            <a:ext cx="10789920" cy="694944"/>
          </a:xfrm>
          <a:prstGeom prst="roundRect">
            <a:avLst>
              <a:gd name="adj" fmla="val 4000"/>
            </a:avLst>
          </a:prstGeom>
          <a:solidFill>
            <a:srgbClr val="F7F7F7"/>
          </a:solidFill>
          <a:ln w="12700">
            <a:solidFill>
              <a:srgbClr val="E4E4E4"/>
            </a:solidFill>
            <a:prstDash val="solid"/>
          </a:ln>
        </p:spPr>
      </p:sp>
      <p:sp>
        <p:nvSpPr>
          <p:cNvPr id="18" name="Text 18"/>
          <p:cNvSpPr/>
          <p:nvPr/>
        </p:nvSpPr>
        <p:spPr>
          <a:xfrm>
            <a:off x="868680" y="2496312"/>
            <a:ext cx="2834640" cy="694944"/>
          </a:xfrm>
          <a:prstGeom prst="rect">
            <a:avLst/>
          </a:prstGeom>
          <a:noFill/>
          <a:ln/>
        </p:spPr>
        <p:txBody>
          <a:bodyPr wrap="square" lIns="0" tIns="0" rIns="0" bIns="0" rtlCol="0" anchor="ctr"/>
          <a:lstStyle/>
          <a:p>
            <a:pPr indent="0" marL="0">
              <a:buNone/>
            </a:pPr>
            <a:r>
              <a:rPr lang="en-US" sz="1450" b="1" dirty="0">
                <a:solidFill>
                  <a:srgbClr val="440154"/>
                </a:solidFill>
                <a:latin typeface="Calibri" pitchFamily="34" charset="0"/>
                <a:ea typeface="Calibri" pitchFamily="34" charset="-122"/>
                <a:cs typeface="Calibri" pitchFamily="34" charset="-120"/>
              </a:rPr>
              <a:t>Generally trusting</a:t>
            </a:r>
            <a:endParaRPr lang="en-US" sz="1000" dirty="0"/>
          </a:p>
        </p:txBody>
      </p:sp>
      <p:sp>
        <p:nvSpPr>
          <p:cNvPr id="19" name="Shape 19"/>
          <p:cNvSpPr/>
          <p:nvPr/>
        </p:nvSpPr>
        <p:spPr>
          <a:xfrm>
            <a:off x="3749040" y="2697480"/>
            <a:ext cx="1237488" cy="292608"/>
          </a:xfrm>
          <a:prstGeom prst="rect">
            <a:avLst/>
          </a:prstGeom>
          <a:solidFill>
            <a:srgbClr val="BBA800"/>
          </a:solidFill>
          <a:ln w="12700">
            <a:solidFill>
              <a:srgbClr val="BBA800"/>
            </a:solidFill>
            <a:prstDash val="solid"/>
          </a:ln>
        </p:spPr>
      </p:sp>
      <p:sp>
        <p:nvSpPr>
          <p:cNvPr id="20" name="Text 20"/>
          <p:cNvSpPr/>
          <p:nvPr/>
        </p:nvSpPr>
        <p:spPr>
          <a:xfrm>
            <a:off x="5077968" y="2496312"/>
            <a:ext cx="1463040" cy="694944"/>
          </a:xfrm>
          <a:prstGeom prst="rect">
            <a:avLst/>
          </a:prstGeom>
          <a:noFill/>
          <a:ln/>
        </p:spPr>
        <p:txBody>
          <a:bodyPr wrap="square" lIns="0" tIns="0" rIns="0" bIns="0" rtlCol="0" anchor="ctr"/>
          <a:lstStyle/>
          <a:p>
            <a:pPr indent="0" marL="0">
              <a:buNone/>
            </a:pPr>
            <a:r>
              <a:rPr lang="en-US" sz="1450" b="1" dirty="0">
                <a:solidFill>
                  <a:srgbClr val="1F1F1F"/>
                </a:solidFill>
                <a:latin typeface="Calibri" pitchFamily="34" charset="0"/>
                <a:ea typeface="Calibri" pitchFamily="34" charset="-122"/>
                <a:cs typeface="Calibri" pitchFamily="34" charset="-120"/>
              </a:rPr>
              <a:t>21%</a:t>
            </a:r>
            <a:r>
              <a:rPr lang="en-US" sz="1100" dirty="0">
                <a:solidFill>
                  <a:srgbClr val="6B6B6B"/>
                </a:solidFill>
                <a:latin typeface="Calibri" pitchFamily="34" charset="0"/>
                <a:ea typeface="Calibri" pitchFamily="34" charset="-122"/>
                <a:cs typeface="Calibri" pitchFamily="34" charset="-120"/>
              </a:rPr>
              <a:t>  about 1 in 5</a:t>
            </a:r>
            <a:endParaRPr lang="en-US" sz="1000" dirty="0"/>
          </a:p>
        </p:txBody>
      </p:sp>
      <p:sp>
        <p:nvSpPr>
          <p:cNvPr id="21" name="Text 21"/>
          <p:cNvSpPr/>
          <p:nvPr/>
        </p:nvSpPr>
        <p:spPr>
          <a:xfrm>
            <a:off x="7406640" y="2496312"/>
            <a:ext cx="3931920" cy="694944"/>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Receptive, though cooler toward parties and police</a:t>
            </a:r>
            <a:endParaRPr lang="en-US" sz="1000" dirty="0"/>
          </a:p>
        </p:txBody>
      </p:sp>
      <p:sp>
        <p:nvSpPr>
          <p:cNvPr id="22" name="Shape 22"/>
          <p:cNvSpPr/>
          <p:nvPr/>
        </p:nvSpPr>
        <p:spPr>
          <a:xfrm>
            <a:off x="685800" y="3255264"/>
            <a:ext cx="10789920" cy="694944"/>
          </a:xfrm>
          <a:prstGeom prst="roundRect">
            <a:avLst>
              <a:gd name="adj" fmla="val 4000"/>
            </a:avLst>
          </a:prstGeom>
          <a:solidFill>
            <a:srgbClr val="F7F7F7"/>
          </a:solidFill>
          <a:ln w="12700">
            <a:solidFill>
              <a:srgbClr val="E4E4E4"/>
            </a:solidFill>
            <a:prstDash val="solid"/>
          </a:ln>
        </p:spPr>
      </p:sp>
      <p:sp>
        <p:nvSpPr>
          <p:cNvPr id="23" name="Text 23"/>
          <p:cNvSpPr/>
          <p:nvPr/>
        </p:nvSpPr>
        <p:spPr>
          <a:xfrm>
            <a:off x="868680" y="3255264"/>
            <a:ext cx="2834640" cy="694944"/>
          </a:xfrm>
          <a:prstGeom prst="rect">
            <a:avLst/>
          </a:prstGeom>
          <a:noFill/>
          <a:ln/>
        </p:spPr>
        <p:txBody>
          <a:bodyPr wrap="square" lIns="0" tIns="0" rIns="0" bIns="0" rtlCol="0" anchor="ctr"/>
          <a:lstStyle/>
          <a:p>
            <a:pPr indent="0" marL="0">
              <a:buNone/>
            </a:pPr>
            <a:r>
              <a:rPr lang="en-US" sz="1450" b="1" dirty="0">
                <a:solidFill>
                  <a:srgbClr val="440154"/>
                </a:solidFill>
                <a:latin typeface="Calibri" pitchFamily="34" charset="0"/>
                <a:ea typeface="Calibri" pitchFamily="34" charset="-122"/>
                <a:cs typeface="Calibri" pitchFamily="34" charset="-120"/>
              </a:rPr>
              <a:t>Moderate middle</a:t>
            </a:r>
            <a:endParaRPr lang="en-US" sz="1000" dirty="0"/>
          </a:p>
        </p:txBody>
      </p:sp>
      <p:sp>
        <p:nvSpPr>
          <p:cNvPr id="24" name="Shape 24"/>
          <p:cNvSpPr/>
          <p:nvPr/>
        </p:nvSpPr>
        <p:spPr>
          <a:xfrm>
            <a:off x="3749040" y="3456432"/>
            <a:ext cx="1944624" cy="292608"/>
          </a:xfrm>
          <a:prstGeom prst="rect">
            <a:avLst/>
          </a:prstGeom>
          <a:solidFill>
            <a:srgbClr val="21918C"/>
          </a:solidFill>
          <a:ln w="12700">
            <a:solidFill>
              <a:srgbClr val="21918C"/>
            </a:solidFill>
            <a:prstDash val="solid"/>
          </a:ln>
        </p:spPr>
      </p:sp>
      <p:sp>
        <p:nvSpPr>
          <p:cNvPr id="25" name="Text 25"/>
          <p:cNvSpPr/>
          <p:nvPr/>
        </p:nvSpPr>
        <p:spPr>
          <a:xfrm>
            <a:off x="5785104" y="3255264"/>
            <a:ext cx="1463040" cy="694944"/>
          </a:xfrm>
          <a:prstGeom prst="rect">
            <a:avLst/>
          </a:prstGeom>
          <a:noFill/>
          <a:ln/>
        </p:spPr>
        <p:txBody>
          <a:bodyPr wrap="square" lIns="0" tIns="0" rIns="0" bIns="0" rtlCol="0" anchor="ctr"/>
          <a:lstStyle/>
          <a:p>
            <a:pPr indent="0" marL="0">
              <a:buNone/>
            </a:pPr>
            <a:r>
              <a:rPr lang="en-US" sz="1450" b="1" dirty="0">
                <a:solidFill>
                  <a:srgbClr val="1F1F1F"/>
                </a:solidFill>
                <a:latin typeface="Calibri" pitchFamily="34" charset="0"/>
                <a:ea typeface="Calibri" pitchFamily="34" charset="-122"/>
                <a:cs typeface="Calibri" pitchFamily="34" charset="-120"/>
              </a:rPr>
              <a:t>33%</a:t>
            </a:r>
            <a:r>
              <a:rPr lang="en-US" sz="1100" dirty="0">
                <a:solidFill>
                  <a:srgbClr val="6B6B6B"/>
                </a:solidFill>
                <a:latin typeface="Calibri" pitchFamily="34" charset="0"/>
                <a:ea typeface="Calibri" pitchFamily="34" charset="-122"/>
                <a:cs typeface="Calibri" pitchFamily="34" charset="-120"/>
              </a:rPr>
              <a:t>  about 1 in 3</a:t>
            </a:r>
            <a:endParaRPr lang="en-US" sz="1000" dirty="0"/>
          </a:p>
        </p:txBody>
      </p:sp>
      <p:sp>
        <p:nvSpPr>
          <p:cNvPr id="26" name="Text 26"/>
          <p:cNvSpPr/>
          <p:nvPr/>
        </p:nvSpPr>
        <p:spPr>
          <a:xfrm>
            <a:off x="7406640" y="3255264"/>
            <a:ext cx="3931920" cy="694944"/>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The largest group; lukewarm toward every institution</a:t>
            </a:r>
            <a:endParaRPr lang="en-US" sz="1000" dirty="0"/>
          </a:p>
        </p:txBody>
      </p:sp>
      <p:sp>
        <p:nvSpPr>
          <p:cNvPr id="27" name="Shape 27"/>
          <p:cNvSpPr/>
          <p:nvPr/>
        </p:nvSpPr>
        <p:spPr>
          <a:xfrm>
            <a:off x="685800" y="4014216"/>
            <a:ext cx="10789920" cy="694944"/>
          </a:xfrm>
          <a:prstGeom prst="roundRect">
            <a:avLst>
              <a:gd name="adj" fmla="val 4000"/>
            </a:avLst>
          </a:prstGeom>
          <a:solidFill>
            <a:srgbClr val="F7F7F7"/>
          </a:solidFill>
          <a:ln w="12700">
            <a:solidFill>
              <a:srgbClr val="E4E4E4"/>
            </a:solidFill>
            <a:prstDash val="solid"/>
          </a:ln>
        </p:spPr>
      </p:sp>
      <p:sp>
        <p:nvSpPr>
          <p:cNvPr id="28" name="Text 28"/>
          <p:cNvSpPr/>
          <p:nvPr/>
        </p:nvSpPr>
        <p:spPr>
          <a:xfrm>
            <a:off x="868680" y="4014216"/>
            <a:ext cx="2834640" cy="694944"/>
          </a:xfrm>
          <a:prstGeom prst="rect">
            <a:avLst/>
          </a:prstGeom>
          <a:noFill/>
          <a:ln/>
        </p:spPr>
        <p:txBody>
          <a:bodyPr wrap="square" lIns="0" tIns="0" rIns="0" bIns="0" rtlCol="0" anchor="ctr"/>
          <a:lstStyle/>
          <a:p>
            <a:pPr indent="0" marL="0">
              <a:buNone/>
            </a:pPr>
            <a:r>
              <a:rPr lang="en-US" sz="1450" b="1" dirty="0">
                <a:solidFill>
                  <a:srgbClr val="440154"/>
                </a:solidFill>
                <a:latin typeface="Calibri" pitchFamily="34" charset="0"/>
                <a:ea typeface="Calibri" pitchFamily="34" charset="-122"/>
                <a:cs typeface="Calibri" pitchFamily="34" charset="-120"/>
              </a:rPr>
              <a:t>Leader-and-military loyal</a:t>
            </a:r>
            <a:endParaRPr lang="en-US" sz="1000" dirty="0"/>
          </a:p>
        </p:txBody>
      </p:sp>
      <p:sp>
        <p:nvSpPr>
          <p:cNvPr id="29" name="Shape 29"/>
          <p:cNvSpPr/>
          <p:nvPr/>
        </p:nvSpPr>
        <p:spPr>
          <a:xfrm>
            <a:off x="3749040" y="4215384"/>
            <a:ext cx="1414272" cy="292608"/>
          </a:xfrm>
          <a:prstGeom prst="rect">
            <a:avLst/>
          </a:prstGeom>
          <a:solidFill>
            <a:srgbClr val="3B528B"/>
          </a:solidFill>
          <a:ln w="12700">
            <a:solidFill>
              <a:srgbClr val="3B528B"/>
            </a:solidFill>
            <a:prstDash val="solid"/>
          </a:ln>
        </p:spPr>
      </p:sp>
      <p:sp>
        <p:nvSpPr>
          <p:cNvPr id="30" name="Text 30"/>
          <p:cNvSpPr/>
          <p:nvPr/>
        </p:nvSpPr>
        <p:spPr>
          <a:xfrm>
            <a:off x="5254752" y="4014216"/>
            <a:ext cx="1463040" cy="694944"/>
          </a:xfrm>
          <a:prstGeom prst="rect">
            <a:avLst/>
          </a:prstGeom>
          <a:noFill/>
          <a:ln/>
        </p:spPr>
        <p:txBody>
          <a:bodyPr wrap="square" lIns="0" tIns="0" rIns="0" bIns="0" rtlCol="0" anchor="ctr"/>
          <a:lstStyle/>
          <a:p>
            <a:pPr indent="0" marL="0">
              <a:buNone/>
            </a:pPr>
            <a:r>
              <a:rPr lang="en-US" sz="1450" b="1" dirty="0">
                <a:solidFill>
                  <a:srgbClr val="1F1F1F"/>
                </a:solidFill>
                <a:latin typeface="Calibri" pitchFamily="34" charset="0"/>
                <a:ea typeface="Calibri" pitchFamily="34" charset="-122"/>
                <a:cs typeface="Calibri" pitchFamily="34" charset="-120"/>
              </a:rPr>
              <a:t>24%</a:t>
            </a:r>
            <a:r>
              <a:rPr lang="en-US" sz="1100" dirty="0">
                <a:solidFill>
                  <a:srgbClr val="6B6B6B"/>
                </a:solidFill>
                <a:latin typeface="Calibri" pitchFamily="34" charset="0"/>
                <a:ea typeface="Calibri" pitchFamily="34" charset="-122"/>
                <a:cs typeface="Calibri" pitchFamily="34" charset="-120"/>
              </a:rPr>
              <a:t>  about 1 in 4</a:t>
            </a:r>
            <a:endParaRPr lang="en-US" sz="1000" dirty="0"/>
          </a:p>
        </p:txBody>
      </p:sp>
      <p:sp>
        <p:nvSpPr>
          <p:cNvPr id="31" name="Text 31"/>
          <p:cNvSpPr/>
          <p:nvPr/>
        </p:nvSpPr>
        <p:spPr>
          <a:xfrm>
            <a:off x="7406640" y="4014216"/>
            <a:ext cx="3931920" cy="694944"/>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Trust runs through the president and armed forces, little else</a:t>
            </a:r>
            <a:endParaRPr lang="en-US" sz="1000" dirty="0"/>
          </a:p>
        </p:txBody>
      </p:sp>
      <p:sp>
        <p:nvSpPr>
          <p:cNvPr id="32" name="Shape 32"/>
          <p:cNvSpPr/>
          <p:nvPr/>
        </p:nvSpPr>
        <p:spPr>
          <a:xfrm>
            <a:off x="685800" y="4773168"/>
            <a:ext cx="10789920" cy="694944"/>
          </a:xfrm>
          <a:prstGeom prst="roundRect">
            <a:avLst>
              <a:gd name="adj" fmla="val 4000"/>
            </a:avLst>
          </a:prstGeom>
          <a:solidFill>
            <a:srgbClr val="F7F7F7"/>
          </a:solidFill>
          <a:ln w="12700">
            <a:solidFill>
              <a:srgbClr val="E4E4E4"/>
            </a:solidFill>
            <a:prstDash val="solid"/>
          </a:ln>
        </p:spPr>
      </p:sp>
      <p:sp>
        <p:nvSpPr>
          <p:cNvPr id="33" name="Text 33"/>
          <p:cNvSpPr/>
          <p:nvPr/>
        </p:nvSpPr>
        <p:spPr>
          <a:xfrm>
            <a:off x="868680" y="4773168"/>
            <a:ext cx="2834640" cy="694944"/>
          </a:xfrm>
          <a:prstGeom prst="rect">
            <a:avLst/>
          </a:prstGeom>
          <a:noFill/>
          <a:ln/>
        </p:spPr>
        <p:txBody>
          <a:bodyPr wrap="square" lIns="0" tIns="0" rIns="0" bIns="0" rtlCol="0" anchor="ctr"/>
          <a:lstStyle/>
          <a:p>
            <a:pPr indent="0" marL="0">
              <a:buNone/>
            </a:pPr>
            <a:r>
              <a:rPr lang="en-US" sz="1450" b="1" dirty="0">
                <a:solidFill>
                  <a:srgbClr val="440154"/>
                </a:solidFill>
                <a:latin typeface="Calibri" pitchFamily="34" charset="0"/>
                <a:ea typeface="Calibri" pitchFamily="34" charset="-122"/>
                <a:cs typeface="Calibri" pitchFamily="34" charset="-120"/>
              </a:rPr>
              <a:t>Distrust everything</a:t>
            </a:r>
            <a:endParaRPr lang="en-US" sz="1000" dirty="0"/>
          </a:p>
        </p:txBody>
      </p:sp>
      <p:sp>
        <p:nvSpPr>
          <p:cNvPr id="34" name="Shape 34"/>
          <p:cNvSpPr/>
          <p:nvPr/>
        </p:nvSpPr>
        <p:spPr>
          <a:xfrm>
            <a:off x="3749040" y="4974336"/>
            <a:ext cx="648208" cy="292608"/>
          </a:xfrm>
          <a:prstGeom prst="rect">
            <a:avLst/>
          </a:prstGeom>
          <a:solidFill>
            <a:srgbClr val="440154"/>
          </a:solidFill>
          <a:ln w="12700">
            <a:solidFill>
              <a:srgbClr val="440154"/>
            </a:solidFill>
            <a:prstDash val="solid"/>
          </a:ln>
        </p:spPr>
      </p:sp>
      <p:sp>
        <p:nvSpPr>
          <p:cNvPr id="35" name="Text 35"/>
          <p:cNvSpPr/>
          <p:nvPr/>
        </p:nvSpPr>
        <p:spPr>
          <a:xfrm>
            <a:off x="4488688" y="4773168"/>
            <a:ext cx="1463040" cy="694944"/>
          </a:xfrm>
          <a:prstGeom prst="rect">
            <a:avLst/>
          </a:prstGeom>
          <a:noFill/>
          <a:ln/>
        </p:spPr>
        <p:txBody>
          <a:bodyPr wrap="square" lIns="0" tIns="0" rIns="0" bIns="0" rtlCol="0" anchor="ctr"/>
          <a:lstStyle/>
          <a:p>
            <a:pPr indent="0" marL="0">
              <a:buNone/>
            </a:pPr>
            <a:r>
              <a:rPr lang="en-US" sz="1450" b="1" dirty="0">
                <a:solidFill>
                  <a:srgbClr val="1F1F1F"/>
                </a:solidFill>
                <a:latin typeface="Calibri" pitchFamily="34" charset="0"/>
                <a:ea typeface="Calibri" pitchFamily="34" charset="-122"/>
                <a:cs typeface="Calibri" pitchFamily="34" charset="-120"/>
              </a:rPr>
              <a:t>11%</a:t>
            </a:r>
            <a:r>
              <a:rPr lang="en-US" sz="1100" dirty="0">
                <a:solidFill>
                  <a:srgbClr val="6B6B6B"/>
                </a:solidFill>
                <a:latin typeface="Calibri" pitchFamily="34" charset="0"/>
                <a:ea typeface="Calibri" pitchFamily="34" charset="-122"/>
                <a:cs typeface="Calibri" pitchFamily="34" charset="-120"/>
              </a:rPr>
              <a:t>  about 1 in 10</a:t>
            </a:r>
            <a:endParaRPr lang="en-US" sz="1000" dirty="0"/>
          </a:p>
        </p:txBody>
      </p:sp>
      <p:sp>
        <p:nvSpPr>
          <p:cNvPr id="36" name="Text 36"/>
          <p:cNvSpPr/>
          <p:nvPr/>
        </p:nvSpPr>
        <p:spPr>
          <a:xfrm>
            <a:off x="7406640" y="4773168"/>
            <a:ext cx="3931920" cy="694944"/>
          </a:xfrm>
          <a:prstGeom prst="rect">
            <a:avLst/>
          </a:prstGeom>
          <a:noFill/>
          <a:ln/>
        </p:spPr>
        <p:txBody>
          <a:bodyPr wrap="square" lIns="0" tIns="0" rIns="0" bIns="0" rtlCol="0" anchor="ctr"/>
          <a:lstStyle/>
          <a:p>
            <a:pPr indent="0" marL="0">
              <a:buNone/>
            </a:pPr>
            <a:r>
              <a:rPr lang="en-US" sz="1300" dirty="0">
                <a:solidFill>
                  <a:srgbClr val="1F1F1F"/>
                </a:solidFill>
                <a:latin typeface="Calibri" pitchFamily="34" charset="0"/>
                <a:ea typeface="Calibri" pitchFamily="34" charset="-122"/>
                <a:cs typeface="Calibri" pitchFamily="34" charset="-120"/>
              </a:rPr>
              <a:t>Hard to reach through any official channel</a:t>
            </a:r>
            <a:endParaRPr lang="en-US" sz="1000" dirty="0"/>
          </a:p>
        </p:txBody>
      </p:sp>
      <p:sp>
        <p:nvSpPr>
          <p:cNvPr id="37" name="Text 37"/>
          <p:cNvSpPr/>
          <p:nvPr/>
        </p:nvSpPr>
        <p:spPr>
          <a:xfrm>
            <a:off x="685800" y="5577840"/>
            <a:ext cx="10789920"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Source: LAPOP AmericasBarometer, Ecuador 2023; 1,618 adults; 13 questions on trust in institutions. Shares are rounded population estimates with margins of 2 to 4 points (full estimates in backup). The right-hand column is a reading of each group's answers, not a survey finding.</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2"/>
          <p:cNvSpPr/>
          <p:nvPr/>
        </p:nvSpPr>
        <p:spPr>
          <a:xfrm>
            <a:off x="0" y="0"/>
            <a:ext cx="12161520" cy="256032"/>
          </a:xfrm>
          <a:prstGeom prst="rect">
            <a:avLst/>
          </a:prstGeom>
          <a:solidFill>
            <a:srgbClr val="006400"/>
          </a:solidFill>
          <a:ln/>
        </p:spPr>
      </p:sp>
      <p:sp>
        <p:nvSpPr>
          <p:cNvPr id="4" name="Text 4"/>
          <p:cNvSpPr/>
          <p:nvPr/>
        </p:nvSpPr>
        <p:spPr>
          <a:xfrm>
            <a:off x="0" y="0"/>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3" name="Shape 3"/>
          <p:cNvSpPr/>
          <p:nvPr/>
        </p:nvSpPr>
        <p:spPr>
          <a:xfrm>
            <a:off x="0" y="6601968"/>
            <a:ext cx="12161520" cy="256032"/>
          </a:xfrm>
          <a:prstGeom prst="rect">
            <a:avLst/>
          </a:prstGeom>
          <a:solidFill>
            <a:srgbClr val="006400"/>
          </a:solidFill>
          <a:ln/>
        </p:spPr>
      </p:sp>
      <p:sp>
        <p:nvSpPr>
          <p:cNvPr id="5" name="Text 5"/>
          <p:cNvSpPr/>
          <p:nvPr/>
        </p:nvSpPr>
        <p:spPr>
          <a:xfrm>
            <a:off x="0" y="6601968"/>
            <a:ext cx="121615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UNCLASSIFIED</a:t>
            </a:r>
            <a:endParaRPr lang="en-US" sz="1000" dirty="0"/>
          </a:p>
        </p:txBody>
      </p:sp>
      <p:sp>
        <p:nvSpPr>
          <p:cNvPr id="6" name="Text 6"/>
          <p:cNvSpPr/>
          <p:nvPr/>
        </p:nvSpPr>
        <p:spPr>
          <a:xfrm>
            <a:off x="201168" y="6601968"/>
            <a:ext cx="914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 name="Text 7"/>
          <p:cNvSpPr/>
          <p:nvPr/>
        </p:nvSpPr>
        <p:spPr>
          <a:xfrm>
            <a:off x="685800" y="475488"/>
            <a:ext cx="10789920" cy="548640"/>
          </a:xfrm>
          <a:prstGeom prst="rect">
            <a:avLst/>
          </a:prstGeom>
          <a:noFill/>
          <a:ln/>
        </p:spPr>
        <p:txBody>
          <a:bodyPr wrap="square" lIns="0" tIns="0" rIns="0" bIns="0" rtlCol="0" anchor="ctr"/>
          <a:lstStyle/>
          <a:p>
            <a:pPr indent="0" marL="0">
              <a:buNone/>
            </a:pPr>
            <a:r>
              <a:rPr lang="en-US" sz="2700" b="1" dirty="0">
                <a:solidFill>
                  <a:srgbClr val="440154"/>
                </a:solidFill>
                <a:latin typeface="Cambria" pitchFamily="34" charset="0"/>
                <a:ea typeface="Cambria" pitchFamily="34" charset="-122"/>
                <a:cs typeface="Cambria" pitchFamily="34" charset="-120"/>
              </a:rPr>
              <a:t>Opposing a leader is not the same as rejecting the system</a:t>
            </a:r>
            <a:endParaRPr lang="en-US" sz="1000" dirty="0"/>
          </a:p>
        </p:txBody>
      </p:sp>
      <p:sp>
        <p:nvSpPr>
          <p:cNvPr id="8" name="Text 8"/>
          <p:cNvSpPr/>
          <p:nvPr/>
        </p:nvSpPr>
        <p:spPr>
          <a:xfrm>
            <a:off x="685800" y="1042416"/>
            <a:ext cx="10789920" cy="237744"/>
          </a:xfrm>
          <a:prstGeom prst="rect">
            <a:avLst/>
          </a:prstGeom>
          <a:noFill/>
          <a:ln/>
        </p:spPr>
        <p:txBody>
          <a:bodyPr wrap="square" lIns="0" tIns="0" rIns="0" bIns="0" rtlCol="0" anchor="ctr"/>
          <a:lstStyle/>
          <a:p>
            <a:pPr indent="0" marL="0">
              <a:buNone/>
            </a:pPr>
            <a:r>
              <a:rPr lang="en-US" sz="1000" b="1" spc="140" kern="0" dirty="0">
                <a:solidFill>
                  <a:srgbClr val="21918C"/>
                </a:solidFill>
                <a:latin typeface="Calibri" pitchFamily="34" charset="0"/>
                <a:ea typeface="Calibri" pitchFamily="34" charset="-122"/>
                <a:cs typeface="Calibri" pitchFamily="34" charset="-120"/>
              </a:rPr>
              <a:t>A FINDING WITH POLICY WEIGHT</a:t>
            </a:r>
            <a:endParaRPr lang="en-US" sz="1000" dirty="0"/>
          </a:p>
        </p:txBody>
      </p:sp>
      <p:sp>
        <p:nvSpPr>
          <p:cNvPr id="9" name="Text 9"/>
          <p:cNvSpPr/>
          <p:nvPr/>
        </p:nvSpPr>
        <p:spPr>
          <a:xfrm>
            <a:off x="685800" y="1463040"/>
            <a:ext cx="10789920" cy="320040"/>
          </a:xfrm>
          <a:prstGeom prst="rect">
            <a:avLst/>
          </a:prstGeom>
          <a:noFill/>
          <a:ln/>
        </p:spPr>
        <p:txBody>
          <a:bodyPr wrap="square" lIns="0" tIns="0" rIns="0" bIns="0"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Share who distrust every institution, among people who rate the president's performance as:</a:t>
            </a:r>
            <a:endParaRPr lang="en-US" sz="1000" dirty="0"/>
          </a:p>
        </p:txBody>
      </p:sp>
      <p:sp>
        <p:nvSpPr>
          <p:cNvPr id="10" name="Text 10"/>
          <p:cNvSpPr/>
          <p:nvPr/>
        </p:nvSpPr>
        <p:spPr>
          <a:xfrm>
            <a:off x="685800" y="1965960"/>
            <a:ext cx="1828800" cy="64008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Very bad</a:t>
            </a:r>
            <a:endParaRPr lang="en-US" sz="1000" dirty="0"/>
          </a:p>
        </p:txBody>
      </p:sp>
      <p:sp>
        <p:nvSpPr>
          <p:cNvPr id="11" name="Shape 11"/>
          <p:cNvSpPr/>
          <p:nvPr/>
        </p:nvSpPr>
        <p:spPr>
          <a:xfrm>
            <a:off x="2651760" y="2103120"/>
            <a:ext cx="6400800" cy="365760"/>
          </a:xfrm>
          <a:prstGeom prst="rect">
            <a:avLst/>
          </a:prstGeom>
          <a:solidFill>
            <a:srgbClr val="E9E9E9"/>
          </a:solidFill>
          <a:ln w="12700">
            <a:solidFill>
              <a:srgbClr val="E9E9E9"/>
            </a:solidFill>
            <a:prstDash val="solid"/>
          </a:ln>
        </p:spPr>
      </p:sp>
      <p:sp>
        <p:nvSpPr>
          <p:cNvPr id="12" name="Shape 12"/>
          <p:cNvSpPr/>
          <p:nvPr/>
        </p:nvSpPr>
        <p:spPr>
          <a:xfrm>
            <a:off x="2651760" y="2103120"/>
            <a:ext cx="5547360" cy="365760"/>
          </a:xfrm>
          <a:prstGeom prst="rect">
            <a:avLst/>
          </a:prstGeom>
          <a:solidFill>
            <a:srgbClr val="440154"/>
          </a:solidFill>
          <a:ln w="12700">
            <a:solidFill>
              <a:srgbClr val="440154"/>
            </a:solidFill>
            <a:prstDash val="solid"/>
          </a:ln>
        </p:spPr>
      </p:sp>
      <p:sp>
        <p:nvSpPr>
          <p:cNvPr id="13" name="Text 13"/>
          <p:cNvSpPr/>
          <p:nvPr/>
        </p:nvSpPr>
        <p:spPr>
          <a:xfrm>
            <a:off x="9235440" y="1965960"/>
            <a:ext cx="2240280" cy="640080"/>
          </a:xfrm>
          <a:prstGeom prst="rect">
            <a:avLst/>
          </a:prstGeom>
          <a:noFill/>
          <a:ln/>
        </p:spPr>
        <p:txBody>
          <a:bodyPr wrap="square" lIns="0" tIns="0" rIns="0" bIns="0" rtlCol="0" anchor="ctr"/>
          <a:lstStyle/>
          <a:p>
            <a:pPr indent="0" marL="0">
              <a:buNone/>
            </a:pPr>
            <a:r>
              <a:rPr lang="en-US" sz="2000" b="1" dirty="0">
                <a:solidFill>
                  <a:srgbClr val="440154"/>
                </a:solidFill>
                <a:latin typeface="Cambria" pitchFamily="34" charset="0"/>
                <a:ea typeface="Cambria" pitchFamily="34" charset="-122"/>
                <a:cs typeface="Cambria" pitchFamily="34" charset="-120"/>
              </a:rPr>
              <a:t>About 1 in 2</a:t>
            </a:r>
            <a:endParaRPr lang="en-US" sz="1000" dirty="0"/>
          </a:p>
        </p:txBody>
      </p:sp>
      <p:sp>
        <p:nvSpPr>
          <p:cNvPr id="14" name="Text 14"/>
          <p:cNvSpPr/>
          <p:nvPr/>
        </p:nvSpPr>
        <p:spPr>
          <a:xfrm>
            <a:off x="685800" y="2834640"/>
            <a:ext cx="1828800" cy="640080"/>
          </a:xfrm>
          <a:prstGeom prst="rect">
            <a:avLst/>
          </a:prstGeom>
          <a:noFill/>
          <a:ln/>
        </p:spPr>
        <p:txBody>
          <a:bodyPr wrap="square" lIns="0" tIns="0" rIns="0" bIns="0" rtlCol="0" anchor="ctr"/>
          <a:lstStyle/>
          <a:p>
            <a:pPr indent="0" marL="0">
              <a:buNone/>
            </a:pPr>
            <a:r>
              <a:rPr lang="en-US" sz="1500" b="1" dirty="0">
                <a:solidFill>
                  <a:srgbClr val="440154"/>
                </a:solidFill>
                <a:latin typeface="Calibri" pitchFamily="34" charset="0"/>
                <a:ea typeface="Calibri" pitchFamily="34" charset="-122"/>
                <a:cs typeface="Calibri" pitchFamily="34" charset="-120"/>
              </a:rPr>
              <a:t>Very good</a:t>
            </a:r>
            <a:endParaRPr lang="en-US" sz="1000" dirty="0"/>
          </a:p>
        </p:txBody>
      </p:sp>
      <p:sp>
        <p:nvSpPr>
          <p:cNvPr id="15" name="Shape 15"/>
          <p:cNvSpPr/>
          <p:nvPr/>
        </p:nvSpPr>
        <p:spPr>
          <a:xfrm>
            <a:off x="2651760" y="2971800"/>
            <a:ext cx="6400800" cy="365760"/>
          </a:xfrm>
          <a:prstGeom prst="rect">
            <a:avLst/>
          </a:prstGeom>
          <a:solidFill>
            <a:srgbClr val="E9E9E9"/>
          </a:solidFill>
          <a:ln w="12700">
            <a:solidFill>
              <a:srgbClr val="E9E9E9"/>
            </a:solidFill>
            <a:prstDash val="solid"/>
          </a:ln>
        </p:spPr>
      </p:sp>
      <p:sp>
        <p:nvSpPr>
          <p:cNvPr id="16" name="Shape 16"/>
          <p:cNvSpPr/>
          <p:nvPr/>
        </p:nvSpPr>
        <p:spPr>
          <a:xfrm>
            <a:off x="2651760" y="2971800"/>
            <a:ext cx="746760" cy="365760"/>
          </a:xfrm>
          <a:prstGeom prst="rect">
            <a:avLst/>
          </a:prstGeom>
          <a:solidFill>
            <a:srgbClr val="21918C"/>
          </a:solidFill>
          <a:ln w="12700">
            <a:solidFill>
              <a:srgbClr val="21918C"/>
            </a:solidFill>
            <a:prstDash val="solid"/>
          </a:ln>
        </p:spPr>
      </p:sp>
      <p:sp>
        <p:nvSpPr>
          <p:cNvPr id="17" name="Text 17"/>
          <p:cNvSpPr/>
          <p:nvPr/>
        </p:nvSpPr>
        <p:spPr>
          <a:xfrm>
            <a:off x="9235440" y="2834640"/>
            <a:ext cx="2240280" cy="640080"/>
          </a:xfrm>
          <a:prstGeom prst="rect">
            <a:avLst/>
          </a:prstGeom>
          <a:noFill/>
          <a:ln/>
        </p:spPr>
        <p:txBody>
          <a:bodyPr wrap="square" lIns="0" tIns="0" rIns="0" bIns="0" rtlCol="0" anchor="ctr"/>
          <a:lstStyle/>
          <a:p>
            <a:pPr indent="0" marL="0">
              <a:buNone/>
            </a:pPr>
            <a:r>
              <a:rPr lang="en-US" sz="2000" b="1" dirty="0">
                <a:solidFill>
                  <a:srgbClr val="440154"/>
                </a:solidFill>
                <a:latin typeface="Cambria" pitchFamily="34" charset="0"/>
                <a:ea typeface="Cambria" pitchFamily="34" charset="-122"/>
                <a:cs typeface="Cambria" pitchFamily="34" charset="-120"/>
              </a:rPr>
              <a:t>Under 1 in 10</a:t>
            </a:r>
            <a:endParaRPr lang="en-US" sz="1000" dirty="0"/>
          </a:p>
        </p:txBody>
      </p:sp>
      <p:sp>
        <p:nvSpPr>
          <p:cNvPr id="18" name="Shape 18"/>
          <p:cNvSpPr/>
          <p:nvPr/>
        </p:nvSpPr>
        <p:spPr>
          <a:xfrm>
            <a:off x="685800" y="3749040"/>
            <a:ext cx="10789920" cy="1554480"/>
          </a:xfrm>
          <a:prstGeom prst="roundRect">
            <a:avLst>
              <a:gd name="adj" fmla="val 1724"/>
            </a:avLst>
          </a:prstGeom>
          <a:solidFill>
            <a:srgbClr val="E8F3F2"/>
          </a:solidFill>
          <a:ln w="12700">
            <a:solidFill>
              <a:srgbClr val="E8F3F2"/>
            </a:solidFill>
            <a:prstDash val="solid"/>
          </a:ln>
        </p:spPr>
      </p:sp>
      <p:sp>
        <p:nvSpPr>
          <p:cNvPr id="19" name="Text 19"/>
          <p:cNvSpPr/>
          <p:nvPr/>
        </p:nvSpPr>
        <p:spPr>
          <a:xfrm>
            <a:off x="1143000" y="3749040"/>
            <a:ext cx="9875520" cy="1554480"/>
          </a:xfrm>
          <a:prstGeom prst="rect">
            <a:avLst/>
          </a:prstGeom>
          <a:noFill/>
          <a:ln/>
        </p:spPr>
        <p:txBody>
          <a:bodyPr wrap="square" lIns="0" tIns="0" rIns="0" bIns="0" rtlCol="0" anchor="ctr"/>
          <a:lstStyle/>
          <a:p>
            <a:pPr algn="ctr" indent="0" marL="0">
              <a:buNone/>
            </a:pPr>
            <a:r>
              <a:rPr lang="en-US" sz="1450" dirty="0">
                <a:solidFill>
                  <a:srgbClr val="1F1F1F"/>
                </a:solidFill>
                <a:latin typeface="Calibri" pitchFamily="34" charset="0"/>
                <a:ea typeface="Calibri" pitchFamily="34" charset="-122"/>
                <a:cs typeface="Calibri" pitchFamily="34" charset="-120"/>
              </a:rPr>
              <a:t>Half of the harshest critics do not reject every institution, so they may still be reachable through courts, elections or local government.</a:t>
            </a:r>
          </a:p>
          <a:p>
            <a:pPr algn="ctr" indent="0" marL="0">
              <a:buNone/>
            </a:pPr>
            <a:r>
              <a:rPr lang="en-US" sz="1450" b="1" dirty="0">
                <a:solidFill>
                  <a:srgbClr val="440154"/>
                </a:solidFill>
                <a:latin typeface="Calibri" pitchFamily="34" charset="0"/>
                <a:ea typeface="Calibri" pitchFamily="34" charset="-122"/>
                <a:cs typeface="Calibri" pitchFamily="34" charset="-120"/>
              </a:rPr>
              <a:t>The other half reject every institution. No official channel, including a partner government, is likely to reach them.</a:t>
            </a:r>
          </a:p>
        </p:txBody>
      </p:sp>
      <p:sp>
        <p:nvSpPr>
          <p:cNvPr id="20" name="Text 20"/>
          <p:cNvSpPr/>
          <p:nvPr/>
        </p:nvSpPr>
        <p:spPr>
          <a:xfrm>
            <a:off x="685800" y="5486400"/>
            <a:ext cx="10789920" cy="8229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Source: LAPOP AmericasBarometer, Ecuador 2023. Rounded; the margin for the 'very bad' group is wide (roughly 35 to 68 percent) but clearly above the 'very good' group. Trust in the president is one of the 13 questions, so part of this link is built in; the point is how far the distrust spreads. Full chart in backup.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Segmenting Survey Data Without Breaking the Design</dc:title>
  <dc:subject>PptxGenJS Presentation</dc:subject>
  <dc:creator>Kevin Linares</dc:creator>
  <cp:lastModifiedBy>Kevin Linares</cp:lastModifiedBy>
  <cp:revision>1</cp:revision>
  <dcterms:created xsi:type="dcterms:W3CDTF">2026-08-10T01:41:11Z</dcterms:created>
  <dcterms:modified xsi:type="dcterms:W3CDTF">2026-08-10T01:41:11Z</dcterms:modified>
</cp:coreProperties>
</file>