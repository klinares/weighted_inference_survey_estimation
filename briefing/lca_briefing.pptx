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The goal is not to teach latent class analysis. It is to get a battery sent to you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No preamble, no credentials, no framework. Point at the crossing and let the room see it before you say anything. Then the line: everyone in this room has summed a battery, and this is what it hides. The specific values are schematic; the pattern is real and appears in the profiles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TSE reference is one line and you move on; the full framework diagram is in backup if anyone wants it. The third cost is the one that matters to this room: segmentation exists to target, and a mean cannot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the most important slide in the deck. Question one is where clustering gets set aside: a partition has nothing to put a standard error on. If the room raises Pew's typology, concede it fully. Their method is a weighted medoid partition, it is defensible, their sample dwarfs mine. The difference is what you can say afterward. Do not widen the claim. Question two is a promise: you must pay it off at the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Do not put the likelihood on screen; it is in backup if a methodologist wants it. The single point to land: nobody is relabelled. Everyone keeps a probability, which is what makes the classification-error check possible later and is exactly what a hard partition throws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two beats. Left: the icons are different sizes because the sample is not self-weighting, and a distance-based method treats every one of them the same. Right: run a finger along one whisker. Geometry here is schematic; real numbers arrive in three slides. If asked how the interval is built: the whole model is refit on 130 jackknife replicates from the real strata and clusters, because a weighted likelihood gives no usable information matrix. Detail slide is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Say plainly that an automated choice here is the first thing a reviewer attacks, and that the flat region is reported rather than hidden. The choice lives in a config file under version control, not in someone's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pays off the promise from slide 4. Trace the crossing with a finger. Then state the level-to-pattern diagnostic value out loud. FILL THAT NUMBER IN BEFORE PRESENTING: it is printed by the item-discrimination chunk in survey_lca_report.qmd. Without it, slide 4 made a promise this slide does not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weighting correction was small here before anyone asks. Then the recovery: you cannot know it is small until you compute it, and the variance correction was never small. This is also where you note that the classification-error correction was run and agreed closely, which is a robustness finding, not a reason to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by presidential job approval. Strongly ordered, and the intervals tell you which contrasts are real. The correction here is the BCH three-step; on this battery it agreed closely with the uncorrected estimates because separation is good. Mechanics are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generalizes past the project into a policy the room can apply to their own work, which is often what they remember. The naming step, the prompt as a versioned instrument, and the certification harness are all in backup if there is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offer, not the method. Then stop talking. This is where the room decides whether to send you work, and silence does more than another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Groves and colleagues. Both arms converge on the survey statistic. Use if someone wants the framework rather than the one-line reference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three is the expensive one. Move four is the one most analysts have never heard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Pew answer. Concede first: their 2026 typology uses weighted clustering around medoids, it is defensible, and their sample dwarfs ours. Then the narrow claim, which comes from their own Appendix B: they say the solution moves with the algorithm, the coding, and the sort order, and they report nine group sizes with no interval. Our jackknife refits the whole model per replicate, so that instability lands in the interval. Do not widen the claim. If asked whether we could run this on their thirty items and nine groups, say no, not as specified: over a thousand parameters, an almost empty contingency table, and local independence violated by their within-battery item pairs. Their method scales where ours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alternatives. baysc is an excellent Bayesian counterpart.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missing data: the model is estimated on 1430 item-complete cases and scoring extends above an evidence floor. Pew imputes at their scale, which is a defensible different choice, so do not attack them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conditional response probabilities behind every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if the room is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40154"/>
        </a:solidFill>
      </p:bgPr>
    </p:bg>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1005840" y="1828800"/>
            <a:ext cx="10149840" cy="1737360"/>
          </a:xfrm>
          <a:prstGeom prst="rect">
            <a:avLst/>
          </a:prstGeom>
          <a:noFill/>
          <a:ln/>
        </p:spPr>
        <p:txBody>
          <a:bodyPr wrap="square" lIns="0" tIns="0" rIns="0" bIns="0" rtlCol="0" anchor="ctr"/>
          <a:lstStyle/>
          <a:p>
            <a:pPr indent="0" marL="0">
              <a:lnSpc>
                <a:spcPct val="106000"/>
              </a:lnSpc>
              <a:buNone/>
            </a:pPr>
            <a:r>
              <a:rPr lang="en-US" sz="3800" b="1" dirty="0">
                <a:solidFill>
                  <a:srgbClr val="FFFFFF"/>
                </a:solidFill>
                <a:latin typeface="Cambria" pitchFamily="34" charset="0"/>
                <a:ea typeface="Cambria" pitchFamily="34" charset="-122"/>
                <a:cs typeface="Cambria" pitchFamily="34" charset="-120"/>
              </a:rPr>
              <a:t>Segmenting survey data</a:t>
            </a:r>
            <a:endParaRPr lang="en-US" sz="3800" dirty="0"/>
          </a:p>
          <a:p>
            <a:pPr indent="0" marL="0">
              <a:lnSpc>
                <a:spcPct val="106000"/>
              </a:lnSpc>
              <a:buNone/>
            </a:pPr>
            <a:r>
              <a:rPr lang="en-US" sz="3800" b="1" dirty="0">
                <a:solidFill>
                  <a:srgbClr val="FFFFFF"/>
                </a:solidFill>
                <a:latin typeface="Cambria" pitchFamily="34" charset="0"/>
                <a:ea typeface="Cambria" pitchFamily="34" charset="-122"/>
                <a:cs typeface="Cambria" pitchFamily="34" charset="-120"/>
              </a:rPr>
              <a:t>without breaking the design</a:t>
            </a:r>
            <a:endParaRPr lang="en-US" sz="3800" dirty="0"/>
          </a:p>
        </p:txBody>
      </p:sp>
      <p:sp>
        <p:nvSpPr>
          <p:cNvPr id="7" name="Text 5"/>
          <p:cNvSpPr/>
          <p:nvPr/>
        </p:nvSpPr>
        <p:spPr>
          <a:xfrm>
            <a:off x="1005840" y="3657600"/>
            <a:ext cx="10149840" cy="457200"/>
          </a:xfrm>
          <a:prstGeom prst="rect">
            <a:avLst/>
          </a:prstGeom>
          <a:noFill/>
          <a:ln/>
        </p:spPr>
        <p:txBody>
          <a:bodyPr wrap="square" lIns="0" tIns="0" rIns="0" bIns="0" rtlCol="0" anchor="ctr"/>
          <a:lstStyle/>
          <a:p>
            <a:pPr indent="0" marL="0">
              <a:buNone/>
            </a:pPr>
            <a:r>
              <a:rPr lang="en-US" sz="1700" dirty="0">
                <a:solidFill>
                  <a:srgbClr val="CBB6D8"/>
                </a:solidFill>
                <a:latin typeface="Calibri" pitchFamily="34" charset="0"/>
                <a:ea typeface="Calibri" pitchFamily="34" charset="-122"/>
                <a:cs typeface="Calibri" pitchFamily="34" charset="-120"/>
              </a:rPr>
              <a:t>Finding real groups in a categorical battery, and putting an interval on them</a:t>
            </a:r>
            <a:endParaRPr lang="en-US" sz="1700" dirty="0"/>
          </a:p>
        </p:txBody>
      </p:sp>
      <p:sp>
        <p:nvSpPr>
          <p:cNvPr id="8" name="Text 6"/>
          <p:cNvSpPr/>
          <p:nvPr/>
        </p:nvSpPr>
        <p:spPr>
          <a:xfrm>
            <a:off x="1005840" y="5029200"/>
            <a:ext cx="10149840" cy="365760"/>
          </a:xfrm>
          <a:prstGeom prst="rect">
            <a:avLst/>
          </a:prstGeom>
          <a:noFill/>
          <a:ln/>
        </p:spPr>
        <p:txBody>
          <a:bodyPr wrap="square" lIns="0" tIns="0" rIns="0" bIns="0" rtlCol="0" anchor="ctr"/>
          <a:lstStyle/>
          <a:p>
            <a:pPr indent="0" marL="0">
              <a:buNone/>
            </a:pPr>
            <a:r>
              <a:rPr lang="en-US" sz="1400" dirty="0">
                <a:solidFill>
                  <a:srgbClr val="8FD4CD"/>
                </a:solidFill>
                <a:latin typeface="Calibri" pitchFamily="34" charset="0"/>
                <a:ea typeface="Calibri" pitchFamily="34" charset="-122"/>
                <a:cs typeface="Calibri" pitchFamily="34" charset="-120"/>
              </a:rPr>
              <a:t>Kevin Linares   ·   MS Survey and Data Science, JPSM   ·   22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Same average, opposite people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PROBLEM</a:t>
            </a:r>
            <a:endParaRPr lang="en-US" sz="1000" dirty="0"/>
          </a:p>
        </p:txBody>
      </p:sp>
      <p:sp>
        <p:nvSpPr>
          <p:cNvPr id="9" name="Shape 7"/>
          <p:cNvSpPr/>
          <p:nvPr/>
        </p:nvSpPr>
        <p:spPr>
          <a:xfrm>
            <a:off x="3200400" y="1618488"/>
            <a:ext cx="10973" cy="3438144"/>
          </a:xfrm>
          <a:prstGeom prst="rect">
            <a:avLst/>
          </a:prstGeom>
          <a:solidFill>
            <a:srgbClr val="EFEFEF"/>
          </a:solidFill>
          <a:ln w="12700">
            <a:solidFill>
              <a:srgbClr val="EFEFEF"/>
            </a:solidFill>
            <a:prstDash val="solid"/>
          </a:ln>
        </p:spPr>
      </p:sp>
      <p:sp>
        <p:nvSpPr>
          <p:cNvPr id="10" name="Text 8"/>
          <p:cNvSpPr/>
          <p:nvPr/>
        </p:nvSpPr>
        <p:spPr>
          <a:xfrm>
            <a:off x="30175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1</a:t>
            </a:r>
            <a:endParaRPr lang="en-US" sz="1100" dirty="0"/>
          </a:p>
        </p:txBody>
      </p:sp>
      <p:sp>
        <p:nvSpPr>
          <p:cNvPr id="11" name="Shape 9"/>
          <p:cNvSpPr/>
          <p:nvPr/>
        </p:nvSpPr>
        <p:spPr>
          <a:xfrm>
            <a:off x="4358640" y="1618488"/>
            <a:ext cx="10973" cy="3438144"/>
          </a:xfrm>
          <a:prstGeom prst="rect">
            <a:avLst/>
          </a:prstGeom>
          <a:solidFill>
            <a:srgbClr val="EFEFEF"/>
          </a:solidFill>
          <a:ln w="12700">
            <a:solidFill>
              <a:srgbClr val="EFEFEF"/>
            </a:solidFill>
            <a:prstDash val="solid"/>
          </a:ln>
        </p:spPr>
      </p:sp>
      <p:sp>
        <p:nvSpPr>
          <p:cNvPr id="12" name="Text 10"/>
          <p:cNvSpPr/>
          <p:nvPr/>
        </p:nvSpPr>
        <p:spPr>
          <a:xfrm>
            <a:off x="41757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5516880" y="1618488"/>
            <a:ext cx="10973" cy="3438144"/>
          </a:xfrm>
          <a:prstGeom prst="rect">
            <a:avLst/>
          </a:prstGeom>
          <a:solidFill>
            <a:srgbClr val="EFEFEF"/>
          </a:solidFill>
          <a:ln w="12700">
            <a:solidFill>
              <a:srgbClr val="EFEFEF"/>
            </a:solidFill>
            <a:prstDash val="solid"/>
          </a:ln>
        </p:spPr>
      </p:sp>
      <p:sp>
        <p:nvSpPr>
          <p:cNvPr id="14" name="Text 12"/>
          <p:cNvSpPr/>
          <p:nvPr/>
        </p:nvSpPr>
        <p:spPr>
          <a:xfrm>
            <a:off x="533400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3</a:t>
            </a:r>
            <a:endParaRPr lang="en-US" sz="1100" dirty="0"/>
          </a:p>
        </p:txBody>
      </p:sp>
      <p:sp>
        <p:nvSpPr>
          <p:cNvPr id="15" name="Shape 13"/>
          <p:cNvSpPr/>
          <p:nvPr/>
        </p:nvSpPr>
        <p:spPr>
          <a:xfrm>
            <a:off x="6675120" y="1618488"/>
            <a:ext cx="10973" cy="3438144"/>
          </a:xfrm>
          <a:prstGeom prst="rect">
            <a:avLst/>
          </a:prstGeom>
          <a:solidFill>
            <a:srgbClr val="D0D0D0"/>
          </a:solidFill>
          <a:ln w="12700">
            <a:solidFill>
              <a:srgbClr val="D0D0D0"/>
            </a:solidFill>
            <a:prstDash val="solid"/>
          </a:ln>
        </p:spPr>
      </p:sp>
      <p:sp>
        <p:nvSpPr>
          <p:cNvPr id="16" name="Text 14"/>
          <p:cNvSpPr/>
          <p:nvPr/>
        </p:nvSpPr>
        <p:spPr>
          <a:xfrm>
            <a:off x="649224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sp>
        <p:nvSpPr>
          <p:cNvPr id="17" name="Shape 15"/>
          <p:cNvSpPr/>
          <p:nvPr/>
        </p:nvSpPr>
        <p:spPr>
          <a:xfrm>
            <a:off x="7833360" y="1618488"/>
            <a:ext cx="10973" cy="3438144"/>
          </a:xfrm>
          <a:prstGeom prst="rect">
            <a:avLst/>
          </a:prstGeom>
          <a:solidFill>
            <a:srgbClr val="EFEFEF"/>
          </a:solidFill>
          <a:ln w="12700">
            <a:solidFill>
              <a:srgbClr val="EFEFEF"/>
            </a:solidFill>
            <a:prstDash val="solid"/>
          </a:ln>
        </p:spPr>
      </p:sp>
      <p:sp>
        <p:nvSpPr>
          <p:cNvPr id="18" name="Text 16"/>
          <p:cNvSpPr/>
          <p:nvPr/>
        </p:nvSpPr>
        <p:spPr>
          <a:xfrm>
            <a:off x="765048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5</a:t>
            </a:r>
            <a:endParaRPr lang="en-US" sz="1100" dirty="0"/>
          </a:p>
        </p:txBody>
      </p:sp>
      <p:sp>
        <p:nvSpPr>
          <p:cNvPr id="19" name="Shape 17"/>
          <p:cNvSpPr/>
          <p:nvPr/>
        </p:nvSpPr>
        <p:spPr>
          <a:xfrm>
            <a:off x="8991600" y="1618488"/>
            <a:ext cx="10973" cy="3438144"/>
          </a:xfrm>
          <a:prstGeom prst="rect">
            <a:avLst/>
          </a:prstGeom>
          <a:solidFill>
            <a:srgbClr val="EFEFEF"/>
          </a:solidFill>
          <a:ln w="12700">
            <a:solidFill>
              <a:srgbClr val="EFEFEF"/>
            </a:solidFill>
            <a:prstDash val="solid"/>
          </a:ln>
        </p:spPr>
      </p:sp>
      <p:sp>
        <p:nvSpPr>
          <p:cNvPr id="20" name="Text 18"/>
          <p:cNvSpPr/>
          <p:nvPr/>
        </p:nvSpPr>
        <p:spPr>
          <a:xfrm>
            <a:off x="88087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6</a:t>
            </a:r>
            <a:endParaRPr lang="en-US" sz="1100" dirty="0"/>
          </a:p>
        </p:txBody>
      </p:sp>
      <p:sp>
        <p:nvSpPr>
          <p:cNvPr id="21" name="Shape 19"/>
          <p:cNvSpPr/>
          <p:nvPr/>
        </p:nvSpPr>
        <p:spPr>
          <a:xfrm>
            <a:off x="10149840" y="1618488"/>
            <a:ext cx="10973" cy="3438144"/>
          </a:xfrm>
          <a:prstGeom prst="rect">
            <a:avLst/>
          </a:prstGeom>
          <a:solidFill>
            <a:srgbClr val="EFEFEF"/>
          </a:solidFill>
          <a:ln w="12700">
            <a:solidFill>
              <a:srgbClr val="EFEFEF"/>
            </a:solidFill>
            <a:prstDash val="solid"/>
          </a:ln>
        </p:spPr>
      </p:sp>
      <p:sp>
        <p:nvSpPr>
          <p:cNvPr id="22" name="Text 20"/>
          <p:cNvSpPr/>
          <p:nvPr/>
        </p:nvSpPr>
        <p:spPr>
          <a:xfrm>
            <a:off x="99669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sp>
        <p:nvSpPr>
          <p:cNvPr id="23" name="Text 21"/>
          <p:cNvSpPr/>
          <p:nvPr/>
        </p:nvSpPr>
        <p:spPr>
          <a:xfrm>
            <a:off x="914400" y="173736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Courts</a:t>
            </a:r>
            <a:endParaRPr lang="en-US" sz="1300" dirty="0"/>
          </a:p>
        </p:txBody>
      </p:sp>
      <p:sp>
        <p:nvSpPr>
          <p:cNvPr id="24" name="Shape 22"/>
          <p:cNvSpPr/>
          <p:nvPr/>
        </p:nvSpPr>
        <p:spPr>
          <a:xfrm>
            <a:off x="3200400" y="1874520"/>
            <a:ext cx="6949440" cy="10973"/>
          </a:xfrm>
          <a:prstGeom prst="rect">
            <a:avLst/>
          </a:prstGeom>
          <a:solidFill>
            <a:srgbClr val="F2F2F2"/>
          </a:solidFill>
          <a:ln w="12700">
            <a:solidFill>
              <a:srgbClr val="F2F2F2"/>
            </a:solidFill>
            <a:prstDash val="solid"/>
          </a:ln>
        </p:spPr>
      </p:sp>
      <p:sp>
        <p:nvSpPr>
          <p:cNvPr id="25" name="Shape 23"/>
          <p:cNvSpPr/>
          <p:nvPr/>
        </p:nvSpPr>
        <p:spPr>
          <a:xfrm>
            <a:off x="8891016" y="1773936"/>
            <a:ext cx="201168" cy="201168"/>
          </a:xfrm>
          <a:prstGeom prst="ellipse">
            <a:avLst/>
          </a:prstGeom>
          <a:solidFill>
            <a:srgbClr val="440154"/>
          </a:solidFill>
          <a:ln/>
        </p:spPr>
      </p:sp>
      <p:sp>
        <p:nvSpPr>
          <p:cNvPr id="26" name="Shape 24"/>
          <p:cNvSpPr/>
          <p:nvPr/>
        </p:nvSpPr>
        <p:spPr>
          <a:xfrm>
            <a:off x="4258056" y="1773936"/>
            <a:ext cx="201168" cy="201168"/>
          </a:xfrm>
          <a:prstGeom prst="ellipse">
            <a:avLst/>
          </a:prstGeom>
          <a:solidFill>
            <a:srgbClr val="21918C"/>
          </a:solidFill>
          <a:ln/>
        </p:spPr>
      </p:sp>
      <p:sp>
        <p:nvSpPr>
          <p:cNvPr id="27" name="Text 25"/>
          <p:cNvSpPr/>
          <p:nvPr/>
        </p:nvSpPr>
        <p:spPr>
          <a:xfrm>
            <a:off x="914400" y="2295144"/>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Auditor</a:t>
            </a:r>
            <a:endParaRPr lang="en-US" sz="1300" dirty="0"/>
          </a:p>
        </p:txBody>
      </p:sp>
      <p:sp>
        <p:nvSpPr>
          <p:cNvPr id="28" name="Shape 26"/>
          <p:cNvSpPr/>
          <p:nvPr/>
        </p:nvSpPr>
        <p:spPr>
          <a:xfrm>
            <a:off x="3200400" y="2432304"/>
            <a:ext cx="6949440" cy="10973"/>
          </a:xfrm>
          <a:prstGeom prst="rect">
            <a:avLst/>
          </a:prstGeom>
          <a:solidFill>
            <a:srgbClr val="F2F2F2"/>
          </a:solidFill>
          <a:ln w="12700">
            <a:solidFill>
              <a:srgbClr val="F2F2F2"/>
            </a:solidFill>
            <a:prstDash val="solid"/>
          </a:ln>
        </p:spPr>
      </p:sp>
      <p:sp>
        <p:nvSpPr>
          <p:cNvPr id="29" name="Shape 27"/>
          <p:cNvSpPr/>
          <p:nvPr/>
        </p:nvSpPr>
        <p:spPr>
          <a:xfrm>
            <a:off x="8891016" y="2331720"/>
            <a:ext cx="201168" cy="201168"/>
          </a:xfrm>
          <a:prstGeom prst="ellipse">
            <a:avLst/>
          </a:prstGeom>
          <a:solidFill>
            <a:srgbClr val="440154"/>
          </a:solidFill>
          <a:ln/>
        </p:spPr>
      </p:sp>
      <p:sp>
        <p:nvSpPr>
          <p:cNvPr id="30" name="Shape 28"/>
          <p:cNvSpPr/>
          <p:nvPr/>
        </p:nvSpPr>
        <p:spPr>
          <a:xfrm>
            <a:off x="4258056" y="2331720"/>
            <a:ext cx="201168" cy="201168"/>
          </a:xfrm>
          <a:prstGeom prst="ellipse">
            <a:avLst/>
          </a:prstGeom>
          <a:solidFill>
            <a:srgbClr val="21918C"/>
          </a:solidFill>
          <a:ln/>
        </p:spPr>
      </p:sp>
      <p:sp>
        <p:nvSpPr>
          <p:cNvPr id="31" name="Text 29"/>
          <p:cNvSpPr/>
          <p:nvPr/>
        </p:nvSpPr>
        <p:spPr>
          <a:xfrm>
            <a:off x="914400" y="2852928"/>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Elections</a:t>
            </a:r>
            <a:endParaRPr lang="en-US" sz="1300" dirty="0"/>
          </a:p>
        </p:txBody>
      </p:sp>
      <p:sp>
        <p:nvSpPr>
          <p:cNvPr id="32" name="Shape 30"/>
          <p:cNvSpPr/>
          <p:nvPr/>
        </p:nvSpPr>
        <p:spPr>
          <a:xfrm>
            <a:off x="3200400" y="2990088"/>
            <a:ext cx="6949440" cy="10973"/>
          </a:xfrm>
          <a:prstGeom prst="rect">
            <a:avLst/>
          </a:prstGeom>
          <a:solidFill>
            <a:srgbClr val="F2F2F2"/>
          </a:solidFill>
          <a:ln w="12700">
            <a:solidFill>
              <a:srgbClr val="F2F2F2"/>
            </a:solidFill>
            <a:prstDash val="solid"/>
          </a:ln>
        </p:spPr>
      </p:sp>
      <p:sp>
        <p:nvSpPr>
          <p:cNvPr id="33" name="Shape 31"/>
          <p:cNvSpPr/>
          <p:nvPr/>
        </p:nvSpPr>
        <p:spPr>
          <a:xfrm>
            <a:off x="7732776" y="2889504"/>
            <a:ext cx="201168" cy="201168"/>
          </a:xfrm>
          <a:prstGeom prst="ellipse">
            <a:avLst/>
          </a:prstGeom>
          <a:solidFill>
            <a:srgbClr val="440154"/>
          </a:solidFill>
          <a:ln/>
        </p:spPr>
      </p:sp>
      <p:sp>
        <p:nvSpPr>
          <p:cNvPr id="34" name="Shape 32"/>
          <p:cNvSpPr/>
          <p:nvPr/>
        </p:nvSpPr>
        <p:spPr>
          <a:xfrm>
            <a:off x="5416296" y="2889504"/>
            <a:ext cx="201168" cy="201168"/>
          </a:xfrm>
          <a:prstGeom prst="ellipse">
            <a:avLst/>
          </a:prstGeom>
          <a:solidFill>
            <a:srgbClr val="21918C"/>
          </a:solidFill>
          <a:ln/>
        </p:spPr>
      </p:sp>
      <p:sp>
        <p:nvSpPr>
          <p:cNvPr id="35" name="Text 33"/>
          <p:cNvSpPr/>
          <p:nvPr/>
        </p:nvSpPr>
        <p:spPr>
          <a:xfrm>
            <a:off x="914400" y="3410712"/>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Police</a:t>
            </a:r>
            <a:endParaRPr lang="en-US" sz="1300" dirty="0"/>
          </a:p>
        </p:txBody>
      </p:sp>
      <p:sp>
        <p:nvSpPr>
          <p:cNvPr id="36" name="Shape 34"/>
          <p:cNvSpPr/>
          <p:nvPr/>
        </p:nvSpPr>
        <p:spPr>
          <a:xfrm>
            <a:off x="3200400" y="3547872"/>
            <a:ext cx="6949440" cy="10973"/>
          </a:xfrm>
          <a:prstGeom prst="rect">
            <a:avLst/>
          </a:prstGeom>
          <a:solidFill>
            <a:srgbClr val="F2F2F2"/>
          </a:solidFill>
          <a:ln w="12700">
            <a:solidFill>
              <a:srgbClr val="F2F2F2"/>
            </a:solidFill>
            <a:prstDash val="solid"/>
          </a:ln>
        </p:spPr>
      </p:sp>
      <p:sp>
        <p:nvSpPr>
          <p:cNvPr id="37" name="Shape 35"/>
          <p:cNvSpPr/>
          <p:nvPr/>
        </p:nvSpPr>
        <p:spPr>
          <a:xfrm>
            <a:off x="5416296" y="3447288"/>
            <a:ext cx="201168" cy="201168"/>
          </a:xfrm>
          <a:prstGeom prst="ellipse">
            <a:avLst/>
          </a:prstGeom>
          <a:solidFill>
            <a:srgbClr val="440154"/>
          </a:solidFill>
          <a:ln/>
        </p:spPr>
      </p:sp>
      <p:sp>
        <p:nvSpPr>
          <p:cNvPr id="38" name="Shape 36"/>
          <p:cNvSpPr/>
          <p:nvPr/>
        </p:nvSpPr>
        <p:spPr>
          <a:xfrm>
            <a:off x="7732776" y="3447288"/>
            <a:ext cx="201168" cy="201168"/>
          </a:xfrm>
          <a:prstGeom prst="ellipse">
            <a:avLst/>
          </a:prstGeom>
          <a:solidFill>
            <a:srgbClr val="21918C"/>
          </a:solidFill>
          <a:ln/>
        </p:spPr>
      </p:sp>
      <p:sp>
        <p:nvSpPr>
          <p:cNvPr id="39" name="Text 37"/>
          <p:cNvSpPr/>
          <p:nvPr/>
        </p:nvSpPr>
        <p:spPr>
          <a:xfrm>
            <a:off x="914400" y="3968496"/>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President</a:t>
            </a:r>
            <a:endParaRPr lang="en-US" sz="1300" dirty="0"/>
          </a:p>
        </p:txBody>
      </p:sp>
      <p:sp>
        <p:nvSpPr>
          <p:cNvPr id="40" name="Shape 38"/>
          <p:cNvSpPr/>
          <p:nvPr/>
        </p:nvSpPr>
        <p:spPr>
          <a:xfrm>
            <a:off x="3200400" y="4105656"/>
            <a:ext cx="6949440" cy="10973"/>
          </a:xfrm>
          <a:prstGeom prst="rect">
            <a:avLst/>
          </a:prstGeom>
          <a:solidFill>
            <a:srgbClr val="F2F2F2"/>
          </a:solidFill>
          <a:ln w="12700">
            <a:solidFill>
              <a:srgbClr val="F2F2F2"/>
            </a:solidFill>
            <a:prstDash val="solid"/>
          </a:ln>
        </p:spPr>
      </p:sp>
      <p:sp>
        <p:nvSpPr>
          <p:cNvPr id="41" name="Shape 39"/>
          <p:cNvSpPr/>
          <p:nvPr/>
        </p:nvSpPr>
        <p:spPr>
          <a:xfrm>
            <a:off x="4258056" y="4005072"/>
            <a:ext cx="201168" cy="201168"/>
          </a:xfrm>
          <a:prstGeom prst="ellipse">
            <a:avLst/>
          </a:prstGeom>
          <a:solidFill>
            <a:srgbClr val="440154"/>
          </a:solidFill>
          <a:ln/>
        </p:spPr>
      </p:sp>
      <p:sp>
        <p:nvSpPr>
          <p:cNvPr id="42" name="Shape 40"/>
          <p:cNvSpPr/>
          <p:nvPr/>
        </p:nvSpPr>
        <p:spPr>
          <a:xfrm>
            <a:off x="8891016" y="4005072"/>
            <a:ext cx="201168" cy="201168"/>
          </a:xfrm>
          <a:prstGeom prst="ellipse">
            <a:avLst/>
          </a:prstGeom>
          <a:solidFill>
            <a:srgbClr val="21918C"/>
          </a:solidFill>
          <a:ln/>
        </p:spPr>
      </p:sp>
      <p:sp>
        <p:nvSpPr>
          <p:cNvPr id="43" name="Text 41"/>
          <p:cNvSpPr/>
          <p:nvPr/>
        </p:nvSpPr>
        <p:spPr>
          <a:xfrm>
            <a:off x="914400" y="452628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Military</a:t>
            </a:r>
            <a:endParaRPr lang="en-US" sz="1300" dirty="0"/>
          </a:p>
        </p:txBody>
      </p:sp>
      <p:sp>
        <p:nvSpPr>
          <p:cNvPr id="44" name="Shape 42"/>
          <p:cNvSpPr/>
          <p:nvPr/>
        </p:nvSpPr>
        <p:spPr>
          <a:xfrm>
            <a:off x="3200400" y="4663440"/>
            <a:ext cx="6949440" cy="10973"/>
          </a:xfrm>
          <a:prstGeom prst="rect">
            <a:avLst/>
          </a:prstGeom>
          <a:solidFill>
            <a:srgbClr val="F2F2F2"/>
          </a:solidFill>
          <a:ln w="12700">
            <a:solidFill>
              <a:srgbClr val="F2F2F2"/>
            </a:solidFill>
            <a:prstDash val="solid"/>
          </a:ln>
        </p:spPr>
      </p:sp>
      <p:sp>
        <p:nvSpPr>
          <p:cNvPr id="45" name="Shape 43"/>
          <p:cNvSpPr/>
          <p:nvPr/>
        </p:nvSpPr>
        <p:spPr>
          <a:xfrm>
            <a:off x="4258056" y="4562856"/>
            <a:ext cx="201168" cy="201168"/>
          </a:xfrm>
          <a:prstGeom prst="ellipse">
            <a:avLst/>
          </a:prstGeom>
          <a:solidFill>
            <a:srgbClr val="440154"/>
          </a:solidFill>
          <a:ln/>
        </p:spPr>
      </p:sp>
      <p:sp>
        <p:nvSpPr>
          <p:cNvPr id="46" name="Shape 44"/>
          <p:cNvSpPr/>
          <p:nvPr/>
        </p:nvSpPr>
        <p:spPr>
          <a:xfrm>
            <a:off x="8891016" y="4562856"/>
            <a:ext cx="201168" cy="201168"/>
          </a:xfrm>
          <a:prstGeom prst="ellipse">
            <a:avLst/>
          </a:prstGeom>
          <a:solidFill>
            <a:srgbClr val="21918C"/>
          </a:solidFill>
          <a:ln/>
        </p:spPr>
      </p:sp>
      <p:sp>
        <p:nvSpPr>
          <p:cNvPr id="47" name="Text 45"/>
          <p:cNvSpPr/>
          <p:nvPr/>
        </p:nvSpPr>
        <p:spPr>
          <a:xfrm>
            <a:off x="3200400" y="5458968"/>
            <a:ext cx="694944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1 = no trust        7 = high trust</a:t>
            </a:r>
            <a:endParaRPr lang="en-US" sz="1200" dirty="0"/>
          </a:p>
        </p:txBody>
      </p:sp>
      <p:sp>
        <p:nvSpPr>
          <p:cNvPr id="48" name="Shape 46"/>
          <p:cNvSpPr/>
          <p:nvPr/>
        </p:nvSpPr>
        <p:spPr>
          <a:xfrm>
            <a:off x="914400" y="1481328"/>
            <a:ext cx="182880" cy="182880"/>
          </a:xfrm>
          <a:prstGeom prst="ellipse">
            <a:avLst/>
          </a:prstGeom>
          <a:solidFill>
            <a:srgbClr val="440154"/>
          </a:solidFill>
          <a:ln/>
        </p:spPr>
      </p:sp>
      <p:sp>
        <p:nvSpPr>
          <p:cNvPr id="49" name="Text 47"/>
          <p:cNvSpPr/>
          <p:nvPr/>
        </p:nvSpPr>
        <p:spPr>
          <a:xfrm>
            <a:off x="1170432" y="1417320"/>
            <a:ext cx="1737360" cy="274320"/>
          </a:xfrm>
          <a:prstGeom prst="rect">
            <a:avLst/>
          </a:prstGeom>
          <a:noFill/>
          <a:ln/>
        </p:spPr>
        <p:txBody>
          <a:bodyPr wrap="square" lIns="0" tIns="0" rIns="0" bIns="0" rtlCol="0" anchor="ctr"/>
          <a:lstStyle/>
          <a:p>
            <a:pPr indent="0" marL="0">
              <a:buNone/>
            </a:pPr>
            <a:r>
              <a:rPr lang="en-US" sz="1200" b="1" dirty="0">
                <a:solidFill>
                  <a:srgbClr val="440154"/>
                </a:solidFill>
                <a:latin typeface="Calibri" pitchFamily="34" charset="0"/>
                <a:ea typeface="Calibri" pitchFamily="34" charset="-122"/>
                <a:cs typeface="Calibri" pitchFamily="34" charset="-120"/>
              </a:rPr>
              <a:t>Respondent A</a:t>
            </a:r>
            <a:endParaRPr lang="en-US" sz="1200" dirty="0"/>
          </a:p>
        </p:txBody>
      </p:sp>
      <p:sp>
        <p:nvSpPr>
          <p:cNvPr id="50" name="Shape 48"/>
          <p:cNvSpPr/>
          <p:nvPr/>
        </p:nvSpPr>
        <p:spPr>
          <a:xfrm>
            <a:off x="3200400" y="1481328"/>
            <a:ext cx="182880" cy="182880"/>
          </a:xfrm>
          <a:prstGeom prst="ellipse">
            <a:avLst/>
          </a:prstGeom>
          <a:solidFill>
            <a:srgbClr val="21918C"/>
          </a:solidFill>
          <a:ln/>
        </p:spPr>
      </p:sp>
      <p:sp>
        <p:nvSpPr>
          <p:cNvPr id="51" name="Text 49"/>
          <p:cNvSpPr/>
          <p:nvPr/>
        </p:nvSpPr>
        <p:spPr>
          <a:xfrm>
            <a:off x="3456432" y="1417320"/>
            <a:ext cx="1737360" cy="274320"/>
          </a:xfrm>
          <a:prstGeom prst="rect">
            <a:avLst/>
          </a:prstGeom>
          <a:noFill/>
          <a:ln/>
        </p:spPr>
        <p:txBody>
          <a:bodyPr wrap="square" lIns="0" tIns="0" rIns="0" bIns="0" rtlCol="0" anchor="ctr"/>
          <a:lstStyle/>
          <a:p>
            <a:pPr indent="0" marL="0">
              <a:buNone/>
            </a:pPr>
            <a:r>
              <a:rPr lang="en-US" sz="1200" b="1" dirty="0">
                <a:solidFill>
                  <a:srgbClr val="21918C"/>
                </a:solidFill>
                <a:latin typeface="Calibri" pitchFamily="34" charset="0"/>
                <a:ea typeface="Calibri" pitchFamily="34" charset="-122"/>
                <a:cs typeface="Calibri" pitchFamily="34" charset="-120"/>
              </a:rPr>
              <a:t>Respondent B</a:t>
            </a:r>
            <a:endParaRPr lang="en-US" sz="1200" dirty="0"/>
          </a:p>
        </p:txBody>
      </p:sp>
      <p:sp>
        <p:nvSpPr>
          <p:cNvPr id="52" name="Shape 50"/>
          <p:cNvSpPr/>
          <p:nvPr/>
        </p:nvSpPr>
        <p:spPr>
          <a:xfrm>
            <a:off x="10561320" y="2377440"/>
            <a:ext cx="1234440" cy="1554480"/>
          </a:xfrm>
          <a:prstGeom prst="roundRect">
            <a:avLst>
              <a:gd name="adj" fmla="val 3704"/>
            </a:avLst>
          </a:prstGeom>
          <a:solidFill>
            <a:srgbClr val="F1EBF4"/>
          </a:solidFill>
          <a:ln w="12700">
            <a:solidFill>
              <a:srgbClr val="F1EBF4"/>
            </a:solidFill>
            <a:prstDash val="solid"/>
          </a:ln>
        </p:spPr>
      </p:sp>
      <p:sp>
        <p:nvSpPr>
          <p:cNvPr id="53" name="Text 51"/>
          <p:cNvSpPr/>
          <p:nvPr/>
        </p:nvSpPr>
        <p:spPr>
          <a:xfrm>
            <a:off x="10561320" y="2542032"/>
            <a:ext cx="1234440" cy="685800"/>
          </a:xfrm>
          <a:prstGeom prst="rect">
            <a:avLst/>
          </a:prstGeom>
          <a:noFill/>
          <a:ln/>
        </p:spPr>
        <p:txBody>
          <a:bodyPr wrap="square" lIns="0" tIns="0" rIns="0" bIns="0" rtlCol="0" anchor="ctr"/>
          <a:lstStyle/>
          <a:p>
            <a:pPr algn="ctr" indent="0" marL="0">
              <a:buNone/>
            </a:pPr>
            <a:r>
              <a:rPr lang="en-US" sz="3600" b="1" dirty="0">
                <a:solidFill>
                  <a:srgbClr val="440154"/>
                </a:solidFill>
                <a:latin typeface="Cambria" pitchFamily="34" charset="0"/>
                <a:ea typeface="Cambria" pitchFamily="34" charset="-122"/>
                <a:cs typeface="Cambria" pitchFamily="34" charset="-120"/>
              </a:rPr>
              <a:t>4.0</a:t>
            </a:r>
            <a:endParaRPr lang="en-US" sz="3600" dirty="0"/>
          </a:p>
        </p:txBody>
      </p:sp>
      <p:sp>
        <p:nvSpPr>
          <p:cNvPr id="54" name="Text 52"/>
          <p:cNvSpPr/>
          <p:nvPr/>
        </p:nvSpPr>
        <p:spPr>
          <a:xfrm>
            <a:off x="10561320" y="3200400"/>
            <a:ext cx="1234440" cy="5486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both</a:t>
            </a:r>
            <a:endParaRPr lang="en-US" sz="1200" dirty="0"/>
          </a:p>
          <a:p>
            <a:pPr algn="ctr" indent="0" marL="0">
              <a:buNone/>
            </a:pPr>
            <a:r>
              <a:rPr lang="en-US" sz="1200" dirty="0">
                <a:solidFill>
                  <a:srgbClr val="6B6B6B"/>
                </a:solidFill>
                <a:latin typeface="Calibri" pitchFamily="34" charset="0"/>
                <a:ea typeface="Calibri" pitchFamily="34" charset="-122"/>
                <a:cs typeface="Calibri" pitchFamily="34" charset="-120"/>
              </a:rPr>
              <a:t>means</a:t>
            </a:r>
            <a:endParaRPr lang="en-US" sz="1200" dirty="0"/>
          </a:p>
        </p:txBody>
      </p:sp>
      <p:sp>
        <p:nvSpPr>
          <p:cNvPr id="55" name="Text 53"/>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A summed scale calls these two people identical. </a:t>
            </a:r>
            <a:pPr indent="0" marL="0">
              <a:buNone/>
            </a:pPr>
            <a:r>
              <a:rPr lang="en-US" sz="1500" b="1" dirty="0">
                <a:solidFill>
                  <a:srgbClr val="440154"/>
                </a:solidFill>
                <a:latin typeface="Calibri" pitchFamily="34" charset="0"/>
                <a:ea typeface="Calibri" pitchFamily="34" charset="-122"/>
                <a:cs typeface="Calibri" pitchFamily="34" charset="-120"/>
              </a:rPr>
              <a:t>They are not.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A scale answers a different question</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AVERAGING COSTS</a:t>
            </a:r>
            <a:endParaRPr lang="en-US" sz="1000" dirty="0"/>
          </a:p>
        </p:txBody>
      </p:sp>
      <p:sp>
        <p:nvSpPr>
          <p:cNvPr id="9" name="Shape 7"/>
          <p:cNvSpPr/>
          <p:nvPr/>
        </p:nvSpPr>
        <p:spPr>
          <a:xfrm>
            <a:off x="2011680" y="2697480"/>
            <a:ext cx="8138160" cy="146304"/>
          </a:xfrm>
          <a:prstGeom prst="roundRect">
            <a:avLst>
              <a:gd name="adj" fmla="val 312500"/>
            </a:avLst>
          </a:prstGeom>
          <a:solidFill>
            <a:srgbClr val="E4E4E4"/>
          </a:solidFill>
          <a:ln w="12700">
            <a:solidFill>
              <a:srgbClr val="E4E4E4"/>
            </a:solidFill>
            <a:prstDash val="solid"/>
          </a:ln>
        </p:spPr>
      </p:sp>
      <p:sp>
        <p:nvSpPr>
          <p:cNvPr id="10" name="Text 8"/>
          <p:cNvSpPr/>
          <p:nvPr/>
        </p:nvSpPr>
        <p:spPr>
          <a:xfrm>
            <a:off x="1783080" y="2935224"/>
            <a:ext cx="45720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5852160" y="2935224"/>
            <a:ext cx="45720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4</a:t>
            </a:r>
            <a:endParaRPr lang="en-US" sz="1200" dirty="0"/>
          </a:p>
        </p:txBody>
      </p:sp>
      <p:sp>
        <p:nvSpPr>
          <p:cNvPr id="12" name="Text 10"/>
          <p:cNvSpPr/>
          <p:nvPr/>
        </p:nvSpPr>
        <p:spPr>
          <a:xfrm>
            <a:off x="9921240" y="2935224"/>
            <a:ext cx="45720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7</a:t>
            </a:r>
            <a:endParaRPr lang="en-US" sz="1200" dirty="0"/>
          </a:p>
        </p:txBody>
      </p:sp>
      <p:sp>
        <p:nvSpPr>
          <p:cNvPr id="13" name="Shape 11"/>
          <p:cNvSpPr/>
          <p:nvPr/>
        </p:nvSpPr>
        <p:spPr>
          <a:xfrm>
            <a:off x="6080760" y="2130552"/>
            <a:ext cx="10973" cy="566928"/>
          </a:xfrm>
          <a:prstGeom prst="rect">
            <a:avLst/>
          </a:prstGeom>
          <a:solidFill>
            <a:srgbClr val="D0D0D0"/>
          </a:solidFill>
          <a:ln w="12700">
            <a:solidFill>
              <a:srgbClr val="D0D0D0"/>
            </a:solidFill>
            <a:prstDash val="solid"/>
          </a:ln>
        </p:spPr>
      </p:sp>
      <p:sp>
        <p:nvSpPr>
          <p:cNvPr id="14" name="Shape 12"/>
          <p:cNvSpPr/>
          <p:nvPr/>
        </p:nvSpPr>
        <p:spPr>
          <a:xfrm>
            <a:off x="6080760" y="2843784"/>
            <a:ext cx="10973" cy="502920"/>
          </a:xfrm>
          <a:prstGeom prst="rect">
            <a:avLst/>
          </a:prstGeom>
          <a:solidFill>
            <a:srgbClr val="D0D0D0"/>
          </a:solidFill>
          <a:ln w="12700">
            <a:solidFill>
              <a:srgbClr val="D0D0D0"/>
            </a:solidFill>
            <a:prstDash val="solid"/>
          </a:ln>
        </p:spPr>
      </p:sp>
      <p:sp>
        <p:nvSpPr>
          <p:cNvPr id="15" name="Shape 13"/>
          <p:cNvSpPr/>
          <p:nvPr/>
        </p:nvSpPr>
        <p:spPr>
          <a:xfrm>
            <a:off x="5623560" y="1856232"/>
            <a:ext cx="274320" cy="274320"/>
          </a:xfrm>
          <a:prstGeom prst="ellipse">
            <a:avLst/>
          </a:prstGeom>
          <a:solidFill>
            <a:srgbClr val="440154"/>
          </a:solidFill>
          <a:ln/>
        </p:spPr>
      </p:sp>
      <p:sp>
        <p:nvSpPr>
          <p:cNvPr id="16" name="Text 14"/>
          <p:cNvSpPr/>
          <p:nvPr/>
        </p:nvSpPr>
        <p:spPr>
          <a:xfrm>
            <a:off x="5623560" y="185623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7" name="Shape 15"/>
          <p:cNvSpPr/>
          <p:nvPr/>
        </p:nvSpPr>
        <p:spPr>
          <a:xfrm>
            <a:off x="6263640" y="1856232"/>
            <a:ext cx="274320" cy="274320"/>
          </a:xfrm>
          <a:prstGeom prst="ellipse">
            <a:avLst/>
          </a:prstGeom>
          <a:solidFill>
            <a:srgbClr val="21918C"/>
          </a:solidFill>
          <a:ln/>
        </p:spPr>
      </p:sp>
      <p:sp>
        <p:nvSpPr>
          <p:cNvPr id="18" name="Text 16"/>
          <p:cNvSpPr/>
          <p:nvPr/>
        </p:nvSpPr>
        <p:spPr>
          <a:xfrm>
            <a:off x="6263640" y="185623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9" name="Text 17"/>
          <p:cNvSpPr/>
          <p:nvPr/>
        </p:nvSpPr>
        <p:spPr>
          <a:xfrm>
            <a:off x="4617720" y="3355848"/>
            <a:ext cx="2926080" cy="292608"/>
          </a:xfrm>
          <a:prstGeom prst="rect">
            <a:avLst/>
          </a:prstGeom>
          <a:noFill/>
          <a:ln/>
        </p:spPr>
        <p:txBody>
          <a:bodyPr wrap="square" lIns="0" tIns="0" rIns="0" bIns="0" rtlCol="0" anchor="ctr"/>
          <a:lstStyle/>
          <a:p>
            <a:pPr algn="ctr" indent="0" marL="0">
              <a:buNone/>
            </a:pPr>
            <a:r>
              <a:rPr lang="en-US" sz="1400" b="1" dirty="0">
                <a:solidFill>
                  <a:srgbClr val="1F1F1F"/>
                </a:solidFill>
                <a:latin typeface="Calibri" pitchFamily="34" charset="0"/>
                <a:ea typeface="Calibri" pitchFamily="34" charset="-122"/>
                <a:cs typeface="Calibri" pitchFamily="34" charset="-120"/>
              </a:rPr>
              <a:t>both land here</a:t>
            </a:r>
            <a:endParaRPr lang="en-US" sz="1400" dirty="0"/>
          </a:p>
        </p:txBody>
      </p:sp>
      <p:sp>
        <p:nvSpPr>
          <p:cNvPr id="20" name="Shape 18"/>
          <p:cNvSpPr/>
          <p:nvPr/>
        </p:nvSpPr>
        <p:spPr>
          <a:xfrm>
            <a:off x="685800" y="3977640"/>
            <a:ext cx="3276600" cy="1371600"/>
          </a:xfrm>
          <a:prstGeom prst="roundRect">
            <a:avLst>
              <a:gd name="adj" fmla="val 3333"/>
            </a:avLst>
          </a:prstGeom>
          <a:solidFill>
            <a:srgbClr val="F7F7F7"/>
          </a:solidFill>
          <a:ln w="12700">
            <a:solidFill>
              <a:srgbClr val="E4E4E4"/>
            </a:solidFill>
            <a:prstDash val="solid"/>
          </a:ln>
        </p:spPr>
      </p:sp>
      <p:sp>
        <p:nvSpPr>
          <p:cNvPr id="21" name="Shape 19"/>
          <p:cNvSpPr/>
          <p:nvPr/>
        </p:nvSpPr>
        <p:spPr>
          <a:xfrm>
            <a:off x="960120" y="4206240"/>
            <a:ext cx="292608" cy="292608"/>
          </a:xfrm>
          <a:prstGeom prst="ellipse">
            <a:avLst/>
          </a:prstGeom>
          <a:solidFill>
            <a:srgbClr val="440154"/>
          </a:solidFill>
          <a:ln/>
        </p:spPr>
      </p:sp>
      <p:sp>
        <p:nvSpPr>
          <p:cNvPr id="22" name="Text 20"/>
          <p:cNvSpPr/>
          <p:nvPr/>
        </p:nvSpPr>
        <p:spPr>
          <a:xfrm>
            <a:off x="960120" y="4617720"/>
            <a:ext cx="2727960" cy="292608"/>
          </a:xfrm>
          <a:prstGeom prst="rect">
            <a:avLst/>
          </a:prstGeom>
          <a:noFill/>
          <a:ln/>
        </p:spPr>
        <p:txBody>
          <a:bodyPr wrap="square" lIns="0" tIns="0" rIns="0" bIns="0"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Two different people</a:t>
            </a:r>
            <a:endParaRPr lang="en-US" sz="1500" dirty="0"/>
          </a:p>
        </p:txBody>
      </p:sp>
      <p:sp>
        <p:nvSpPr>
          <p:cNvPr id="23" name="Text 21"/>
          <p:cNvSpPr/>
          <p:nvPr/>
        </p:nvSpPr>
        <p:spPr>
          <a:xfrm>
            <a:off x="960120" y="4919472"/>
            <a:ext cx="272796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collapse to one number</a:t>
            </a:r>
            <a:endParaRPr lang="en-US" sz="1300" dirty="0"/>
          </a:p>
        </p:txBody>
      </p:sp>
      <p:sp>
        <p:nvSpPr>
          <p:cNvPr id="24" name="Shape 22"/>
          <p:cNvSpPr/>
          <p:nvPr/>
        </p:nvSpPr>
        <p:spPr>
          <a:xfrm>
            <a:off x="4282440" y="3977640"/>
            <a:ext cx="3276600" cy="1371600"/>
          </a:xfrm>
          <a:prstGeom prst="roundRect">
            <a:avLst>
              <a:gd name="adj" fmla="val 3333"/>
            </a:avLst>
          </a:prstGeom>
          <a:solidFill>
            <a:srgbClr val="F7F7F7"/>
          </a:solidFill>
          <a:ln w="12700">
            <a:solidFill>
              <a:srgbClr val="E4E4E4"/>
            </a:solidFill>
            <a:prstDash val="solid"/>
          </a:ln>
        </p:spPr>
      </p:sp>
      <p:sp>
        <p:nvSpPr>
          <p:cNvPr id="25" name="Shape 23"/>
          <p:cNvSpPr/>
          <p:nvPr/>
        </p:nvSpPr>
        <p:spPr>
          <a:xfrm>
            <a:off x="4556760" y="4206240"/>
            <a:ext cx="292608" cy="292608"/>
          </a:xfrm>
          <a:prstGeom prst="ellipse">
            <a:avLst/>
          </a:prstGeom>
          <a:solidFill>
            <a:srgbClr val="21918C"/>
          </a:solidFill>
          <a:ln/>
        </p:spPr>
      </p:sp>
      <p:sp>
        <p:nvSpPr>
          <p:cNvPr id="26" name="Text 24"/>
          <p:cNvSpPr/>
          <p:nvPr/>
        </p:nvSpPr>
        <p:spPr>
          <a:xfrm>
            <a:off x="4556760" y="4617720"/>
            <a:ext cx="2727960" cy="292608"/>
          </a:xfrm>
          <a:prstGeom prst="rect">
            <a:avLst/>
          </a:prstGeom>
          <a:noFill/>
          <a:ln/>
        </p:spPr>
        <p:txBody>
          <a:bodyPr wrap="square" lIns="0" tIns="0" rIns="0" bIns="0"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Real contrasts</a:t>
            </a:r>
            <a:endParaRPr lang="en-US" sz="1500" dirty="0"/>
          </a:p>
        </p:txBody>
      </p:sp>
      <p:sp>
        <p:nvSpPr>
          <p:cNvPr id="27" name="Text 25"/>
          <p:cNvSpPr/>
          <p:nvPr/>
        </p:nvSpPr>
        <p:spPr>
          <a:xfrm>
            <a:off x="4556760" y="4919472"/>
            <a:ext cx="272796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get diluted toward the mean</a:t>
            </a:r>
            <a:endParaRPr lang="en-US" sz="1300" dirty="0"/>
          </a:p>
        </p:txBody>
      </p:sp>
      <p:sp>
        <p:nvSpPr>
          <p:cNvPr id="28" name="Shape 26"/>
          <p:cNvSpPr/>
          <p:nvPr/>
        </p:nvSpPr>
        <p:spPr>
          <a:xfrm>
            <a:off x="7879080" y="3977640"/>
            <a:ext cx="3276600" cy="1371600"/>
          </a:xfrm>
          <a:prstGeom prst="roundRect">
            <a:avLst>
              <a:gd name="adj" fmla="val 3333"/>
            </a:avLst>
          </a:prstGeom>
          <a:solidFill>
            <a:srgbClr val="F7F7F7"/>
          </a:solidFill>
          <a:ln w="12700">
            <a:solidFill>
              <a:srgbClr val="E4E4E4"/>
            </a:solidFill>
            <a:prstDash val="solid"/>
          </a:ln>
        </p:spPr>
      </p:sp>
      <p:sp>
        <p:nvSpPr>
          <p:cNvPr id="29" name="Shape 27"/>
          <p:cNvSpPr/>
          <p:nvPr/>
        </p:nvSpPr>
        <p:spPr>
          <a:xfrm>
            <a:off x="8153400" y="4206240"/>
            <a:ext cx="292608" cy="292608"/>
          </a:xfrm>
          <a:prstGeom prst="ellipse">
            <a:avLst/>
          </a:prstGeom>
          <a:solidFill>
            <a:srgbClr val="3B528B"/>
          </a:solidFill>
          <a:ln/>
        </p:spPr>
      </p:sp>
      <p:sp>
        <p:nvSpPr>
          <p:cNvPr id="30" name="Text 28"/>
          <p:cNvSpPr/>
          <p:nvPr/>
        </p:nvSpPr>
        <p:spPr>
          <a:xfrm>
            <a:off x="8153400" y="4617720"/>
            <a:ext cx="2727960" cy="292608"/>
          </a:xfrm>
          <a:prstGeom prst="rect">
            <a:avLst/>
          </a:prstGeom>
          <a:noFill/>
          <a:ln/>
        </p:spPr>
        <p:txBody>
          <a:bodyPr wrap="square" lIns="0" tIns="0" rIns="0" bIns="0"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You cannot target</a:t>
            </a:r>
            <a:endParaRPr lang="en-US" sz="1500" dirty="0"/>
          </a:p>
        </p:txBody>
      </p:sp>
      <p:sp>
        <p:nvSpPr>
          <p:cNvPr id="31" name="Text 29"/>
          <p:cNvSpPr/>
          <p:nvPr/>
        </p:nvSpPr>
        <p:spPr>
          <a:xfrm>
            <a:off x="8153400" y="4919472"/>
            <a:ext cx="272796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what you cannot distinguish</a:t>
            </a:r>
            <a:endParaRPr lang="en-US" sz="1300" dirty="0"/>
          </a:p>
        </p:txBody>
      </p:sp>
      <p:sp>
        <p:nvSpPr>
          <p:cNvPr id="32" name="Text 30"/>
          <p:cNvSpPr/>
          <p:nvPr/>
        </p:nvSpPr>
        <p:spPr>
          <a:xfrm>
            <a:off x="685800" y="1600200"/>
            <a:ext cx="10789920" cy="365760"/>
          </a:xfrm>
          <a:prstGeom prst="rect">
            <a:avLst/>
          </a:prstGeom>
          <a:noFill/>
          <a:ln/>
        </p:spPr>
        <p:txBody>
          <a:bodyPr wrap="square" lIns="0" tIns="0" rIns="0" bIns="0" rtlCol="0" anchor="ctr"/>
          <a:lstStyle/>
          <a:p>
            <a:pPr indent="0" marL="0">
              <a:buNone/>
            </a:pPr>
            <a:r>
              <a:rPr lang="en-US" sz="1600" dirty="0">
                <a:solidFill>
                  <a:srgbClr val="1F1F1F"/>
                </a:solidFill>
                <a:latin typeface="Calibri" pitchFamily="34" charset="0"/>
                <a:ea typeface="Calibri" pitchFamily="34" charset="-122"/>
                <a:cs typeface="Calibri" pitchFamily="34" charset="-120"/>
              </a:rPr>
              <a:t>The scale is not wrong. It measures how much, when the question is which kind.</a:t>
            </a:r>
            <a:endParaRPr lang="en-US" sz="1600" dirty="0"/>
          </a:p>
        </p:txBody>
      </p:sp>
      <p:sp>
        <p:nvSpPr>
          <p:cNvPr id="33" name="Text 31"/>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This is a </a:t>
            </a:r>
            <a:pPr indent="0" marL="0">
              <a:buNone/>
            </a:pPr>
            <a:r>
              <a:rPr lang="en-US" sz="1500" b="1" dirty="0">
                <a:solidFill>
                  <a:srgbClr val="440154"/>
                </a:solidFill>
                <a:latin typeface="Calibri" pitchFamily="34" charset="0"/>
                <a:ea typeface="Calibri" pitchFamily="34" charset="-122"/>
                <a:cs typeface="Calibri" pitchFamily="34" charset="-120"/>
              </a:rPr>
              <a:t>validity</a:t>
            </a:r>
            <a:pPr indent="0" marL="0">
              <a:buNone/>
            </a:pPr>
            <a:r>
              <a:rPr lang="en-US" sz="1500" dirty="0">
                <a:solidFill>
                  <a:srgbClr val="1F1F1F"/>
                </a:solidFill>
                <a:latin typeface="Calibri" pitchFamily="34" charset="0"/>
                <a:ea typeface="Calibri" pitchFamily="34" charset="-122"/>
                <a:cs typeface="Calibri" pitchFamily="34" charset="-120"/>
              </a:rPr>
              <a:t> problem, on the measurement side of Total Survey Error. Not a reporting choice.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Two questions before picking a method</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HOW THE CHOICE WAS MADE</a:t>
            </a:r>
            <a:endParaRPr lang="en-US" sz="1000" dirty="0"/>
          </a:p>
        </p:txBody>
      </p:sp>
      <p:sp>
        <p:nvSpPr>
          <p:cNvPr id="9" name="Text 7"/>
          <p:cNvSpPr/>
          <p:nvPr/>
        </p:nvSpPr>
        <p:spPr>
          <a:xfrm>
            <a:off x="685800" y="16002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1.  What are we estimating?</a:t>
            </a:r>
            <a:endParaRPr lang="en-US" sz="1600" dirty="0"/>
          </a:p>
        </p:txBody>
      </p:sp>
      <p:sp>
        <p:nvSpPr>
          <p:cNvPr id="10" name="Shape 8"/>
          <p:cNvSpPr/>
          <p:nvPr/>
        </p:nvSpPr>
        <p:spPr>
          <a:xfrm>
            <a:off x="685800" y="2011680"/>
            <a:ext cx="4937760" cy="1143000"/>
          </a:xfrm>
          <a:prstGeom prst="roundRect">
            <a:avLst>
              <a:gd name="adj" fmla="val 4000"/>
            </a:avLst>
          </a:prstGeom>
          <a:solidFill>
            <a:srgbClr val="F7F7F7"/>
          </a:solidFill>
          <a:ln w="12700">
            <a:solidFill>
              <a:srgbClr val="E4E4E4"/>
            </a:solidFill>
            <a:prstDash val="solid"/>
          </a:ln>
        </p:spPr>
      </p:sp>
      <p:sp>
        <p:nvSpPr>
          <p:cNvPr id="11" name="Text 9"/>
          <p:cNvSpPr/>
          <p:nvPr/>
        </p:nvSpPr>
        <p:spPr>
          <a:xfrm>
            <a:off x="960120" y="21488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A partition of this file</a:t>
            </a:r>
            <a:endParaRPr lang="en-US" sz="1500" dirty="0"/>
          </a:p>
        </p:txBody>
      </p:sp>
      <p:sp>
        <p:nvSpPr>
          <p:cNvPr id="12" name="Text 10"/>
          <p:cNvSpPr/>
          <p:nvPr/>
        </p:nvSpPr>
        <p:spPr>
          <a:xfrm>
            <a:off x="960120" y="24688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k-means, medoids</a:t>
            </a:r>
            <a:endParaRPr lang="en-US" sz="1300" dirty="0"/>
          </a:p>
        </p:txBody>
      </p:sp>
      <p:sp>
        <p:nvSpPr>
          <p:cNvPr id="13" name="Text 11"/>
          <p:cNvSpPr/>
          <p:nvPr/>
        </p:nvSpPr>
        <p:spPr>
          <a:xfrm>
            <a:off x="960120" y="27706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no interval exists</a:t>
            </a:r>
            <a:endParaRPr lang="en-US" sz="1200" dirty="0"/>
          </a:p>
        </p:txBody>
      </p:sp>
      <p:sp>
        <p:nvSpPr>
          <p:cNvPr id="14" name="Shape 12"/>
          <p:cNvSpPr/>
          <p:nvPr/>
        </p:nvSpPr>
        <p:spPr>
          <a:xfrm>
            <a:off x="6172200" y="2011680"/>
            <a:ext cx="5303520" cy="1143000"/>
          </a:xfrm>
          <a:prstGeom prst="roundRect">
            <a:avLst>
              <a:gd name="adj" fmla="val 4000"/>
            </a:avLst>
          </a:prstGeom>
          <a:solidFill>
            <a:srgbClr val="E8F3F2"/>
          </a:solidFill>
          <a:ln w="12700">
            <a:solidFill>
              <a:srgbClr val="21918C"/>
            </a:solidFill>
            <a:prstDash val="solid"/>
          </a:ln>
        </p:spPr>
      </p:sp>
      <p:sp>
        <p:nvSpPr>
          <p:cNvPr id="15" name="Shape 13"/>
          <p:cNvSpPr/>
          <p:nvPr/>
        </p:nvSpPr>
        <p:spPr>
          <a:xfrm>
            <a:off x="6400800" y="2221992"/>
            <a:ext cx="237744" cy="237744"/>
          </a:xfrm>
          <a:prstGeom prst="ellipse">
            <a:avLst/>
          </a:prstGeom>
          <a:solidFill>
            <a:srgbClr val="21918C"/>
          </a:solidFill>
          <a:ln/>
        </p:spPr>
      </p:sp>
      <p:sp>
        <p:nvSpPr>
          <p:cNvPr id="16" name="Text 14"/>
          <p:cNvSpPr/>
          <p:nvPr/>
        </p:nvSpPr>
        <p:spPr>
          <a:xfrm>
            <a:off x="6766560" y="21488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 population parameter</a:t>
            </a:r>
            <a:endParaRPr lang="en-US" sz="1500" dirty="0"/>
          </a:p>
        </p:txBody>
      </p:sp>
      <p:sp>
        <p:nvSpPr>
          <p:cNvPr id="17" name="Text 15"/>
          <p:cNvSpPr/>
          <p:nvPr/>
        </p:nvSpPr>
        <p:spPr>
          <a:xfrm>
            <a:off x="6766560" y="24688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factor analysis, latent class</a:t>
            </a:r>
            <a:endParaRPr lang="en-US" sz="1300" dirty="0"/>
          </a:p>
        </p:txBody>
      </p:sp>
      <p:sp>
        <p:nvSpPr>
          <p:cNvPr id="18" name="Text 16"/>
          <p:cNvSpPr/>
          <p:nvPr/>
        </p:nvSpPr>
        <p:spPr>
          <a:xfrm>
            <a:off x="685800" y="36576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2.  What shape is the thing?</a:t>
            </a:r>
            <a:endParaRPr lang="en-US" sz="1600" dirty="0"/>
          </a:p>
        </p:txBody>
      </p:sp>
      <p:sp>
        <p:nvSpPr>
          <p:cNvPr id="19" name="Shape 17"/>
          <p:cNvSpPr/>
          <p:nvPr/>
        </p:nvSpPr>
        <p:spPr>
          <a:xfrm>
            <a:off x="685800" y="4069080"/>
            <a:ext cx="4937760" cy="1143000"/>
          </a:xfrm>
          <a:prstGeom prst="roundRect">
            <a:avLst>
              <a:gd name="adj" fmla="val 4000"/>
            </a:avLst>
          </a:prstGeom>
          <a:solidFill>
            <a:srgbClr val="F7F7F7"/>
          </a:solidFill>
          <a:ln w="12700">
            <a:solidFill>
              <a:srgbClr val="E4E4E4"/>
            </a:solidFill>
            <a:prstDash val="solid"/>
          </a:ln>
        </p:spPr>
      </p:sp>
      <p:sp>
        <p:nvSpPr>
          <p:cNvPr id="20" name="Text 18"/>
          <p:cNvSpPr/>
          <p:nvPr/>
        </p:nvSpPr>
        <p:spPr>
          <a:xfrm>
            <a:off x="960120" y="42062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One continuum</a:t>
            </a:r>
            <a:endParaRPr lang="en-US" sz="1500" dirty="0"/>
          </a:p>
        </p:txBody>
      </p:sp>
      <p:sp>
        <p:nvSpPr>
          <p:cNvPr id="21" name="Text 19"/>
          <p:cNvSpPr/>
          <p:nvPr/>
        </p:nvSpPr>
        <p:spPr>
          <a:xfrm>
            <a:off x="960120" y="45262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groups differ in how high</a:t>
            </a:r>
            <a:endParaRPr lang="en-US" sz="1300" dirty="0"/>
          </a:p>
        </p:txBody>
      </p:sp>
      <p:sp>
        <p:nvSpPr>
          <p:cNvPr id="22" name="Text 20"/>
          <p:cNvSpPr/>
          <p:nvPr/>
        </p:nvSpPr>
        <p:spPr>
          <a:xfrm>
            <a:off x="960120" y="48280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a factor cannot hold a crossing</a:t>
            </a:r>
            <a:endParaRPr lang="en-US" sz="1200" dirty="0"/>
          </a:p>
        </p:txBody>
      </p:sp>
      <p:sp>
        <p:nvSpPr>
          <p:cNvPr id="23" name="Shape 21"/>
          <p:cNvSpPr/>
          <p:nvPr/>
        </p:nvSpPr>
        <p:spPr>
          <a:xfrm>
            <a:off x="6172200" y="4069080"/>
            <a:ext cx="5303520" cy="1143000"/>
          </a:xfrm>
          <a:prstGeom prst="roundRect">
            <a:avLst>
              <a:gd name="adj" fmla="val 4000"/>
            </a:avLst>
          </a:prstGeom>
          <a:solidFill>
            <a:srgbClr val="E8F3F2"/>
          </a:solidFill>
          <a:ln w="12700">
            <a:solidFill>
              <a:srgbClr val="21918C"/>
            </a:solidFill>
            <a:prstDash val="solid"/>
          </a:ln>
        </p:spPr>
      </p:sp>
      <p:sp>
        <p:nvSpPr>
          <p:cNvPr id="24" name="Shape 22"/>
          <p:cNvSpPr/>
          <p:nvPr/>
        </p:nvSpPr>
        <p:spPr>
          <a:xfrm>
            <a:off x="6400800" y="4279392"/>
            <a:ext cx="237744" cy="237744"/>
          </a:xfrm>
          <a:prstGeom prst="ellipse">
            <a:avLst/>
          </a:prstGeom>
          <a:solidFill>
            <a:srgbClr val="21918C"/>
          </a:solidFill>
          <a:ln/>
        </p:spPr>
      </p:sp>
      <p:sp>
        <p:nvSpPr>
          <p:cNvPr id="25" name="Text 23"/>
          <p:cNvSpPr/>
          <p:nvPr/>
        </p:nvSpPr>
        <p:spPr>
          <a:xfrm>
            <a:off x="6766560" y="42062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Distinct types</a:t>
            </a:r>
            <a:endParaRPr lang="en-US" sz="1500" dirty="0"/>
          </a:p>
        </p:txBody>
      </p:sp>
      <p:sp>
        <p:nvSpPr>
          <p:cNvPr id="26" name="Text 24"/>
          <p:cNvSpPr/>
          <p:nvPr/>
        </p:nvSpPr>
        <p:spPr>
          <a:xfrm>
            <a:off x="6766560" y="45262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groups differ in which items</a:t>
            </a:r>
            <a:endParaRPr lang="en-US" sz="1300" dirty="0"/>
          </a:p>
        </p:txBody>
      </p:sp>
      <p:sp>
        <p:nvSpPr>
          <p:cNvPr id="27" name="Text 25"/>
          <p:cNvSpPr/>
          <p:nvPr/>
        </p:nvSpPr>
        <p:spPr>
          <a:xfrm>
            <a:off x="685800" y="5806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battery decides question two, not taste. </a:t>
            </a:r>
            <a:pPr indent="0" marL="0">
              <a:buNone/>
            </a:pPr>
            <a:r>
              <a:rPr lang="en-US" sz="1500" b="1" dirty="0">
                <a:solidFill>
                  <a:srgbClr val="440154"/>
                </a:solidFill>
                <a:latin typeface="Calibri" pitchFamily="34" charset="0"/>
                <a:ea typeface="Calibri" pitchFamily="34" charset="-122"/>
                <a:cs typeface="Calibri" pitchFamily="34" charset="-120"/>
              </a:rPr>
              <a:t>The diagnostic is on the profiles slide.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What comes out</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TWO OUTPUTS</a:t>
            </a:r>
            <a:endParaRPr lang="en-US" sz="1000" dirty="0"/>
          </a:p>
        </p:txBody>
      </p:sp>
      <p:sp>
        <p:nvSpPr>
          <p:cNvPr id="9" name="Shape 7"/>
          <p:cNvSpPr/>
          <p:nvPr/>
        </p:nvSpPr>
        <p:spPr>
          <a:xfrm>
            <a:off x="1378915" y="2432304"/>
            <a:ext cx="351130" cy="351130"/>
          </a:xfrm>
          <a:prstGeom prst="ellipse">
            <a:avLst/>
          </a:prstGeom>
          <a:solidFill>
            <a:srgbClr val="A9A9A9"/>
          </a:solidFill>
          <a:ln w="12700">
            <a:solidFill>
              <a:srgbClr val="A9A9A9"/>
            </a:solidFill>
            <a:prstDash val="solid"/>
          </a:ln>
        </p:spPr>
      </p:sp>
      <p:sp>
        <p:nvSpPr>
          <p:cNvPr id="10" name="Shape 8"/>
          <p:cNvSpPr/>
          <p:nvPr/>
        </p:nvSpPr>
        <p:spPr>
          <a:xfrm>
            <a:off x="1305763" y="2695651"/>
            <a:ext cx="497434" cy="643738"/>
          </a:xfrm>
          <a:prstGeom prst="roundRect">
            <a:avLst>
              <a:gd name="adj" fmla="val 29412"/>
            </a:avLst>
          </a:prstGeom>
          <a:solidFill>
            <a:srgbClr val="A9A9A9"/>
          </a:solidFill>
          <a:ln w="12700">
            <a:solidFill>
              <a:srgbClr val="A9A9A9"/>
            </a:solidFill>
            <a:prstDash val="solid"/>
          </a:ln>
        </p:spPr>
      </p:sp>
      <p:sp>
        <p:nvSpPr>
          <p:cNvPr id="11" name="Text 9"/>
          <p:cNvSpPr/>
          <p:nvPr/>
        </p:nvSpPr>
        <p:spPr>
          <a:xfrm>
            <a:off x="731520" y="3794760"/>
            <a:ext cx="164592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one respondent</a:t>
            </a:r>
            <a:endParaRPr lang="en-US" sz="1200" dirty="0"/>
          </a:p>
        </p:txBody>
      </p:sp>
      <p:sp>
        <p:nvSpPr>
          <p:cNvPr id="12" name="Shape 10"/>
          <p:cNvSpPr/>
          <p:nvPr/>
        </p:nvSpPr>
        <p:spPr>
          <a:xfrm>
            <a:off x="3017520" y="2834640"/>
            <a:ext cx="2437790" cy="548640"/>
          </a:xfrm>
          <a:prstGeom prst="rect">
            <a:avLst/>
          </a:prstGeom>
          <a:solidFill>
            <a:srgbClr val="440154"/>
          </a:solidFill>
          <a:ln/>
        </p:spPr>
      </p:sp>
      <p:sp>
        <p:nvSpPr>
          <p:cNvPr id="13" name="Shape 11"/>
          <p:cNvSpPr/>
          <p:nvPr/>
        </p:nvSpPr>
        <p:spPr>
          <a:xfrm>
            <a:off x="5455310" y="2834640"/>
            <a:ext cx="943661" cy="548640"/>
          </a:xfrm>
          <a:prstGeom prst="rect">
            <a:avLst/>
          </a:prstGeom>
          <a:solidFill>
            <a:srgbClr val="3B528B"/>
          </a:solidFill>
          <a:ln/>
        </p:spPr>
      </p:sp>
      <p:sp>
        <p:nvSpPr>
          <p:cNvPr id="14" name="Shape 12"/>
          <p:cNvSpPr/>
          <p:nvPr/>
        </p:nvSpPr>
        <p:spPr>
          <a:xfrm>
            <a:off x="6398971" y="2834640"/>
            <a:ext cx="314554" cy="548640"/>
          </a:xfrm>
          <a:prstGeom prst="rect">
            <a:avLst/>
          </a:prstGeom>
          <a:solidFill>
            <a:srgbClr val="21918C"/>
          </a:solidFill>
          <a:ln/>
        </p:spPr>
      </p:sp>
      <p:sp>
        <p:nvSpPr>
          <p:cNvPr id="15" name="Shape 13"/>
          <p:cNvSpPr/>
          <p:nvPr/>
        </p:nvSpPr>
        <p:spPr>
          <a:xfrm>
            <a:off x="6713525" y="2834640"/>
            <a:ext cx="157277" cy="548640"/>
          </a:xfrm>
          <a:prstGeom prst="rect">
            <a:avLst/>
          </a:prstGeom>
          <a:solidFill>
            <a:srgbClr val="5EC962"/>
          </a:solidFill>
          <a:ln/>
        </p:spPr>
      </p:sp>
      <p:sp>
        <p:nvSpPr>
          <p:cNvPr id="16" name="Shape 14"/>
          <p:cNvSpPr/>
          <p:nvPr/>
        </p:nvSpPr>
        <p:spPr>
          <a:xfrm>
            <a:off x="6870802" y="2834640"/>
            <a:ext cx="78638" cy="548640"/>
          </a:xfrm>
          <a:prstGeom prst="rect">
            <a:avLst/>
          </a:prstGeom>
          <a:solidFill>
            <a:srgbClr val="BBA800"/>
          </a:solidFill>
          <a:ln/>
        </p:spPr>
      </p:sp>
      <p:sp>
        <p:nvSpPr>
          <p:cNvPr id="17" name="Text 15"/>
          <p:cNvSpPr/>
          <p:nvPr/>
        </p:nvSpPr>
        <p:spPr>
          <a:xfrm>
            <a:off x="3017520" y="2880360"/>
            <a:ext cx="243779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0.62</a:t>
            </a:r>
            <a:endParaRPr lang="en-US" sz="1400" dirty="0"/>
          </a:p>
        </p:txBody>
      </p:sp>
      <p:sp>
        <p:nvSpPr>
          <p:cNvPr id="18" name="Text 16"/>
          <p:cNvSpPr/>
          <p:nvPr/>
        </p:nvSpPr>
        <p:spPr>
          <a:xfrm>
            <a:off x="3017520" y="3493008"/>
            <a:ext cx="393192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keeps a probability for every segment, never a hard label</a:t>
            </a:r>
            <a:endParaRPr lang="en-US" sz="1300" dirty="0"/>
          </a:p>
        </p:txBody>
      </p:sp>
      <p:sp>
        <p:nvSpPr>
          <p:cNvPr id="19" name="Text 17"/>
          <p:cNvSpPr/>
          <p:nvPr/>
        </p:nvSpPr>
        <p:spPr>
          <a:xfrm>
            <a:off x="3017520" y="2468880"/>
            <a:ext cx="3931920" cy="274320"/>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Posterior</a:t>
            </a:r>
            <a:endParaRPr lang="en-US" sz="1300" dirty="0"/>
          </a:p>
        </p:txBody>
      </p:sp>
      <p:sp>
        <p:nvSpPr>
          <p:cNvPr id="20" name="Shape 18"/>
          <p:cNvSpPr/>
          <p:nvPr/>
        </p:nvSpPr>
        <p:spPr>
          <a:xfrm>
            <a:off x="7269480" y="2971800"/>
            <a:ext cx="548640" cy="292608"/>
          </a:xfrm>
          <a:prstGeom prst="rightArrow">
            <a:avLst/>
          </a:prstGeom>
          <a:solidFill>
            <a:srgbClr val="BFBFBF"/>
          </a:solidFill>
          <a:ln/>
        </p:spPr>
      </p:sp>
      <p:sp>
        <p:nvSpPr>
          <p:cNvPr id="21" name="Shape 19"/>
          <p:cNvSpPr/>
          <p:nvPr/>
        </p:nvSpPr>
        <p:spPr>
          <a:xfrm>
            <a:off x="8138160" y="2148840"/>
            <a:ext cx="3566160" cy="1325880"/>
          </a:xfrm>
          <a:prstGeom prst="roundRect">
            <a:avLst>
              <a:gd name="adj" fmla="val 3448"/>
            </a:avLst>
          </a:prstGeom>
          <a:solidFill>
            <a:srgbClr val="E8F3F2"/>
          </a:solidFill>
          <a:ln w="12700">
            <a:solidFill>
              <a:srgbClr val="E8F3F2"/>
            </a:solidFill>
            <a:prstDash val="solid"/>
          </a:ln>
        </p:spPr>
      </p:sp>
      <p:sp>
        <p:nvSpPr>
          <p:cNvPr id="22" name="Text 20"/>
          <p:cNvSpPr/>
          <p:nvPr/>
        </p:nvSpPr>
        <p:spPr>
          <a:xfrm>
            <a:off x="8366760" y="2286000"/>
            <a:ext cx="3108960" cy="292608"/>
          </a:xfrm>
          <a:prstGeom prst="rect">
            <a:avLst/>
          </a:prstGeom>
          <a:noFill/>
          <a:ln/>
        </p:spPr>
        <p:txBody>
          <a:bodyPr wrap="square" lIns="0" tIns="0" rIns="0" bIns="0" rtlCol="0" anchor="ctr"/>
          <a:lstStyle/>
          <a:p>
            <a:pPr indent="0" marL="0">
              <a:buNone/>
            </a:pPr>
            <a:r>
              <a:rPr lang="en-US" sz="1500" b="1" dirty="0">
                <a:solidFill>
                  <a:srgbClr val="21918C"/>
                </a:solidFill>
                <a:latin typeface="Calibri" pitchFamily="34" charset="0"/>
                <a:ea typeface="Calibri" pitchFamily="34" charset="-122"/>
                <a:cs typeface="Calibri" pitchFamily="34" charset="-120"/>
              </a:rPr>
              <a:t>Segment share</a:t>
            </a:r>
            <a:endParaRPr lang="en-US" sz="1500" dirty="0"/>
          </a:p>
        </p:txBody>
      </p:sp>
      <p:sp>
        <p:nvSpPr>
          <p:cNvPr id="23" name="Text 21"/>
          <p:cNvSpPr/>
          <p:nvPr/>
        </p:nvSpPr>
        <p:spPr>
          <a:xfrm>
            <a:off x="8366760" y="26243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how large each group is in the population, with an interval</a:t>
            </a:r>
            <a:endParaRPr lang="en-US" sz="1300" dirty="0"/>
          </a:p>
        </p:txBody>
      </p:sp>
      <p:sp>
        <p:nvSpPr>
          <p:cNvPr id="24" name="Shape 22"/>
          <p:cNvSpPr/>
          <p:nvPr/>
        </p:nvSpPr>
        <p:spPr>
          <a:xfrm>
            <a:off x="8138160" y="3749040"/>
            <a:ext cx="3566160" cy="1325880"/>
          </a:xfrm>
          <a:prstGeom prst="roundRect">
            <a:avLst>
              <a:gd name="adj" fmla="val 3448"/>
            </a:avLst>
          </a:prstGeom>
          <a:solidFill>
            <a:srgbClr val="F1EBF4"/>
          </a:solidFill>
          <a:ln w="12700">
            <a:solidFill>
              <a:srgbClr val="F1EBF4"/>
            </a:solidFill>
            <a:prstDash val="solid"/>
          </a:ln>
        </p:spPr>
      </p:sp>
      <p:sp>
        <p:nvSpPr>
          <p:cNvPr id="25" name="Text 23"/>
          <p:cNvSpPr/>
          <p:nvPr/>
        </p:nvSpPr>
        <p:spPr>
          <a:xfrm>
            <a:off x="8366760" y="3886200"/>
            <a:ext cx="310896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Response profile</a:t>
            </a:r>
            <a:endParaRPr lang="en-US" sz="1500" dirty="0"/>
          </a:p>
        </p:txBody>
      </p:sp>
      <p:sp>
        <p:nvSpPr>
          <p:cNvPr id="26" name="Text 24"/>
          <p:cNvSpPr/>
          <p:nvPr/>
        </p:nvSpPr>
        <p:spPr>
          <a:xfrm>
            <a:off x="8366760" y="42245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the answer pattern that defines each group</a:t>
            </a:r>
            <a:endParaRPr lang="en-US" sz="1300" dirty="0"/>
          </a:p>
        </p:txBody>
      </p:sp>
      <p:sp>
        <p:nvSpPr>
          <p:cNvPr id="27" name="Text 25"/>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Both are estimates of the population, so both carry uncertainty we can quantify.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Where the sample design enters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PART THAT IS USUALLY SKIPPED</a:t>
            </a:r>
            <a:endParaRPr lang="en-US" sz="1000" dirty="0"/>
          </a:p>
        </p:txBody>
      </p:sp>
      <p:sp>
        <p:nvSpPr>
          <p:cNvPr id="9" name="Shape 7"/>
          <p:cNvSpPr/>
          <p:nvPr/>
        </p:nvSpPr>
        <p:spPr>
          <a:xfrm>
            <a:off x="685800" y="1554480"/>
            <a:ext cx="4206240" cy="3566160"/>
          </a:xfrm>
          <a:prstGeom prst="roundRect">
            <a:avLst>
              <a:gd name="adj" fmla="val 1282"/>
            </a:avLst>
          </a:prstGeom>
          <a:solidFill>
            <a:srgbClr val="FFFFFF"/>
          </a:solidFill>
          <a:ln w="12700">
            <a:solidFill>
              <a:srgbClr val="E4E4E4"/>
            </a:solidFill>
            <a:prstDash val="solid"/>
          </a:ln>
        </p:spPr>
      </p:sp>
      <p:sp>
        <p:nvSpPr>
          <p:cNvPr id="10" name="Text 8"/>
          <p:cNvSpPr/>
          <p:nvPr/>
        </p:nvSpPr>
        <p:spPr>
          <a:xfrm>
            <a:off x="96012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SAMPLE</a:t>
            </a:r>
            <a:endParaRPr lang="en-US" sz="1300" dirty="0"/>
          </a:p>
        </p:txBody>
      </p:sp>
      <p:sp>
        <p:nvSpPr>
          <p:cNvPr id="11" name="Text 9"/>
          <p:cNvSpPr/>
          <p:nvPr/>
        </p:nvSpPr>
        <p:spPr>
          <a:xfrm>
            <a:off x="960120" y="2011680"/>
            <a:ext cx="3657600" cy="256032"/>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icon size = survey weight</a:t>
            </a:r>
            <a:endParaRPr lang="en-US" sz="1200" dirty="0"/>
          </a:p>
        </p:txBody>
      </p:sp>
      <p:sp>
        <p:nvSpPr>
          <p:cNvPr id="12" name="Shape 10"/>
          <p:cNvSpPr/>
          <p:nvPr/>
        </p:nvSpPr>
        <p:spPr>
          <a:xfrm>
            <a:off x="1411834" y="2450592"/>
            <a:ext cx="285293" cy="285293"/>
          </a:xfrm>
          <a:prstGeom prst="ellipse">
            <a:avLst/>
          </a:prstGeom>
          <a:solidFill>
            <a:srgbClr val="B4B4B4"/>
          </a:solidFill>
          <a:ln w="12700">
            <a:solidFill>
              <a:srgbClr val="B4B4B4"/>
            </a:solidFill>
            <a:prstDash val="solid"/>
          </a:ln>
        </p:spPr>
      </p:sp>
      <p:sp>
        <p:nvSpPr>
          <p:cNvPr id="13" name="Shape 11"/>
          <p:cNvSpPr/>
          <p:nvPr/>
        </p:nvSpPr>
        <p:spPr>
          <a:xfrm>
            <a:off x="1352398" y="2664562"/>
            <a:ext cx="404165" cy="523037"/>
          </a:xfrm>
          <a:prstGeom prst="roundRect">
            <a:avLst>
              <a:gd name="adj" fmla="val 36199"/>
            </a:avLst>
          </a:prstGeom>
          <a:solidFill>
            <a:srgbClr val="B4B4B4"/>
          </a:solidFill>
          <a:ln w="12700">
            <a:solidFill>
              <a:srgbClr val="B4B4B4"/>
            </a:solidFill>
            <a:prstDash val="solid"/>
          </a:ln>
        </p:spPr>
      </p:sp>
      <p:sp>
        <p:nvSpPr>
          <p:cNvPr id="14" name="Shape 12"/>
          <p:cNvSpPr/>
          <p:nvPr/>
        </p:nvSpPr>
        <p:spPr>
          <a:xfrm>
            <a:off x="2335378" y="2633472"/>
            <a:ext cx="175565" cy="175565"/>
          </a:xfrm>
          <a:prstGeom prst="ellipse">
            <a:avLst/>
          </a:prstGeom>
          <a:solidFill>
            <a:srgbClr val="B4B4B4"/>
          </a:solidFill>
          <a:ln w="12700">
            <a:solidFill>
              <a:srgbClr val="B4B4B4"/>
            </a:solidFill>
            <a:prstDash val="solid"/>
          </a:ln>
        </p:spPr>
      </p:sp>
      <p:sp>
        <p:nvSpPr>
          <p:cNvPr id="15" name="Shape 13"/>
          <p:cNvSpPr/>
          <p:nvPr/>
        </p:nvSpPr>
        <p:spPr>
          <a:xfrm>
            <a:off x="2298802" y="2765146"/>
            <a:ext cx="248717" cy="321869"/>
          </a:xfrm>
          <a:prstGeom prst="roundRect">
            <a:avLst>
              <a:gd name="adj" fmla="val 58823"/>
            </a:avLst>
          </a:prstGeom>
          <a:solidFill>
            <a:srgbClr val="B4B4B4"/>
          </a:solidFill>
          <a:ln w="12700">
            <a:solidFill>
              <a:srgbClr val="B4B4B4"/>
            </a:solidFill>
            <a:prstDash val="solid"/>
          </a:ln>
        </p:spPr>
      </p:sp>
      <p:sp>
        <p:nvSpPr>
          <p:cNvPr id="16" name="Shape 14"/>
          <p:cNvSpPr/>
          <p:nvPr/>
        </p:nvSpPr>
        <p:spPr>
          <a:xfrm>
            <a:off x="3171139" y="2523744"/>
            <a:ext cx="241402" cy="241402"/>
          </a:xfrm>
          <a:prstGeom prst="ellipse">
            <a:avLst/>
          </a:prstGeom>
          <a:solidFill>
            <a:srgbClr val="B4B4B4"/>
          </a:solidFill>
          <a:ln w="12700">
            <a:solidFill>
              <a:srgbClr val="B4B4B4"/>
            </a:solidFill>
            <a:prstDash val="solid"/>
          </a:ln>
        </p:spPr>
      </p:sp>
      <p:sp>
        <p:nvSpPr>
          <p:cNvPr id="17" name="Shape 15"/>
          <p:cNvSpPr/>
          <p:nvPr/>
        </p:nvSpPr>
        <p:spPr>
          <a:xfrm>
            <a:off x="3120847" y="2704795"/>
            <a:ext cx="341986" cy="442570"/>
          </a:xfrm>
          <a:prstGeom prst="roundRect">
            <a:avLst>
              <a:gd name="adj" fmla="val 42781"/>
            </a:avLst>
          </a:prstGeom>
          <a:solidFill>
            <a:srgbClr val="B4B4B4"/>
          </a:solidFill>
          <a:ln w="12700">
            <a:solidFill>
              <a:srgbClr val="B4B4B4"/>
            </a:solidFill>
            <a:prstDash val="solid"/>
          </a:ln>
        </p:spPr>
      </p:sp>
      <p:sp>
        <p:nvSpPr>
          <p:cNvPr id="18" name="Shape 16"/>
          <p:cNvSpPr/>
          <p:nvPr/>
        </p:nvSpPr>
        <p:spPr>
          <a:xfrm>
            <a:off x="4083710" y="2670048"/>
            <a:ext cx="153619" cy="153619"/>
          </a:xfrm>
          <a:prstGeom prst="ellipse">
            <a:avLst/>
          </a:prstGeom>
          <a:solidFill>
            <a:srgbClr val="B4B4B4"/>
          </a:solidFill>
          <a:ln w="12700">
            <a:solidFill>
              <a:srgbClr val="B4B4B4"/>
            </a:solidFill>
            <a:prstDash val="solid"/>
          </a:ln>
        </p:spPr>
      </p:sp>
      <p:sp>
        <p:nvSpPr>
          <p:cNvPr id="19" name="Shape 17"/>
          <p:cNvSpPr/>
          <p:nvPr/>
        </p:nvSpPr>
        <p:spPr>
          <a:xfrm>
            <a:off x="4051706" y="2785262"/>
            <a:ext cx="217627" cy="281635"/>
          </a:xfrm>
          <a:prstGeom prst="roundRect">
            <a:avLst>
              <a:gd name="adj" fmla="val 67227"/>
            </a:avLst>
          </a:prstGeom>
          <a:solidFill>
            <a:srgbClr val="B4B4B4"/>
          </a:solidFill>
          <a:ln w="12700">
            <a:solidFill>
              <a:srgbClr val="B4B4B4"/>
            </a:solidFill>
            <a:prstDash val="solid"/>
          </a:ln>
        </p:spPr>
      </p:sp>
      <p:sp>
        <p:nvSpPr>
          <p:cNvPr id="20" name="Shape 18"/>
          <p:cNvSpPr/>
          <p:nvPr/>
        </p:nvSpPr>
        <p:spPr>
          <a:xfrm>
            <a:off x="1461211" y="3456432"/>
            <a:ext cx="186538" cy="186538"/>
          </a:xfrm>
          <a:prstGeom prst="ellipse">
            <a:avLst/>
          </a:prstGeom>
          <a:solidFill>
            <a:srgbClr val="B4B4B4"/>
          </a:solidFill>
          <a:ln w="12700">
            <a:solidFill>
              <a:srgbClr val="B4B4B4"/>
            </a:solidFill>
            <a:prstDash val="solid"/>
          </a:ln>
        </p:spPr>
      </p:sp>
      <p:sp>
        <p:nvSpPr>
          <p:cNvPr id="21" name="Shape 19"/>
          <p:cNvSpPr/>
          <p:nvPr/>
        </p:nvSpPr>
        <p:spPr>
          <a:xfrm>
            <a:off x="1422349" y="3596335"/>
            <a:ext cx="264262" cy="341986"/>
          </a:xfrm>
          <a:prstGeom prst="roundRect">
            <a:avLst>
              <a:gd name="adj" fmla="val 55363"/>
            </a:avLst>
          </a:prstGeom>
          <a:solidFill>
            <a:srgbClr val="B4B4B4"/>
          </a:solidFill>
          <a:ln w="12700">
            <a:solidFill>
              <a:srgbClr val="B4B4B4"/>
            </a:solidFill>
            <a:prstDash val="solid"/>
          </a:ln>
        </p:spPr>
      </p:sp>
      <p:sp>
        <p:nvSpPr>
          <p:cNvPr id="22" name="Shape 20"/>
          <p:cNvSpPr/>
          <p:nvPr/>
        </p:nvSpPr>
        <p:spPr>
          <a:xfrm>
            <a:off x="2275027" y="3273552"/>
            <a:ext cx="296266" cy="296266"/>
          </a:xfrm>
          <a:prstGeom prst="ellipse">
            <a:avLst/>
          </a:prstGeom>
          <a:solidFill>
            <a:srgbClr val="B4B4B4"/>
          </a:solidFill>
          <a:ln w="12700">
            <a:solidFill>
              <a:srgbClr val="B4B4B4"/>
            </a:solidFill>
            <a:prstDash val="solid"/>
          </a:ln>
        </p:spPr>
      </p:sp>
      <p:sp>
        <p:nvSpPr>
          <p:cNvPr id="23" name="Shape 21"/>
          <p:cNvSpPr/>
          <p:nvPr/>
        </p:nvSpPr>
        <p:spPr>
          <a:xfrm>
            <a:off x="2213305" y="3495751"/>
            <a:ext cx="419710" cy="543154"/>
          </a:xfrm>
          <a:prstGeom prst="roundRect">
            <a:avLst>
              <a:gd name="adj" fmla="val 34858"/>
            </a:avLst>
          </a:prstGeom>
          <a:solidFill>
            <a:srgbClr val="B4B4B4"/>
          </a:solidFill>
          <a:ln w="12700">
            <a:solidFill>
              <a:srgbClr val="B4B4B4"/>
            </a:solidFill>
            <a:prstDash val="solid"/>
          </a:ln>
        </p:spPr>
      </p:sp>
      <p:sp>
        <p:nvSpPr>
          <p:cNvPr id="24" name="Shape 22"/>
          <p:cNvSpPr/>
          <p:nvPr/>
        </p:nvSpPr>
        <p:spPr>
          <a:xfrm>
            <a:off x="3187598" y="3419856"/>
            <a:ext cx="208483" cy="208483"/>
          </a:xfrm>
          <a:prstGeom prst="ellipse">
            <a:avLst/>
          </a:prstGeom>
          <a:solidFill>
            <a:srgbClr val="B4B4B4"/>
          </a:solidFill>
          <a:ln w="12700">
            <a:solidFill>
              <a:srgbClr val="B4B4B4"/>
            </a:solidFill>
            <a:prstDash val="solid"/>
          </a:ln>
        </p:spPr>
      </p:sp>
      <p:sp>
        <p:nvSpPr>
          <p:cNvPr id="25" name="Shape 23"/>
          <p:cNvSpPr/>
          <p:nvPr/>
        </p:nvSpPr>
        <p:spPr>
          <a:xfrm>
            <a:off x="3144164" y="3576218"/>
            <a:ext cx="295351" cy="382219"/>
          </a:xfrm>
          <a:prstGeom prst="roundRect">
            <a:avLst>
              <a:gd name="adj" fmla="val 49536"/>
            </a:avLst>
          </a:prstGeom>
          <a:solidFill>
            <a:srgbClr val="B4B4B4"/>
          </a:solidFill>
          <a:ln w="12700">
            <a:solidFill>
              <a:srgbClr val="B4B4B4"/>
            </a:solidFill>
            <a:prstDash val="solid"/>
          </a:ln>
        </p:spPr>
      </p:sp>
      <p:sp>
        <p:nvSpPr>
          <p:cNvPr id="26" name="Shape 24"/>
          <p:cNvSpPr/>
          <p:nvPr/>
        </p:nvSpPr>
        <p:spPr>
          <a:xfrm>
            <a:off x="4028846" y="3328416"/>
            <a:ext cx="263347" cy="263347"/>
          </a:xfrm>
          <a:prstGeom prst="ellipse">
            <a:avLst/>
          </a:prstGeom>
          <a:solidFill>
            <a:srgbClr val="B4B4B4"/>
          </a:solidFill>
          <a:ln w="12700">
            <a:solidFill>
              <a:srgbClr val="B4B4B4"/>
            </a:solidFill>
            <a:prstDash val="solid"/>
          </a:ln>
        </p:spPr>
      </p:sp>
      <p:sp>
        <p:nvSpPr>
          <p:cNvPr id="27" name="Shape 25"/>
          <p:cNvSpPr/>
          <p:nvPr/>
        </p:nvSpPr>
        <p:spPr>
          <a:xfrm>
            <a:off x="3973982" y="3525926"/>
            <a:ext cx="373075" cy="482803"/>
          </a:xfrm>
          <a:prstGeom prst="roundRect">
            <a:avLst>
              <a:gd name="adj" fmla="val 39216"/>
            </a:avLst>
          </a:prstGeom>
          <a:solidFill>
            <a:srgbClr val="B4B4B4"/>
          </a:solidFill>
          <a:ln w="12700">
            <a:solidFill>
              <a:srgbClr val="B4B4B4"/>
            </a:solidFill>
            <a:prstDash val="solid"/>
          </a:ln>
        </p:spPr>
      </p:sp>
      <p:sp>
        <p:nvSpPr>
          <p:cNvPr id="28" name="Shape 26"/>
          <p:cNvSpPr/>
          <p:nvPr/>
        </p:nvSpPr>
        <p:spPr>
          <a:xfrm>
            <a:off x="1428293" y="4187952"/>
            <a:ext cx="252374" cy="252374"/>
          </a:xfrm>
          <a:prstGeom prst="ellipse">
            <a:avLst/>
          </a:prstGeom>
          <a:solidFill>
            <a:srgbClr val="B4B4B4"/>
          </a:solidFill>
          <a:ln w="12700">
            <a:solidFill>
              <a:srgbClr val="B4B4B4"/>
            </a:solidFill>
            <a:prstDash val="solid"/>
          </a:ln>
        </p:spPr>
      </p:sp>
      <p:sp>
        <p:nvSpPr>
          <p:cNvPr id="29" name="Shape 27"/>
          <p:cNvSpPr/>
          <p:nvPr/>
        </p:nvSpPr>
        <p:spPr>
          <a:xfrm>
            <a:off x="1375715" y="4377233"/>
            <a:ext cx="357530" cy="462686"/>
          </a:xfrm>
          <a:prstGeom prst="roundRect">
            <a:avLst>
              <a:gd name="adj" fmla="val 40921"/>
            </a:avLst>
          </a:prstGeom>
          <a:solidFill>
            <a:srgbClr val="B4B4B4"/>
          </a:solidFill>
          <a:ln w="12700">
            <a:solidFill>
              <a:srgbClr val="B4B4B4"/>
            </a:solidFill>
            <a:prstDash val="solid"/>
          </a:ln>
        </p:spPr>
      </p:sp>
      <p:sp>
        <p:nvSpPr>
          <p:cNvPr id="30" name="Shape 28"/>
          <p:cNvSpPr/>
          <p:nvPr/>
        </p:nvSpPr>
        <p:spPr>
          <a:xfrm>
            <a:off x="2340864" y="4334256"/>
            <a:ext cx="164592" cy="164592"/>
          </a:xfrm>
          <a:prstGeom prst="ellipse">
            <a:avLst/>
          </a:prstGeom>
          <a:solidFill>
            <a:srgbClr val="B4B4B4"/>
          </a:solidFill>
          <a:ln w="12700">
            <a:solidFill>
              <a:srgbClr val="B4B4B4"/>
            </a:solidFill>
            <a:prstDash val="solid"/>
          </a:ln>
        </p:spPr>
      </p:sp>
      <p:sp>
        <p:nvSpPr>
          <p:cNvPr id="31" name="Shape 29"/>
          <p:cNvSpPr/>
          <p:nvPr/>
        </p:nvSpPr>
        <p:spPr>
          <a:xfrm>
            <a:off x="2306574" y="4457700"/>
            <a:ext cx="233172" cy="301752"/>
          </a:xfrm>
          <a:prstGeom prst="roundRect">
            <a:avLst>
              <a:gd name="adj" fmla="val 62745"/>
            </a:avLst>
          </a:prstGeom>
          <a:solidFill>
            <a:srgbClr val="B4B4B4"/>
          </a:solidFill>
          <a:ln w="12700">
            <a:solidFill>
              <a:srgbClr val="B4B4B4"/>
            </a:solidFill>
            <a:prstDash val="solid"/>
          </a:ln>
        </p:spPr>
      </p:sp>
      <p:sp>
        <p:nvSpPr>
          <p:cNvPr id="32" name="Shape 30"/>
          <p:cNvSpPr/>
          <p:nvPr/>
        </p:nvSpPr>
        <p:spPr>
          <a:xfrm>
            <a:off x="3138221" y="4096512"/>
            <a:ext cx="307238" cy="307238"/>
          </a:xfrm>
          <a:prstGeom prst="ellipse">
            <a:avLst/>
          </a:prstGeom>
          <a:solidFill>
            <a:srgbClr val="B4B4B4"/>
          </a:solidFill>
          <a:ln w="12700">
            <a:solidFill>
              <a:srgbClr val="B4B4B4"/>
            </a:solidFill>
            <a:prstDash val="solid"/>
          </a:ln>
        </p:spPr>
      </p:sp>
      <p:sp>
        <p:nvSpPr>
          <p:cNvPr id="33" name="Shape 31"/>
          <p:cNvSpPr/>
          <p:nvPr/>
        </p:nvSpPr>
        <p:spPr>
          <a:xfrm>
            <a:off x="3074213" y="4326941"/>
            <a:ext cx="435254" cy="563270"/>
          </a:xfrm>
          <a:prstGeom prst="roundRect">
            <a:avLst>
              <a:gd name="adj" fmla="val 33613"/>
            </a:avLst>
          </a:prstGeom>
          <a:solidFill>
            <a:srgbClr val="B4B4B4"/>
          </a:solidFill>
          <a:ln w="12700">
            <a:solidFill>
              <a:srgbClr val="B4B4B4"/>
            </a:solidFill>
            <a:prstDash val="solid"/>
          </a:ln>
        </p:spPr>
      </p:sp>
      <p:sp>
        <p:nvSpPr>
          <p:cNvPr id="34" name="Shape 32"/>
          <p:cNvSpPr/>
          <p:nvPr/>
        </p:nvSpPr>
        <p:spPr>
          <a:xfrm>
            <a:off x="4061765" y="4279392"/>
            <a:ext cx="197510" cy="197510"/>
          </a:xfrm>
          <a:prstGeom prst="ellipse">
            <a:avLst/>
          </a:prstGeom>
          <a:solidFill>
            <a:srgbClr val="B4B4B4"/>
          </a:solidFill>
          <a:ln w="12700">
            <a:solidFill>
              <a:srgbClr val="B4B4B4"/>
            </a:solidFill>
            <a:prstDash val="solid"/>
          </a:ln>
        </p:spPr>
      </p:sp>
      <p:sp>
        <p:nvSpPr>
          <p:cNvPr id="35" name="Shape 33"/>
          <p:cNvSpPr/>
          <p:nvPr/>
        </p:nvSpPr>
        <p:spPr>
          <a:xfrm>
            <a:off x="4020617" y="4427525"/>
            <a:ext cx="279806" cy="362102"/>
          </a:xfrm>
          <a:prstGeom prst="roundRect">
            <a:avLst>
              <a:gd name="adj" fmla="val 52288"/>
            </a:avLst>
          </a:prstGeom>
          <a:solidFill>
            <a:srgbClr val="B4B4B4"/>
          </a:solidFill>
          <a:ln w="12700">
            <a:solidFill>
              <a:srgbClr val="B4B4B4"/>
            </a:solidFill>
            <a:prstDash val="solid"/>
          </a:ln>
        </p:spPr>
      </p:sp>
      <p:sp>
        <p:nvSpPr>
          <p:cNvPr id="36" name="Text 34"/>
          <p:cNvSpPr/>
          <p:nvPr/>
        </p:nvSpPr>
        <p:spPr>
          <a:xfrm>
            <a:off x="5212080" y="2743200"/>
            <a:ext cx="1828800" cy="640080"/>
          </a:xfrm>
          <a:prstGeom prst="rect">
            <a:avLst/>
          </a:prstGeom>
          <a:noFill/>
          <a:ln/>
        </p:spPr>
        <p:txBody>
          <a:bodyPr wrap="square" lIns="0" tIns="0" rIns="0" bIns="0" rtlCol="0" anchor="ctr"/>
          <a:lstStyle/>
          <a:p>
            <a:pPr algn="ctr" indent="0" marL="0">
              <a:buNone/>
            </a:pPr>
            <a:r>
              <a:rPr lang="en-US" sz="1300" b="1" dirty="0">
                <a:solidFill>
                  <a:srgbClr val="21918C"/>
                </a:solidFill>
                <a:latin typeface="Calibri" pitchFamily="34" charset="0"/>
                <a:ea typeface="Calibri" pitchFamily="34" charset="-122"/>
                <a:cs typeface="Calibri" pitchFamily="34" charset="-120"/>
              </a:rPr>
              <a:t>design-weighted</a:t>
            </a:r>
            <a:endParaRPr lang="en-US" sz="1300" dirty="0"/>
          </a:p>
          <a:p>
            <a:pPr algn="ctr" indent="0" marL="0">
              <a:buNone/>
            </a:pPr>
            <a:r>
              <a:rPr lang="en-US" sz="1300" b="1" dirty="0">
                <a:solidFill>
                  <a:srgbClr val="21918C"/>
                </a:solidFill>
                <a:latin typeface="Calibri" pitchFamily="34" charset="0"/>
                <a:ea typeface="Calibri" pitchFamily="34" charset="-122"/>
                <a:cs typeface="Calibri" pitchFamily="34" charset="-120"/>
              </a:rPr>
              <a:t>latent class model</a:t>
            </a:r>
            <a:endParaRPr lang="en-US" sz="1300" dirty="0"/>
          </a:p>
        </p:txBody>
      </p:sp>
      <p:sp>
        <p:nvSpPr>
          <p:cNvPr id="37" name="Shape 35"/>
          <p:cNvSpPr/>
          <p:nvPr/>
        </p:nvSpPr>
        <p:spPr>
          <a:xfrm>
            <a:off x="5532120" y="3474720"/>
            <a:ext cx="1188720" cy="256032"/>
          </a:xfrm>
          <a:prstGeom prst="rightArrow">
            <a:avLst/>
          </a:prstGeom>
          <a:solidFill>
            <a:srgbClr val="21918C"/>
          </a:solidFill>
          <a:ln/>
        </p:spPr>
      </p:sp>
      <p:sp>
        <p:nvSpPr>
          <p:cNvPr id="38" name="Text 36"/>
          <p:cNvSpPr/>
          <p:nvPr/>
        </p:nvSpPr>
        <p:spPr>
          <a:xfrm>
            <a:off x="5120640" y="3840480"/>
            <a:ext cx="2011680" cy="64008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weights in the likelihood</a:t>
            </a:r>
            <a:endParaRPr lang="en-US" sz="1100" dirty="0"/>
          </a:p>
          <a:p>
            <a:pPr algn="ctr" indent="0" marL="0">
              <a:buNone/>
            </a:pPr>
            <a:r>
              <a:rPr lang="en-US" sz="1100" dirty="0">
                <a:solidFill>
                  <a:srgbClr val="6B6B6B"/>
                </a:solidFill>
                <a:latin typeface="Calibri" pitchFamily="34" charset="0"/>
                <a:ea typeface="Calibri" pitchFamily="34" charset="-122"/>
                <a:cs typeface="Calibri" pitchFamily="34" charset="-120"/>
              </a:rPr>
              <a:t>strata and PSUs in the variance</a:t>
            </a:r>
            <a:endParaRPr lang="en-US" sz="1100" dirty="0"/>
          </a:p>
        </p:txBody>
      </p:sp>
      <p:sp>
        <p:nvSpPr>
          <p:cNvPr id="39" name="Shape 37"/>
          <p:cNvSpPr/>
          <p:nvPr/>
        </p:nvSpPr>
        <p:spPr>
          <a:xfrm>
            <a:off x="7269480" y="1554480"/>
            <a:ext cx="4206240" cy="3566160"/>
          </a:xfrm>
          <a:prstGeom prst="roundRect">
            <a:avLst>
              <a:gd name="adj" fmla="val 1282"/>
            </a:avLst>
          </a:prstGeom>
          <a:solidFill>
            <a:srgbClr val="FFFFFF"/>
          </a:solidFill>
          <a:ln w="12700">
            <a:solidFill>
              <a:srgbClr val="E4E4E4"/>
            </a:solidFill>
            <a:prstDash val="solid"/>
          </a:ln>
        </p:spPr>
      </p:sp>
      <p:sp>
        <p:nvSpPr>
          <p:cNvPr id="40" name="Text 38"/>
          <p:cNvSpPr/>
          <p:nvPr/>
        </p:nvSpPr>
        <p:spPr>
          <a:xfrm>
            <a:off x="754380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POPULATION</a:t>
            </a:r>
            <a:endParaRPr lang="en-US" sz="1300" dirty="0"/>
          </a:p>
        </p:txBody>
      </p:sp>
      <p:sp>
        <p:nvSpPr>
          <p:cNvPr id="41" name="Text 39"/>
          <p:cNvSpPr/>
          <p:nvPr/>
        </p:nvSpPr>
        <p:spPr>
          <a:xfrm>
            <a:off x="7543800" y="2249424"/>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1</a:t>
            </a:r>
            <a:endParaRPr lang="en-US" sz="1100" dirty="0"/>
          </a:p>
        </p:txBody>
      </p:sp>
      <p:sp>
        <p:nvSpPr>
          <p:cNvPr id="42" name="Shape 40"/>
          <p:cNvSpPr/>
          <p:nvPr/>
        </p:nvSpPr>
        <p:spPr>
          <a:xfrm>
            <a:off x="8549640" y="2304288"/>
            <a:ext cx="2231136" cy="219456"/>
          </a:xfrm>
          <a:prstGeom prst="roundRect">
            <a:avLst>
              <a:gd name="adj" fmla="val 41667"/>
            </a:avLst>
          </a:prstGeom>
          <a:solidFill>
            <a:srgbClr val="440154"/>
          </a:solidFill>
          <a:ln w="12700">
            <a:solidFill>
              <a:srgbClr val="440154"/>
            </a:solidFill>
            <a:prstDash val="solid"/>
          </a:ln>
        </p:spPr>
      </p:sp>
      <p:sp>
        <p:nvSpPr>
          <p:cNvPr id="43" name="Shape 41"/>
          <p:cNvSpPr/>
          <p:nvPr/>
        </p:nvSpPr>
        <p:spPr>
          <a:xfrm>
            <a:off x="10539374" y="2414016"/>
            <a:ext cx="482803" cy="10973"/>
          </a:xfrm>
          <a:prstGeom prst="rect">
            <a:avLst/>
          </a:prstGeom>
          <a:solidFill>
            <a:srgbClr val="8C8C8C"/>
          </a:solidFill>
          <a:ln w="12700">
            <a:solidFill>
              <a:srgbClr val="8C8C8C"/>
            </a:solidFill>
            <a:prstDash val="solid"/>
          </a:ln>
        </p:spPr>
      </p:sp>
      <p:sp>
        <p:nvSpPr>
          <p:cNvPr id="44" name="Shape 42"/>
          <p:cNvSpPr/>
          <p:nvPr/>
        </p:nvSpPr>
        <p:spPr>
          <a:xfrm>
            <a:off x="10539374" y="2340864"/>
            <a:ext cx="10973" cy="146304"/>
          </a:xfrm>
          <a:prstGeom prst="rect">
            <a:avLst/>
          </a:prstGeom>
          <a:solidFill>
            <a:srgbClr val="8C8C8C"/>
          </a:solidFill>
          <a:ln w="12700">
            <a:solidFill>
              <a:srgbClr val="8C8C8C"/>
            </a:solidFill>
            <a:prstDash val="solid"/>
          </a:ln>
        </p:spPr>
      </p:sp>
      <p:sp>
        <p:nvSpPr>
          <p:cNvPr id="45" name="Shape 43"/>
          <p:cNvSpPr/>
          <p:nvPr/>
        </p:nvSpPr>
        <p:spPr>
          <a:xfrm>
            <a:off x="11022178" y="2340864"/>
            <a:ext cx="10973" cy="146304"/>
          </a:xfrm>
          <a:prstGeom prst="rect">
            <a:avLst/>
          </a:prstGeom>
          <a:solidFill>
            <a:srgbClr val="8C8C8C"/>
          </a:solidFill>
          <a:ln w="12700">
            <a:solidFill>
              <a:srgbClr val="8C8C8C"/>
            </a:solidFill>
            <a:prstDash val="solid"/>
          </a:ln>
        </p:spPr>
      </p:sp>
      <p:sp>
        <p:nvSpPr>
          <p:cNvPr id="46" name="Text 44"/>
          <p:cNvSpPr/>
          <p:nvPr/>
        </p:nvSpPr>
        <p:spPr>
          <a:xfrm>
            <a:off x="7543800" y="2761488"/>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2</a:t>
            </a:r>
            <a:endParaRPr lang="en-US" sz="1100" dirty="0"/>
          </a:p>
        </p:txBody>
      </p:sp>
      <p:sp>
        <p:nvSpPr>
          <p:cNvPr id="47" name="Shape 45"/>
          <p:cNvSpPr/>
          <p:nvPr/>
        </p:nvSpPr>
        <p:spPr>
          <a:xfrm>
            <a:off x="8549640" y="2816352"/>
            <a:ext cx="1719072" cy="219456"/>
          </a:xfrm>
          <a:prstGeom prst="roundRect">
            <a:avLst>
              <a:gd name="adj" fmla="val 41667"/>
            </a:avLst>
          </a:prstGeom>
          <a:solidFill>
            <a:srgbClr val="3B528B"/>
          </a:solidFill>
          <a:ln w="12700">
            <a:solidFill>
              <a:srgbClr val="3B528B"/>
            </a:solidFill>
            <a:prstDash val="solid"/>
          </a:ln>
        </p:spPr>
      </p:sp>
      <p:sp>
        <p:nvSpPr>
          <p:cNvPr id="48" name="Shape 46"/>
          <p:cNvSpPr/>
          <p:nvPr/>
        </p:nvSpPr>
        <p:spPr>
          <a:xfrm>
            <a:off x="10049256" y="2926080"/>
            <a:ext cx="438912" cy="10973"/>
          </a:xfrm>
          <a:prstGeom prst="rect">
            <a:avLst/>
          </a:prstGeom>
          <a:solidFill>
            <a:srgbClr val="8C8C8C"/>
          </a:solidFill>
          <a:ln w="12700">
            <a:solidFill>
              <a:srgbClr val="8C8C8C"/>
            </a:solidFill>
            <a:prstDash val="solid"/>
          </a:ln>
        </p:spPr>
      </p:sp>
      <p:sp>
        <p:nvSpPr>
          <p:cNvPr id="49" name="Shape 47"/>
          <p:cNvSpPr/>
          <p:nvPr/>
        </p:nvSpPr>
        <p:spPr>
          <a:xfrm>
            <a:off x="10049256" y="2852928"/>
            <a:ext cx="10973" cy="146304"/>
          </a:xfrm>
          <a:prstGeom prst="rect">
            <a:avLst/>
          </a:prstGeom>
          <a:solidFill>
            <a:srgbClr val="8C8C8C"/>
          </a:solidFill>
          <a:ln w="12700">
            <a:solidFill>
              <a:srgbClr val="8C8C8C"/>
            </a:solidFill>
            <a:prstDash val="solid"/>
          </a:ln>
        </p:spPr>
      </p:sp>
      <p:sp>
        <p:nvSpPr>
          <p:cNvPr id="50" name="Shape 48"/>
          <p:cNvSpPr/>
          <p:nvPr/>
        </p:nvSpPr>
        <p:spPr>
          <a:xfrm>
            <a:off x="10488168" y="2852928"/>
            <a:ext cx="10973" cy="146304"/>
          </a:xfrm>
          <a:prstGeom prst="rect">
            <a:avLst/>
          </a:prstGeom>
          <a:solidFill>
            <a:srgbClr val="8C8C8C"/>
          </a:solidFill>
          <a:ln w="12700">
            <a:solidFill>
              <a:srgbClr val="8C8C8C"/>
            </a:solidFill>
            <a:prstDash val="solid"/>
          </a:ln>
        </p:spPr>
      </p:sp>
      <p:sp>
        <p:nvSpPr>
          <p:cNvPr id="51" name="Text 49"/>
          <p:cNvSpPr/>
          <p:nvPr/>
        </p:nvSpPr>
        <p:spPr>
          <a:xfrm>
            <a:off x="7543800" y="3273552"/>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3</a:t>
            </a:r>
            <a:endParaRPr lang="en-US" sz="1100" dirty="0"/>
          </a:p>
        </p:txBody>
      </p:sp>
      <p:sp>
        <p:nvSpPr>
          <p:cNvPr id="52" name="Shape 50"/>
          <p:cNvSpPr/>
          <p:nvPr/>
        </p:nvSpPr>
        <p:spPr>
          <a:xfrm>
            <a:off x="8549640" y="3328416"/>
            <a:ext cx="1316736" cy="219456"/>
          </a:xfrm>
          <a:prstGeom prst="roundRect">
            <a:avLst>
              <a:gd name="adj" fmla="val 41667"/>
            </a:avLst>
          </a:prstGeom>
          <a:solidFill>
            <a:srgbClr val="21918C"/>
          </a:solidFill>
          <a:ln w="12700">
            <a:solidFill>
              <a:srgbClr val="21918C"/>
            </a:solidFill>
            <a:prstDash val="solid"/>
          </a:ln>
        </p:spPr>
      </p:sp>
      <p:sp>
        <p:nvSpPr>
          <p:cNvPr id="53" name="Shape 51"/>
          <p:cNvSpPr/>
          <p:nvPr/>
        </p:nvSpPr>
        <p:spPr>
          <a:xfrm>
            <a:off x="9661550" y="3438144"/>
            <a:ext cx="409651" cy="10973"/>
          </a:xfrm>
          <a:prstGeom prst="rect">
            <a:avLst/>
          </a:prstGeom>
          <a:solidFill>
            <a:srgbClr val="8C8C8C"/>
          </a:solidFill>
          <a:ln w="12700">
            <a:solidFill>
              <a:srgbClr val="8C8C8C"/>
            </a:solidFill>
            <a:prstDash val="solid"/>
          </a:ln>
        </p:spPr>
      </p:sp>
      <p:sp>
        <p:nvSpPr>
          <p:cNvPr id="54" name="Shape 52"/>
          <p:cNvSpPr/>
          <p:nvPr/>
        </p:nvSpPr>
        <p:spPr>
          <a:xfrm>
            <a:off x="9661550" y="3364992"/>
            <a:ext cx="10973" cy="146304"/>
          </a:xfrm>
          <a:prstGeom prst="rect">
            <a:avLst/>
          </a:prstGeom>
          <a:solidFill>
            <a:srgbClr val="8C8C8C"/>
          </a:solidFill>
          <a:ln w="12700">
            <a:solidFill>
              <a:srgbClr val="8C8C8C"/>
            </a:solidFill>
            <a:prstDash val="solid"/>
          </a:ln>
        </p:spPr>
      </p:sp>
      <p:sp>
        <p:nvSpPr>
          <p:cNvPr id="55" name="Shape 53"/>
          <p:cNvSpPr/>
          <p:nvPr/>
        </p:nvSpPr>
        <p:spPr>
          <a:xfrm>
            <a:off x="10071202" y="3364992"/>
            <a:ext cx="10973" cy="146304"/>
          </a:xfrm>
          <a:prstGeom prst="rect">
            <a:avLst/>
          </a:prstGeom>
          <a:solidFill>
            <a:srgbClr val="8C8C8C"/>
          </a:solidFill>
          <a:ln w="12700">
            <a:solidFill>
              <a:srgbClr val="8C8C8C"/>
            </a:solidFill>
            <a:prstDash val="solid"/>
          </a:ln>
        </p:spPr>
      </p:sp>
      <p:sp>
        <p:nvSpPr>
          <p:cNvPr id="56" name="Text 54"/>
          <p:cNvSpPr/>
          <p:nvPr/>
        </p:nvSpPr>
        <p:spPr>
          <a:xfrm>
            <a:off x="7543800" y="3785616"/>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4</a:t>
            </a:r>
            <a:endParaRPr lang="en-US" sz="1100" dirty="0"/>
          </a:p>
        </p:txBody>
      </p:sp>
      <p:sp>
        <p:nvSpPr>
          <p:cNvPr id="57" name="Shape 55"/>
          <p:cNvSpPr/>
          <p:nvPr/>
        </p:nvSpPr>
        <p:spPr>
          <a:xfrm>
            <a:off x="8549640" y="3840480"/>
            <a:ext cx="936346" cy="219456"/>
          </a:xfrm>
          <a:prstGeom prst="roundRect">
            <a:avLst>
              <a:gd name="adj" fmla="val 41667"/>
            </a:avLst>
          </a:prstGeom>
          <a:solidFill>
            <a:srgbClr val="5EC962"/>
          </a:solidFill>
          <a:ln w="12700">
            <a:solidFill>
              <a:srgbClr val="5EC962"/>
            </a:solidFill>
            <a:prstDash val="solid"/>
          </a:ln>
        </p:spPr>
      </p:sp>
      <p:sp>
        <p:nvSpPr>
          <p:cNvPr id="58" name="Shape 56"/>
          <p:cNvSpPr/>
          <p:nvPr/>
        </p:nvSpPr>
        <p:spPr>
          <a:xfrm>
            <a:off x="9303106" y="3950208"/>
            <a:ext cx="365760" cy="10973"/>
          </a:xfrm>
          <a:prstGeom prst="rect">
            <a:avLst/>
          </a:prstGeom>
          <a:solidFill>
            <a:srgbClr val="8C8C8C"/>
          </a:solidFill>
          <a:ln w="12700">
            <a:solidFill>
              <a:srgbClr val="8C8C8C"/>
            </a:solidFill>
            <a:prstDash val="solid"/>
          </a:ln>
        </p:spPr>
      </p:sp>
      <p:sp>
        <p:nvSpPr>
          <p:cNvPr id="59" name="Shape 57"/>
          <p:cNvSpPr/>
          <p:nvPr/>
        </p:nvSpPr>
        <p:spPr>
          <a:xfrm>
            <a:off x="9303106" y="3877056"/>
            <a:ext cx="10973" cy="146304"/>
          </a:xfrm>
          <a:prstGeom prst="rect">
            <a:avLst/>
          </a:prstGeom>
          <a:solidFill>
            <a:srgbClr val="8C8C8C"/>
          </a:solidFill>
          <a:ln w="12700">
            <a:solidFill>
              <a:srgbClr val="8C8C8C"/>
            </a:solidFill>
            <a:prstDash val="solid"/>
          </a:ln>
        </p:spPr>
      </p:sp>
      <p:sp>
        <p:nvSpPr>
          <p:cNvPr id="60" name="Shape 58"/>
          <p:cNvSpPr/>
          <p:nvPr/>
        </p:nvSpPr>
        <p:spPr>
          <a:xfrm>
            <a:off x="9668866" y="3877056"/>
            <a:ext cx="10973" cy="146304"/>
          </a:xfrm>
          <a:prstGeom prst="rect">
            <a:avLst/>
          </a:prstGeom>
          <a:solidFill>
            <a:srgbClr val="8C8C8C"/>
          </a:solidFill>
          <a:ln w="12700">
            <a:solidFill>
              <a:srgbClr val="8C8C8C"/>
            </a:solidFill>
            <a:prstDash val="solid"/>
          </a:ln>
        </p:spPr>
      </p:sp>
      <p:sp>
        <p:nvSpPr>
          <p:cNvPr id="61" name="Text 59"/>
          <p:cNvSpPr/>
          <p:nvPr/>
        </p:nvSpPr>
        <p:spPr>
          <a:xfrm>
            <a:off x="7543800" y="4297680"/>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5</a:t>
            </a:r>
            <a:endParaRPr lang="en-US" sz="1100" dirty="0"/>
          </a:p>
        </p:txBody>
      </p:sp>
      <p:sp>
        <p:nvSpPr>
          <p:cNvPr id="62" name="Shape 60"/>
          <p:cNvSpPr/>
          <p:nvPr/>
        </p:nvSpPr>
        <p:spPr>
          <a:xfrm>
            <a:off x="8549640" y="4352544"/>
            <a:ext cx="599846" cy="219456"/>
          </a:xfrm>
          <a:prstGeom prst="roundRect">
            <a:avLst>
              <a:gd name="adj" fmla="val 41667"/>
            </a:avLst>
          </a:prstGeom>
          <a:solidFill>
            <a:srgbClr val="BBA800"/>
          </a:solidFill>
          <a:ln w="12700">
            <a:solidFill>
              <a:srgbClr val="BBA800"/>
            </a:solidFill>
            <a:prstDash val="solid"/>
          </a:ln>
        </p:spPr>
      </p:sp>
      <p:sp>
        <p:nvSpPr>
          <p:cNvPr id="63" name="Shape 61"/>
          <p:cNvSpPr/>
          <p:nvPr/>
        </p:nvSpPr>
        <p:spPr>
          <a:xfrm>
            <a:off x="8988552" y="4462272"/>
            <a:ext cx="321869" cy="10973"/>
          </a:xfrm>
          <a:prstGeom prst="rect">
            <a:avLst/>
          </a:prstGeom>
          <a:solidFill>
            <a:srgbClr val="8C8C8C"/>
          </a:solidFill>
          <a:ln w="12700">
            <a:solidFill>
              <a:srgbClr val="8C8C8C"/>
            </a:solidFill>
            <a:prstDash val="solid"/>
          </a:ln>
        </p:spPr>
      </p:sp>
      <p:sp>
        <p:nvSpPr>
          <p:cNvPr id="64" name="Shape 62"/>
          <p:cNvSpPr/>
          <p:nvPr/>
        </p:nvSpPr>
        <p:spPr>
          <a:xfrm>
            <a:off x="8988552" y="4389120"/>
            <a:ext cx="10973" cy="146304"/>
          </a:xfrm>
          <a:prstGeom prst="rect">
            <a:avLst/>
          </a:prstGeom>
          <a:solidFill>
            <a:srgbClr val="8C8C8C"/>
          </a:solidFill>
          <a:ln w="12700">
            <a:solidFill>
              <a:srgbClr val="8C8C8C"/>
            </a:solidFill>
            <a:prstDash val="solid"/>
          </a:ln>
        </p:spPr>
      </p:sp>
      <p:sp>
        <p:nvSpPr>
          <p:cNvPr id="65" name="Shape 63"/>
          <p:cNvSpPr/>
          <p:nvPr/>
        </p:nvSpPr>
        <p:spPr>
          <a:xfrm>
            <a:off x="9310421" y="4389120"/>
            <a:ext cx="10973" cy="146304"/>
          </a:xfrm>
          <a:prstGeom prst="rect">
            <a:avLst/>
          </a:prstGeom>
          <a:solidFill>
            <a:srgbClr val="8C8C8C"/>
          </a:solidFill>
          <a:ln w="12700">
            <a:solidFill>
              <a:srgbClr val="8C8C8C"/>
            </a:solidFill>
            <a:prstDash val="solid"/>
          </a:ln>
        </p:spPr>
      </p:sp>
      <p:sp>
        <p:nvSpPr>
          <p:cNvPr id="66" name="Text 64"/>
          <p:cNvSpPr/>
          <p:nvPr/>
        </p:nvSpPr>
        <p:spPr>
          <a:xfrm>
            <a:off x="7543800" y="4754880"/>
            <a:ext cx="38404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share of the population, with its jackknife interval</a:t>
            </a:r>
            <a:endParaRPr lang="en-US" sz="1100" dirty="0"/>
          </a:p>
        </p:txBody>
      </p:sp>
      <p:sp>
        <p:nvSpPr>
          <p:cNvPr id="67" name="Text 65"/>
          <p:cNvSpPr/>
          <p:nvPr/>
        </p:nvSpPr>
        <p:spPr>
          <a:xfrm>
            <a:off x="685800" y="548640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interval is the deliverable. </a:t>
            </a:r>
            <a:pPr indent="0" marL="0">
              <a:buNone/>
            </a:pPr>
            <a:r>
              <a:rPr lang="en-US" sz="1500" b="1" dirty="0">
                <a:solidFill>
                  <a:srgbClr val="440154"/>
                </a:solidFill>
                <a:latin typeface="Calibri" pitchFamily="34" charset="0"/>
                <a:ea typeface="Calibri" pitchFamily="34" charset="-122"/>
                <a:cs typeface="Calibri" pitchFamily="34" charset="-120"/>
              </a:rPr>
              <a:t>A partition has nowhere to get one from.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How many groups is a judgment, not an output</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AND WE SHOW OUR WORK</a:t>
            </a:r>
            <a:endParaRPr lang="en-US" sz="1000" dirty="0"/>
          </a:p>
        </p:txBody>
      </p:sp>
      <p:pic>
        <p:nvPicPr>
          <p:cNvPr id="9" name="Image 0" descr="img/p17.png">    </p:cNvPr>
          <p:cNvPicPr>
            <a:picLocks noChangeAspect="1"/>
          </p:cNvPicPr>
          <p:nvPr/>
        </p:nvPicPr>
        <p:blipFill>
          <a:blip r:embed="rId1"/>
          <a:stretch>
            <a:fillRect/>
          </a:stretch>
        </p:blipFill>
        <p:spPr>
          <a:xfrm>
            <a:off x="960120" y="1600200"/>
            <a:ext cx="10241280" cy="3090672"/>
          </a:xfrm>
          <a:prstGeom prst="rect">
            <a:avLst/>
          </a:prstGeom>
        </p:spPr>
      </p:pic>
      <p:sp>
        <p:nvSpPr>
          <p:cNvPr id="10" name="Shape 7"/>
          <p:cNvSpPr/>
          <p:nvPr/>
        </p:nvSpPr>
        <p:spPr>
          <a:xfrm>
            <a:off x="685800" y="4937760"/>
            <a:ext cx="10789920" cy="658368"/>
          </a:xfrm>
          <a:prstGeom prst="roundRect">
            <a:avLst>
              <a:gd name="adj" fmla="val 6944"/>
            </a:avLst>
          </a:prstGeom>
          <a:solidFill>
            <a:srgbClr val="E8F3F2"/>
          </a:solidFill>
          <a:ln w="12700">
            <a:solidFill>
              <a:srgbClr val="E8F3F2"/>
            </a:solidFill>
            <a:prstDash val="solid"/>
          </a:ln>
        </p:spPr>
      </p:sp>
      <p:sp>
        <p:nvSpPr>
          <p:cNvPr id="11" name="Text 8"/>
          <p:cNvSpPr/>
          <p:nvPr/>
        </p:nvSpPr>
        <p:spPr>
          <a:xfrm>
            <a:off x="960120" y="4937760"/>
            <a:ext cx="10241280" cy="658368"/>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Five and six fit almost equally well. We took five. </a:t>
            </a:r>
            <a:pPr indent="0" marL="0">
              <a:buNone/>
            </a:pPr>
            <a:r>
              <a:rPr lang="en-US" sz="1500" b="1" dirty="0">
                <a:solidFill>
                  <a:srgbClr val="440154"/>
                </a:solidFill>
                <a:latin typeface="Calibri" pitchFamily="34" charset="0"/>
                <a:ea typeface="Calibri" pitchFamily="34" charset="-122"/>
                <a:cs typeface="Calibri" pitchFamily="34" charset="-120"/>
              </a:rPr>
              <a:t>The software never picks this.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Three groups differ in level. Two differ in shape.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PAYOFF</a:t>
            </a:r>
            <a:endParaRPr lang="en-US" sz="1000" dirty="0"/>
          </a:p>
        </p:txBody>
      </p:sp>
      <p:pic>
        <p:nvPicPr>
          <p:cNvPr id="9" name="Image 0" descr="img/p18.png">    </p:cNvPr>
          <p:cNvPicPr>
            <a:picLocks noChangeAspect="1"/>
          </p:cNvPicPr>
          <p:nvPr/>
        </p:nvPicPr>
        <p:blipFill>
          <a:blip r:embed="rId1"/>
          <a:stretch>
            <a:fillRect/>
          </a:stretch>
        </p:blipFill>
        <p:spPr>
          <a:xfrm>
            <a:off x="914400" y="1554480"/>
            <a:ext cx="10332720" cy="3913632"/>
          </a:xfrm>
          <a:prstGeom prst="rect">
            <a:avLst/>
          </a:prstGeom>
        </p:spPr>
      </p:pic>
      <p:sp>
        <p:nvSpPr>
          <p:cNvPr id="10" name="Text 7"/>
          <p:cNvSpPr/>
          <p:nvPr/>
        </p:nvSpPr>
        <p:spPr>
          <a:xfrm>
            <a:off x="685800" y="55778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two that cross have the </a:t>
            </a:r>
            <a:pPr indent="0" marL="0">
              <a:buNone/>
            </a:pPr>
            <a:r>
              <a:rPr lang="en-US" sz="1500" b="1" dirty="0">
                <a:solidFill>
                  <a:srgbClr val="440154"/>
                </a:solidFill>
                <a:latin typeface="Calibri" pitchFamily="34" charset="0"/>
                <a:ea typeface="Calibri" pitchFamily="34" charset="-122"/>
                <a:cs typeface="Calibri" pitchFamily="34" charset="-120"/>
              </a:rPr>
              <a:t>same overall trust and opposite profiles</a:t>
            </a:r>
            <a:pPr indent="0" marL="0">
              <a:buNone/>
            </a:pPr>
            <a:r>
              <a:rPr lang="en-US" sz="1500" dirty="0">
                <a:solidFill>
                  <a:srgbClr val="1F1F1F"/>
                </a:solidFill>
                <a:latin typeface="Calibri" pitchFamily="34" charset="0"/>
                <a:ea typeface="Calibri" pitchFamily="34" charset="-122"/>
                <a:cs typeface="Calibri" pitchFamily="34" charset="-120"/>
              </a:rPr>
              <a:t>. That is what a factor model cannot hold.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How big each group is, and how sure we are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DELIVERABLE</a:t>
            </a:r>
            <a:endParaRPr lang="en-US" sz="1000" dirty="0"/>
          </a:p>
        </p:txBody>
      </p:sp>
      <p:pic>
        <p:nvPicPr>
          <p:cNvPr id="9" name="Image 0" descr="img/p19.png">    </p:cNvPr>
          <p:cNvPicPr>
            <a:picLocks noChangeAspect="1"/>
          </p:cNvPicPr>
          <p:nvPr/>
        </p:nvPicPr>
        <p:blipFill>
          <a:blip r:embed="rId1"/>
          <a:stretch>
            <a:fillRect/>
          </a:stretch>
        </p:blipFill>
        <p:spPr>
          <a:xfrm>
            <a:off x="960120" y="1600200"/>
            <a:ext cx="10241280" cy="2971800"/>
          </a:xfrm>
          <a:prstGeom prst="rect">
            <a:avLst/>
          </a:prstGeom>
        </p:spPr>
      </p:pic>
      <p:sp>
        <p:nvSpPr>
          <p:cNvPr id="10" name="Shape 7"/>
          <p:cNvSpPr/>
          <p:nvPr/>
        </p:nvSpPr>
        <p:spPr>
          <a:xfrm>
            <a:off x="685800" y="4800600"/>
            <a:ext cx="10789920" cy="777240"/>
          </a:xfrm>
          <a:prstGeom prst="roundRect">
            <a:avLst>
              <a:gd name="adj" fmla="val 5882"/>
            </a:avLst>
          </a:prstGeom>
          <a:solidFill>
            <a:srgbClr val="E8F3F2"/>
          </a:solidFill>
          <a:ln w="12700">
            <a:solidFill>
              <a:srgbClr val="E8F3F2"/>
            </a:solidFill>
            <a:prstDash val="solid"/>
          </a:ln>
        </p:spPr>
      </p:sp>
      <p:sp>
        <p:nvSpPr>
          <p:cNvPr id="11" name="Text 8"/>
          <p:cNvSpPr/>
          <p:nvPr/>
        </p:nvSpPr>
        <p:spPr>
          <a:xfrm>
            <a:off x="960120" y="4800600"/>
            <a:ext cx="10241280" cy="77724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Filled points use the design. Open diamonds are what an unweighted analysis reports. Here they nearly agree, and that is worth saying out loud. </a:t>
            </a:r>
            <a:pPr indent="0" marL="0">
              <a:buNone/>
            </a:pPr>
            <a:r>
              <a:rPr lang="en-US" sz="1400" b="1" dirty="0">
                <a:solidFill>
                  <a:srgbClr val="440154"/>
                </a:solidFill>
                <a:latin typeface="Calibri" pitchFamily="34" charset="0"/>
                <a:ea typeface="Calibri" pitchFamily="34" charset="-122"/>
                <a:cs typeface="Calibri" pitchFamily="34" charset="-120"/>
              </a:rPr>
              <a:t>Without the intervals, a three point gap looks like a finding.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Who is in each group</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PROFILING, CORRECTED</a:t>
            </a:r>
            <a:endParaRPr lang="en-US" sz="1000" dirty="0"/>
          </a:p>
        </p:txBody>
      </p:sp>
      <p:pic>
        <p:nvPicPr>
          <p:cNvPr id="9" name="Image 0" descr="img/p20.png">    </p:cNvPr>
          <p:cNvPicPr>
            <a:picLocks noChangeAspect="1"/>
          </p:cNvPicPr>
          <p:nvPr/>
        </p:nvPicPr>
        <p:blipFill>
          <a:blip r:embed="rId1"/>
          <a:stretch>
            <a:fillRect/>
          </a:stretch>
        </p:blipFill>
        <p:spPr>
          <a:xfrm>
            <a:off x="960120" y="1600200"/>
            <a:ext cx="10241280" cy="3502152"/>
          </a:xfrm>
          <a:prstGeom prst="rect">
            <a:avLst/>
          </a:prstGeom>
        </p:spPr>
      </p:pic>
      <p:sp>
        <p:nvSpPr>
          <p:cNvPr id="10" name="Text 7"/>
          <p:cNvSpPr/>
          <p:nvPr/>
        </p:nvSpPr>
        <p:spPr>
          <a:xfrm>
            <a:off x="685800" y="539496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Corrected for classification error, so the contrasts are not diluted by people sitting in the wrong group.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Where the line sits on AI assistance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 RULE, NOT A ONE-OFF</a:t>
            </a:r>
            <a:endParaRPr lang="en-US" sz="1000" dirty="0"/>
          </a:p>
        </p:txBody>
      </p:sp>
      <p:sp>
        <p:nvSpPr>
          <p:cNvPr id="9" name="Shape 7"/>
          <p:cNvSpPr/>
          <p:nvPr/>
        </p:nvSpPr>
        <p:spPr>
          <a:xfrm>
            <a:off x="685800" y="1600200"/>
            <a:ext cx="5212080" cy="2651760"/>
          </a:xfrm>
          <a:prstGeom prst="roundRect">
            <a:avLst>
              <a:gd name="adj" fmla="val 1724"/>
            </a:avLst>
          </a:prstGeom>
          <a:solidFill>
            <a:srgbClr val="E9F7EC"/>
          </a:solidFill>
          <a:ln w="12700">
            <a:solidFill>
              <a:srgbClr val="E9F7EC"/>
            </a:solidFill>
            <a:prstDash val="solid"/>
          </a:ln>
        </p:spPr>
      </p:sp>
      <p:sp>
        <p:nvSpPr>
          <p:cNvPr id="10" name="Text 8"/>
          <p:cNvSpPr/>
          <p:nvPr/>
        </p:nvSpPr>
        <p:spPr>
          <a:xfrm>
            <a:off x="1005840" y="182880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A model may draft</a:t>
            </a:r>
            <a:endParaRPr lang="en-US" sz="1700" dirty="0"/>
          </a:p>
        </p:txBody>
      </p:sp>
      <p:sp>
        <p:nvSpPr>
          <p:cNvPr id="11" name="Shape 9"/>
          <p:cNvSpPr/>
          <p:nvPr/>
        </p:nvSpPr>
        <p:spPr>
          <a:xfrm>
            <a:off x="1051560" y="2377440"/>
            <a:ext cx="182880" cy="182880"/>
          </a:xfrm>
          <a:prstGeom prst="ellipse">
            <a:avLst/>
          </a:prstGeom>
          <a:solidFill>
            <a:srgbClr val="5EC962"/>
          </a:solidFill>
          <a:ln/>
        </p:spPr>
      </p:sp>
      <p:sp>
        <p:nvSpPr>
          <p:cNvPr id="12" name="Text 10"/>
          <p:cNvSpPr/>
          <p:nvPr/>
        </p:nvSpPr>
        <p:spPr>
          <a:xfrm>
            <a:off x="1399032" y="228600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A candidate name for each group</a:t>
            </a:r>
            <a:endParaRPr lang="en-US" sz="1400" dirty="0"/>
          </a:p>
        </p:txBody>
      </p:sp>
      <p:sp>
        <p:nvSpPr>
          <p:cNvPr id="13" name="Shape 11"/>
          <p:cNvSpPr/>
          <p:nvPr/>
        </p:nvSpPr>
        <p:spPr>
          <a:xfrm>
            <a:off x="1051560" y="2926080"/>
            <a:ext cx="182880" cy="182880"/>
          </a:xfrm>
          <a:prstGeom prst="ellipse">
            <a:avLst/>
          </a:prstGeom>
          <a:solidFill>
            <a:srgbClr val="5EC962"/>
          </a:solidFill>
          <a:ln/>
        </p:spPr>
      </p:sp>
      <p:sp>
        <p:nvSpPr>
          <p:cNvPr id="14" name="Text 12"/>
          <p:cNvSpPr/>
          <p:nvPr/>
        </p:nvSpPr>
        <p:spPr>
          <a:xfrm>
            <a:off x="1399032" y="283464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From the estimated numbers only</a:t>
            </a:r>
            <a:endParaRPr lang="en-US" sz="1400" dirty="0"/>
          </a:p>
        </p:txBody>
      </p:sp>
      <p:sp>
        <p:nvSpPr>
          <p:cNvPr id="15" name="Shape 13"/>
          <p:cNvSpPr/>
          <p:nvPr/>
        </p:nvSpPr>
        <p:spPr>
          <a:xfrm>
            <a:off x="1051560" y="3474720"/>
            <a:ext cx="182880" cy="182880"/>
          </a:xfrm>
          <a:prstGeom prst="ellipse">
            <a:avLst/>
          </a:prstGeom>
          <a:solidFill>
            <a:srgbClr val="5EC962"/>
          </a:solidFill>
          <a:ln/>
        </p:spPr>
      </p:sp>
      <p:sp>
        <p:nvSpPr>
          <p:cNvPr id="16" name="Text 14"/>
          <p:cNvSpPr/>
          <p:nvPr/>
        </p:nvSpPr>
        <p:spPr>
          <a:xfrm>
            <a:off x="1399032" y="338328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Into a file the analyst owns and edits</a:t>
            </a:r>
            <a:endParaRPr lang="en-US" sz="1400" dirty="0"/>
          </a:p>
        </p:txBody>
      </p:sp>
      <p:sp>
        <p:nvSpPr>
          <p:cNvPr id="17" name="Shape 15"/>
          <p:cNvSpPr/>
          <p:nvPr/>
        </p:nvSpPr>
        <p:spPr>
          <a:xfrm>
            <a:off x="6537960" y="1600200"/>
            <a:ext cx="4937760" cy="2651760"/>
          </a:xfrm>
          <a:prstGeom prst="roundRect">
            <a:avLst>
              <a:gd name="adj" fmla="val 1724"/>
            </a:avLst>
          </a:prstGeom>
          <a:solidFill>
            <a:srgbClr val="F1EBF4"/>
          </a:solidFill>
          <a:ln w="12700">
            <a:solidFill>
              <a:srgbClr val="F1EBF4"/>
            </a:solidFill>
            <a:prstDash val="solid"/>
          </a:ln>
        </p:spPr>
      </p:sp>
      <p:sp>
        <p:nvSpPr>
          <p:cNvPr id="18" name="Text 16"/>
          <p:cNvSpPr/>
          <p:nvPr/>
        </p:nvSpPr>
        <p:spPr>
          <a:xfrm>
            <a:off x="6858000" y="182880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It never decides</a:t>
            </a:r>
            <a:endParaRPr lang="en-US" sz="1700" dirty="0"/>
          </a:p>
        </p:txBody>
      </p:sp>
      <p:sp>
        <p:nvSpPr>
          <p:cNvPr id="19" name="Shape 17"/>
          <p:cNvSpPr/>
          <p:nvPr/>
        </p:nvSpPr>
        <p:spPr>
          <a:xfrm>
            <a:off x="6903720" y="2377440"/>
            <a:ext cx="182880" cy="182880"/>
          </a:xfrm>
          <a:prstGeom prst="ellipse">
            <a:avLst/>
          </a:prstGeom>
          <a:solidFill>
            <a:srgbClr val="440154"/>
          </a:solidFill>
          <a:ln/>
        </p:spPr>
      </p:sp>
      <p:sp>
        <p:nvSpPr>
          <p:cNvPr id="20" name="Text 18"/>
          <p:cNvSpPr/>
          <p:nvPr/>
        </p:nvSpPr>
        <p:spPr>
          <a:xfrm>
            <a:off x="7251192" y="228600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How many groups there are</a:t>
            </a:r>
            <a:endParaRPr lang="en-US" sz="1400" dirty="0"/>
          </a:p>
        </p:txBody>
      </p:sp>
      <p:sp>
        <p:nvSpPr>
          <p:cNvPr id="21" name="Shape 19"/>
          <p:cNvSpPr/>
          <p:nvPr/>
        </p:nvSpPr>
        <p:spPr>
          <a:xfrm>
            <a:off x="6903720" y="2926080"/>
            <a:ext cx="182880" cy="182880"/>
          </a:xfrm>
          <a:prstGeom prst="ellipse">
            <a:avLst/>
          </a:prstGeom>
          <a:solidFill>
            <a:srgbClr val="440154"/>
          </a:solidFill>
          <a:ln/>
        </p:spPr>
      </p:sp>
      <p:sp>
        <p:nvSpPr>
          <p:cNvPr id="22" name="Text 20"/>
          <p:cNvSpPr/>
          <p:nvPr/>
        </p:nvSpPr>
        <p:spPr>
          <a:xfrm>
            <a:off x="7251192" y="283464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Which items to keep or drop</a:t>
            </a:r>
            <a:endParaRPr lang="en-US" sz="1400" dirty="0"/>
          </a:p>
        </p:txBody>
      </p:sp>
      <p:sp>
        <p:nvSpPr>
          <p:cNvPr id="23" name="Shape 21"/>
          <p:cNvSpPr/>
          <p:nvPr/>
        </p:nvSpPr>
        <p:spPr>
          <a:xfrm>
            <a:off x="6903720" y="3474720"/>
            <a:ext cx="182880" cy="182880"/>
          </a:xfrm>
          <a:prstGeom prst="ellipse">
            <a:avLst/>
          </a:prstGeom>
          <a:solidFill>
            <a:srgbClr val="440154"/>
          </a:solidFill>
          <a:ln/>
        </p:spPr>
      </p:sp>
      <p:sp>
        <p:nvSpPr>
          <p:cNvPr id="24" name="Text 22"/>
          <p:cNvSpPr/>
          <p:nvPr/>
        </p:nvSpPr>
        <p:spPr>
          <a:xfrm>
            <a:off x="7251192" y="338328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Anything that appears as a finding</a:t>
            </a:r>
            <a:endParaRPr lang="en-US" sz="1400" dirty="0"/>
          </a:p>
        </p:txBody>
      </p:sp>
      <p:sp>
        <p:nvSpPr>
          <p:cNvPr id="25" name="Shape 23"/>
          <p:cNvSpPr/>
          <p:nvPr/>
        </p:nvSpPr>
        <p:spPr>
          <a:xfrm>
            <a:off x="685800" y="4526280"/>
            <a:ext cx="10789920" cy="960120"/>
          </a:xfrm>
          <a:prstGeom prst="roundRect">
            <a:avLst>
              <a:gd name="adj" fmla="val 4762"/>
            </a:avLst>
          </a:prstGeom>
          <a:solidFill>
            <a:srgbClr val="E8F3F2"/>
          </a:solidFill>
          <a:ln w="12700">
            <a:solidFill>
              <a:srgbClr val="E8F3F2"/>
            </a:solidFill>
            <a:prstDash val="solid"/>
          </a:ln>
        </p:spPr>
      </p:sp>
      <p:sp>
        <p:nvSpPr>
          <p:cNvPr id="26" name="Text 24"/>
          <p:cNvSpPr/>
          <p:nvPr/>
        </p:nvSpPr>
        <p:spPr>
          <a:xfrm>
            <a:off x="685800" y="4526280"/>
            <a:ext cx="10789920" cy="960120"/>
          </a:xfrm>
          <a:prstGeom prst="rect">
            <a:avLst/>
          </a:prstGeom>
          <a:noFill/>
          <a:ln/>
        </p:spPr>
        <p:txBody>
          <a:bodyPr wrap="square" lIns="0" tIns="0" rIns="0" bIns="0" rtlCol="0" anchor="ctr"/>
          <a:lstStyle/>
          <a:p>
            <a:pPr algn="ctr" indent="0" marL="0">
              <a:buNone/>
            </a:pPr>
            <a:r>
              <a:rPr lang="en-US" sz="1900" b="1" dirty="0">
                <a:solidFill>
                  <a:srgbClr val="440154"/>
                </a:solidFill>
                <a:latin typeface="Cambria" pitchFamily="34" charset="0"/>
                <a:ea typeface="Cambria" pitchFamily="34" charset="-122"/>
                <a:cs typeface="Cambria" pitchFamily="34" charset="-120"/>
              </a:rPr>
              <a:t>A model may draft configuration. Never a decision, never a claim about results.</a:t>
            </a:r>
            <a:endParaRPr lang="en-US" sz="1900" dirty="0"/>
          </a:p>
        </p:txBody>
      </p:sp>
      <p:sp>
        <p:nvSpPr>
          <p:cNvPr id="27" name="Text 25"/>
          <p:cNvSpPr/>
          <p:nvPr/>
        </p:nvSpPr>
        <p:spPr>
          <a:xfrm>
            <a:off x="685800" y="56692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Nothing in this briefing rests on anything a language model wrote.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What I would bring to our work</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OFFER</a:t>
            </a:r>
            <a:endParaRPr lang="en-US" sz="1000" dirty="0"/>
          </a:p>
        </p:txBody>
      </p:sp>
      <p:sp>
        <p:nvSpPr>
          <p:cNvPr id="9" name="Shape 7"/>
          <p:cNvSpPr/>
          <p:nvPr/>
        </p:nvSpPr>
        <p:spPr>
          <a:xfrm>
            <a:off x="685800" y="1645920"/>
            <a:ext cx="3368040" cy="2011680"/>
          </a:xfrm>
          <a:prstGeom prst="roundRect">
            <a:avLst>
              <a:gd name="adj" fmla="val 2273"/>
            </a:avLst>
          </a:prstGeom>
          <a:solidFill>
            <a:srgbClr val="F7F7F7"/>
          </a:solidFill>
          <a:ln w="12700">
            <a:solidFill>
              <a:srgbClr val="E4E4E4"/>
            </a:solidFill>
            <a:prstDash val="solid"/>
          </a:ln>
        </p:spPr>
      </p:sp>
      <p:sp>
        <p:nvSpPr>
          <p:cNvPr id="10" name="Shape 8"/>
          <p:cNvSpPr/>
          <p:nvPr/>
        </p:nvSpPr>
        <p:spPr>
          <a:xfrm>
            <a:off x="960120" y="1874520"/>
            <a:ext cx="365760" cy="365760"/>
          </a:xfrm>
          <a:prstGeom prst="ellipse">
            <a:avLst/>
          </a:prstGeom>
          <a:solidFill>
            <a:srgbClr val="21918C"/>
          </a:solidFill>
          <a:ln/>
        </p:spPr>
      </p:sp>
      <p:sp>
        <p:nvSpPr>
          <p:cNvPr id="11" name="Text 9"/>
          <p:cNvSpPr/>
          <p:nvPr/>
        </p:nvSpPr>
        <p:spPr>
          <a:xfrm>
            <a:off x="960120" y="23774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Segmentation</a:t>
            </a:r>
            <a:endParaRPr lang="en-US" sz="1600" dirty="0"/>
          </a:p>
        </p:txBody>
      </p:sp>
      <p:sp>
        <p:nvSpPr>
          <p:cNvPr id="12" name="Text 10"/>
          <p:cNvSpPr/>
          <p:nvPr/>
        </p:nvSpPr>
        <p:spPr>
          <a:xfrm>
            <a:off x="960120" y="2743200"/>
            <a:ext cx="2819400" cy="77724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of any categorical battery, with population estimates and design-based intervals</a:t>
            </a:r>
            <a:endParaRPr lang="en-US" sz="1300" dirty="0"/>
          </a:p>
        </p:txBody>
      </p:sp>
      <p:sp>
        <p:nvSpPr>
          <p:cNvPr id="13" name="Shape 11"/>
          <p:cNvSpPr/>
          <p:nvPr/>
        </p:nvSpPr>
        <p:spPr>
          <a:xfrm>
            <a:off x="4328160" y="1645920"/>
            <a:ext cx="3368040" cy="2011680"/>
          </a:xfrm>
          <a:prstGeom prst="roundRect">
            <a:avLst>
              <a:gd name="adj" fmla="val 2273"/>
            </a:avLst>
          </a:prstGeom>
          <a:solidFill>
            <a:srgbClr val="F7F7F7"/>
          </a:solidFill>
          <a:ln w="12700">
            <a:solidFill>
              <a:srgbClr val="E4E4E4"/>
            </a:solidFill>
            <a:prstDash val="solid"/>
          </a:ln>
        </p:spPr>
      </p:sp>
      <p:sp>
        <p:nvSpPr>
          <p:cNvPr id="14" name="Shape 12"/>
          <p:cNvSpPr/>
          <p:nvPr/>
        </p:nvSpPr>
        <p:spPr>
          <a:xfrm>
            <a:off x="4602480" y="1874520"/>
            <a:ext cx="365760" cy="365760"/>
          </a:xfrm>
          <a:prstGeom prst="ellipse">
            <a:avLst/>
          </a:prstGeom>
          <a:solidFill>
            <a:srgbClr val="21918C"/>
          </a:solidFill>
          <a:ln/>
        </p:spPr>
      </p:sp>
      <p:sp>
        <p:nvSpPr>
          <p:cNvPr id="15" name="Text 13"/>
          <p:cNvSpPr/>
          <p:nvPr/>
        </p:nvSpPr>
        <p:spPr>
          <a:xfrm>
            <a:off x="4602480" y="23774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Inference review</a:t>
            </a:r>
            <a:endParaRPr lang="en-US" sz="1600" dirty="0"/>
          </a:p>
        </p:txBody>
      </p:sp>
      <p:sp>
        <p:nvSpPr>
          <p:cNvPr id="16" name="Text 14"/>
          <p:cNvSpPr/>
          <p:nvPr/>
        </p:nvSpPr>
        <p:spPr>
          <a:xfrm>
            <a:off x="4602480" y="2743200"/>
            <a:ext cx="2819400" cy="77724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on analyses we already publish</a:t>
            </a:r>
            <a:endParaRPr lang="en-US" sz="1300" dirty="0"/>
          </a:p>
        </p:txBody>
      </p:sp>
      <p:sp>
        <p:nvSpPr>
          <p:cNvPr id="17" name="Shape 15"/>
          <p:cNvSpPr/>
          <p:nvPr/>
        </p:nvSpPr>
        <p:spPr>
          <a:xfrm>
            <a:off x="7970520" y="1645920"/>
            <a:ext cx="3368040" cy="2011680"/>
          </a:xfrm>
          <a:prstGeom prst="roundRect">
            <a:avLst>
              <a:gd name="adj" fmla="val 2273"/>
            </a:avLst>
          </a:prstGeom>
          <a:solidFill>
            <a:srgbClr val="F7F7F7"/>
          </a:solidFill>
          <a:ln w="12700">
            <a:solidFill>
              <a:srgbClr val="E4E4E4"/>
            </a:solidFill>
            <a:prstDash val="solid"/>
          </a:ln>
        </p:spPr>
      </p:sp>
      <p:sp>
        <p:nvSpPr>
          <p:cNvPr id="18" name="Shape 16"/>
          <p:cNvSpPr/>
          <p:nvPr/>
        </p:nvSpPr>
        <p:spPr>
          <a:xfrm>
            <a:off x="8244840" y="1874520"/>
            <a:ext cx="365760" cy="365760"/>
          </a:xfrm>
          <a:prstGeom prst="ellipse">
            <a:avLst/>
          </a:prstGeom>
          <a:solidFill>
            <a:srgbClr val="21918C"/>
          </a:solidFill>
          <a:ln/>
        </p:spPr>
      </p:sp>
      <p:sp>
        <p:nvSpPr>
          <p:cNvPr id="19" name="Text 17"/>
          <p:cNvSpPr/>
          <p:nvPr/>
        </p:nvSpPr>
        <p:spPr>
          <a:xfrm>
            <a:off x="8244840" y="2377440"/>
            <a:ext cx="28194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Reproducible pipelines</a:t>
            </a:r>
            <a:endParaRPr lang="en-US" sz="1600" dirty="0"/>
          </a:p>
        </p:txBody>
      </p:sp>
      <p:sp>
        <p:nvSpPr>
          <p:cNvPr id="20" name="Text 18"/>
          <p:cNvSpPr/>
          <p:nvPr/>
        </p:nvSpPr>
        <p:spPr>
          <a:xfrm>
            <a:off x="8244840" y="2743200"/>
            <a:ext cx="2819400" cy="77724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that render from source and can be audited a year later</a:t>
            </a:r>
            <a:endParaRPr lang="en-US" sz="1300" dirty="0"/>
          </a:p>
        </p:txBody>
      </p:sp>
      <p:sp>
        <p:nvSpPr>
          <p:cNvPr id="21" name="Shape 19"/>
          <p:cNvSpPr/>
          <p:nvPr/>
        </p:nvSpPr>
        <p:spPr>
          <a:xfrm>
            <a:off x="685800" y="3977640"/>
            <a:ext cx="10789920" cy="1508760"/>
          </a:xfrm>
          <a:prstGeom prst="roundRect">
            <a:avLst>
              <a:gd name="adj" fmla="val 3030"/>
            </a:avLst>
          </a:prstGeom>
          <a:solidFill>
            <a:srgbClr val="E8F3F2"/>
          </a:solidFill>
          <a:ln w="12700">
            <a:solidFill>
              <a:srgbClr val="E8F3F2"/>
            </a:solidFill>
            <a:prstDash val="solid"/>
          </a:ln>
        </p:spPr>
      </p:sp>
      <p:sp>
        <p:nvSpPr>
          <p:cNvPr id="22" name="Text 20"/>
          <p:cNvSpPr/>
          <p:nvPr/>
        </p:nvSpPr>
        <p:spPr>
          <a:xfrm>
            <a:off x="1143000" y="3977640"/>
            <a:ext cx="9875520" cy="1508760"/>
          </a:xfrm>
          <a:prstGeom prst="rect">
            <a:avLst/>
          </a:prstGeom>
          <a:noFill/>
          <a:ln/>
        </p:spPr>
        <p:txBody>
          <a:bodyPr wrap="square" lIns="0" tIns="0" rIns="0" bIns="0" rtlCol="0" anchor="ctr"/>
          <a:lstStyle/>
          <a:p>
            <a:pPr algn="ctr" indent="0" marL="0">
              <a:lnSpc>
                <a:spcPct val="125000"/>
              </a:lnSpc>
              <a:buNone/>
            </a:pPr>
            <a:r>
              <a:rPr lang="en-US" sz="1700" dirty="0">
                <a:solidFill>
                  <a:srgbClr val="1F1F1F"/>
                </a:solidFill>
                <a:latin typeface="Calibri" pitchFamily="34" charset="0"/>
                <a:ea typeface="Calibri" pitchFamily="34" charset="-122"/>
                <a:cs typeface="Calibri" pitchFamily="34" charset="-120"/>
              </a:rPr>
              <a:t>Bring me a battery of categorical items and its design variables.
</a:t>
            </a:r>
            <a:pPr algn="ctr" indent="0" marL="0">
              <a:lnSpc>
                <a:spcPct val="125000"/>
              </a:lnSpc>
              <a:buNone/>
            </a:pPr>
            <a:r>
              <a:rPr lang="en-US" sz="1700" b="1" dirty="0">
                <a:solidFill>
                  <a:srgbClr val="440154"/>
                </a:solidFill>
                <a:latin typeface="Calibri" pitchFamily="34" charset="0"/>
                <a:ea typeface="Calibri" pitchFamily="34" charset="-122"/>
                <a:cs typeface="Calibri" pitchFamily="34" charset="-120"/>
              </a:rPr>
              <a:t>I will tell you how many groups are really in there, how big they are in the population, and how sure we are.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Total Survey Error</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FRAMEWORK THIS SITS IN</a:t>
            </a:r>
            <a:endParaRPr lang="en-US" sz="1000" dirty="0"/>
          </a:p>
        </p:txBody>
      </p:sp>
      <p:pic>
        <p:nvPicPr>
          <p:cNvPr id="9" name="Image 0" descr="img/p4.png">    </p:cNvPr>
          <p:cNvPicPr>
            <a:picLocks noChangeAspect="1"/>
          </p:cNvPicPr>
          <p:nvPr/>
        </p:nvPicPr>
        <p:blipFill>
          <a:blip r:embed="rId1"/>
          <a:stretch>
            <a:fillRect/>
          </a:stretch>
        </p:blipFill>
        <p:spPr>
          <a:xfrm>
            <a:off x="2194560" y="1554480"/>
            <a:ext cx="7772400" cy="3429000"/>
          </a:xfrm>
          <a:prstGeom prst="rect">
            <a:avLst/>
          </a:prstGeom>
        </p:spPr>
      </p:pic>
      <p:sp>
        <p:nvSpPr>
          <p:cNvPr id="10" name="Text 7"/>
          <p:cNvSpPr/>
          <p:nvPr/>
        </p:nvSpPr>
        <p:spPr>
          <a:xfrm>
            <a:off x="685800" y="52120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This project touches validity, measurement error, processing error, sampling error, and adjustment error.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method, in four moves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HOW IT WORKS</a:t>
            </a:r>
            <a:endParaRPr lang="en-US" sz="1000" dirty="0"/>
          </a:p>
        </p:txBody>
      </p:sp>
      <p:sp>
        <p:nvSpPr>
          <p:cNvPr id="9" name="Shape 7"/>
          <p:cNvSpPr/>
          <p:nvPr/>
        </p:nvSpPr>
        <p:spPr>
          <a:xfrm>
            <a:off x="685800" y="1600200"/>
            <a:ext cx="5212080" cy="1554480"/>
          </a:xfrm>
          <a:prstGeom prst="roundRect">
            <a:avLst>
              <a:gd name="adj" fmla="val 2941"/>
            </a:avLst>
          </a:prstGeom>
          <a:solidFill>
            <a:srgbClr val="F7F7F7"/>
          </a:solidFill>
          <a:ln w="12700">
            <a:solidFill>
              <a:srgbClr val="E4E4E4"/>
            </a:solidFill>
            <a:prstDash val="solid"/>
          </a:ln>
        </p:spPr>
      </p:sp>
      <p:sp>
        <p:nvSpPr>
          <p:cNvPr id="10" name="Shape 8"/>
          <p:cNvSpPr/>
          <p:nvPr/>
        </p:nvSpPr>
        <p:spPr>
          <a:xfrm>
            <a:off x="960120" y="1856232"/>
            <a:ext cx="310896" cy="310896"/>
          </a:xfrm>
          <a:prstGeom prst="ellipse">
            <a:avLst/>
          </a:prstGeom>
          <a:solidFill>
            <a:srgbClr val="21918C"/>
          </a:solidFill>
          <a:ln/>
        </p:spPr>
      </p:sp>
      <p:sp>
        <p:nvSpPr>
          <p:cNvPr id="11" name="Text 9"/>
          <p:cNvSpPr/>
          <p:nvPr/>
        </p:nvSpPr>
        <p:spPr>
          <a:xfrm>
            <a:off x="139903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1. Weight the likelihood</a:t>
            </a:r>
            <a:endParaRPr lang="en-US" sz="1500" dirty="0"/>
          </a:p>
        </p:txBody>
      </p:sp>
      <p:sp>
        <p:nvSpPr>
          <p:cNvPr id="12" name="Text 10"/>
          <p:cNvSpPr/>
          <p:nvPr/>
        </p:nvSpPr>
        <p:spPr>
          <a:xfrm>
            <a:off x="96012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Every respondent contributes in proportion to the population they represent.</a:t>
            </a:r>
            <a:endParaRPr lang="en-US" sz="1300" dirty="0"/>
          </a:p>
        </p:txBody>
      </p:sp>
      <p:sp>
        <p:nvSpPr>
          <p:cNvPr id="13" name="Shape 11"/>
          <p:cNvSpPr/>
          <p:nvPr/>
        </p:nvSpPr>
        <p:spPr>
          <a:xfrm>
            <a:off x="6263640" y="1600200"/>
            <a:ext cx="5212080" cy="1554480"/>
          </a:xfrm>
          <a:prstGeom prst="roundRect">
            <a:avLst>
              <a:gd name="adj" fmla="val 2941"/>
            </a:avLst>
          </a:prstGeom>
          <a:solidFill>
            <a:srgbClr val="F7F7F7"/>
          </a:solidFill>
          <a:ln w="12700">
            <a:solidFill>
              <a:srgbClr val="E4E4E4"/>
            </a:solidFill>
            <a:prstDash val="solid"/>
          </a:ln>
        </p:spPr>
      </p:sp>
      <p:sp>
        <p:nvSpPr>
          <p:cNvPr id="14" name="Shape 12"/>
          <p:cNvSpPr/>
          <p:nvPr/>
        </p:nvSpPr>
        <p:spPr>
          <a:xfrm>
            <a:off x="6537960" y="1856232"/>
            <a:ext cx="310896" cy="310896"/>
          </a:xfrm>
          <a:prstGeom prst="ellipse">
            <a:avLst/>
          </a:prstGeom>
          <a:solidFill>
            <a:srgbClr val="3B528B"/>
          </a:solidFill>
          <a:ln/>
        </p:spPr>
      </p:sp>
      <p:sp>
        <p:nvSpPr>
          <p:cNvPr id="15" name="Text 13"/>
          <p:cNvSpPr/>
          <p:nvPr/>
        </p:nvSpPr>
        <p:spPr>
          <a:xfrm>
            <a:off x="697687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2. Calibrate the criteria</a:t>
            </a:r>
            <a:endParaRPr lang="en-US" sz="1500" dirty="0"/>
          </a:p>
        </p:txBody>
      </p:sp>
      <p:sp>
        <p:nvSpPr>
          <p:cNvPr id="16" name="Text 14"/>
          <p:cNvSpPr/>
          <p:nvPr/>
        </p:nvSpPr>
        <p:spPr>
          <a:xfrm>
            <a:off x="653796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Base weights do not sum to n, so fit statistics are rescaled before comparison to a sample-size penalty.</a:t>
            </a:r>
            <a:endParaRPr lang="en-US" sz="1300" dirty="0"/>
          </a:p>
        </p:txBody>
      </p:sp>
      <p:sp>
        <p:nvSpPr>
          <p:cNvPr id="17" name="Shape 15"/>
          <p:cNvSpPr/>
          <p:nvPr/>
        </p:nvSpPr>
        <p:spPr>
          <a:xfrm>
            <a:off x="685800" y="3383280"/>
            <a:ext cx="5212080" cy="1554480"/>
          </a:xfrm>
          <a:prstGeom prst="roundRect">
            <a:avLst>
              <a:gd name="adj" fmla="val 2941"/>
            </a:avLst>
          </a:prstGeom>
          <a:solidFill>
            <a:srgbClr val="F7F7F7"/>
          </a:solidFill>
          <a:ln w="12700">
            <a:solidFill>
              <a:srgbClr val="E4E4E4"/>
            </a:solidFill>
            <a:prstDash val="solid"/>
          </a:ln>
        </p:spPr>
      </p:sp>
      <p:sp>
        <p:nvSpPr>
          <p:cNvPr id="18" name="Shape 16"/>
          <p:cNvSpPr/>
          <p:nvPr/>
        </p:nvSpPr>
        <p:spPr>
          <a:xfrm>
            <a:off x="960120" y="3639312"/>
            <a:ext cx="310896" cy="310896"/>
          </a:xfrm>
          <a:prstGeom prst="ellipse">
            <a:avLst/>
          </a:prstGeom>
          <a:solidFill>
            <a:srgbClr val="440154"/>
          </a:solidFill>
          <a:ln/>
        </p:spPr>
      </p:sp>
      <p:sp>
        <p:nvSpPr>
          <p:cNvPr id="19" name="Text 17"/>
          <p:cNvSpPr/>
          <p:nvPr/>
        </p:nvSpPr>
        <p:spPr>
          <a:xfrm>
            <a:off x="139903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3. Replicate the variance</a:t>
            </a:r>
            <a:endParaRPr lang="en-US" sz="1500" dirty="0"/>
          </a:p>
        </p:txBody>
      </p:sp>
      <p:sp>
        <p:nvSpPr>
          <p:cNvPr id="20" name="Text 18"/>
          <p:cNvSpPr/>
          <p:nvPr/>
        </p:nvSpPr>
        <p:spPr>
          <a:xfrm>
            <a:off x="96012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 weighted likelihood gives no usable information matrix, so the model is refit on 130 jackknife replicates.</a:t>
            </a:r>
            <a:endParaRPr lang="en-US" sz="1300" dirty="0"/>
          </a:p>
        </p:txBody>
      </p:sp>
      <p:sp>
        <p:nvSpPr>
          <p:cNvPr id="21" name="Shape 19"/>
          <p:cNvSpPr/>
          <p:nvPr/>
        </p:nvSpPr>
        <p:spPr>
          <a:xfrm>
            <a:off x="6263640" y="3383280"/>
            <a:ext cx="5212080" cy="1554480"/>
          </a:xfrm>
          <a:prstGeom prst="roundRect">
            <a:avLst>
              <a:gd name="adj" fmla="val 2941"/>
            </a:avLst>
          </a:prstGeom>
          <a:solidFill>
            <a:srgbClr val="F7F7F7"/>
          </a:solidFill>
          <a:ln w="12700">
            <a:solidFill>
              <a:srgbClr val="E4E4E4"/>
            </a:solidFill>
            <a:prstDash val="solid"/>
          </a:ln>
        </p:spPr>
      </p:sp>
      <p:sp>
        <p:nvSpPr>
          <p:cNvPr id="22" name="Shape 20"/>
          <p:cNvSpPr/>
          <p:nvPr/>
        </p:nvSpPr>
        <p:spPr>
          <a:xfrm>
            <a:off x="6537960" y="3639312"/>
            <a:ext cx="310896" cy="310896"/>
          </a:xfrm>
          <a:prstGeom prst="ellipse">
            <a:avLst/>
          </a:prstGeom>
          <a:solidFill>
            <a:srgbClr val="BBA800"/>
          </a:solidFill>
          <a:ln/>
        </p:spPr>
      </p:sp>
      <p:sp>
        <p:nvSpPr>
          <p:cNvPr id="23" name="Text 21"/>
          <p:cNvSpPr/>
          <p:nvPr/>
        </p:nvSpPr>
        <p:spPr>
          <a:xfrm>
            <a:off x="697687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4. Correct the classification</a:t>
            </a:r>
            <a:endParaRPr lang="en-US" sz="1500" dirty="0"/>
          </a:p>
        </p:txBody>
      </p:sp>
      <p:sp>
        <p:nvSpPr>
          <p:cNvPr id="24" name="Text 22"/>
          <p:cNvSpPr/>
          <p:nvPr/>
        </p:nvSpPr>
        <p:spPr>
          <a:xfrm>
            <a:off x="653796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Assignment is imperfect. BCH removes the resulting bias before any demographic comparison.</a:t>
            </a:r>
            <a:endParaRPr lang="en-US" sz="1300" dirty="0"/>
          </a:p>
        </p:txBody>
      </p:sp>
      <p:sp>
        <p:nvSpPr>
          <p:cNvPr id="25" name="Text 23"/>
          <p:cNvSpPr/>
          <p:nvPr/>
        </p:nvSpPr>
        <p:spPr>
          <a:xfrm>
            <a:off x="685800" y="53492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Design: 4 strata, 130 PSUs, 126 degrees of freedom for every interval in this deck.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Clustering and latent class analysis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ABOUT PEW</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789920" cy="914400"/>
        </p:xfrm>
        <a:graphic>
          <a:graphicData uri="http://schemas.openxmlformats.org/drawingml/2006/table">
            <a:tbl>
              <a:tblPr/>
              <a:tblGrid>
                <a:gridCol w="2651760"/>
                <a:gridCol w="4069080"/>
                <a:gridCol w="4069080"/>
              </a:tblGrid>
              <a:tr h="402336">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Distance-based partition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Latent class analysis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An algorithm that partitions this sample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model of the population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Requires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distance you choose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likelihood the data imply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Number of groups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Elbow or silhouette heuristics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AIC, BIC, entropy: comparable fit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Assignment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Hard. One label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probability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Survey weights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Can size the groups, not the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Enter the likelihood directly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you report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Shares in this file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Population shares with intervals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bl>
          </a:graphicData>
        </a:graphic>
      </p:graphicFrame>
      <p:sp>
        <p:nvSpPr>
          <p:cNvPr id="10" name="Shape 7"/>
          <p:cNvSpPr/>
          <p:nvPr/>
        </p:nvSpPr>
        <p:spPr>
          <a:xfrm>
            <a:off x="685800" y="4572000"/>
            <a:ext cx="10789920" cy="914400"/>
          </a:xfrm>
          <a:prstGeom prst="roundRect">
            <a:avLst>
              <a:gd name="adj" fmla="val 5000"/>
            </a:avLst>
          </a:prstGeom>
          <a:solidFill>
            <a:srgbClr val="E8F3F2"/>
          </a:solidFill>
          <a:ln w="12700">
            <a:solidFill>
              <a:srgbClr val="E8F3F2"/>
            </a:solidFill>
            <a:prstDash val="solid"/>
          </a:ln>
        </p:spPr>
      </p:sp>
      <p:sp>
        <p:nvSpPr>
          <p:cNvPr id="11" name="Text 8"/>
          <p:cNvSpPr/>
          <p:nvPr/>
        </p:nvSpPr>
        <p:spPr>
          <a:xfrm>
            <a:off x="685800" y="4572000"/>
            <a:ext cx="10789920" cy="91440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Clustering is a fine exploratory tool. The objection is to reporting a cluster share as a population estimate.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Why this needed building</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TOOLING GAP</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3108960"/>
                <a:gridCol w="2834640"/>
                <a:gridCol w="3108960"/>
                <a:gridCol w="173736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Weighted likelihood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Design-based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poLCA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survey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 mixture models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Mplus, Latent GOLD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linearization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baysc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 Bayesian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sandwich adjustment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440154"/>
                          </a:solidFill>
                          <a:latin typeface="Calibri" pitchFamily="34" charset="0"/>
                          <a:ea typeface="Calibri" pitchFamily="34" charset="-122"/>
                          <a:cs typeface="Calibri" pitchFamily="34" charset="-120"/>
                        </a:rPr>
                        <a:t>This pipeline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replicate (JKn)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r>
            </a:tbl>
          </a:graphicData>
        </a:graphic>
      </p:graphicFrame>
      <p:sp>
        <p:nvSpPr>
          <p:cNvPr id="10" name="Text 7"/>
          <p:cNvSpPr/>
          <p:nvPr/>
        </p:nvSpPr>
        <p:spPr>
          <a:xfrm>
            <a:off x="685800" y="4663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Mplus and Latent GOLD do this well and cost money. The gap is specific, not a claim that nobody solved segmentation.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Why you can believe the numbers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REPRODUCIBILITY</a:t>
            </a:r>
            <a:endParaRPr lang="en-US" sz="1000" dirty="0"/>
          </a:p>
        </p:txBody>
      </p:sp>
      <p:sp>
        <p:nvSpPr>
          <p:cNvPr id="9" name="Shape 7"/>
          <p:cNvSpPr/>
          <p:nvPr/>
        </p:nvSpPr>
        <p:spPr>
          <a:xfrm>
            <a:off x="685800" y="1600200"/>
            <a:ext cx="10789920" cy="914400"/>
          </a:xfrm>
          <a:prstGeom prst="roundRect">
            <a:avLst>
              <a:gd name="adj" fmla="val 5000"/>
            </a:avLst>
          </a:prstGeom>
          <a:solidFill>
            <a:srgbClr val="E8F3F2"/>
          </a:solidFill>
          <a:ln w="12700">
            <a:solidFill>
              <a:srgbClr val="E8F3F2"/>
            </a:solidFill>
            <a:prstDash val="solid"/>
          </a:ln>
        </p:spPr>
      </p:sp>
      <p:sp>
        <p:nvSpPr>
          <p:cNvPr id="10" name="Text 8"/>
          <p:cNvSpPr/>
          <p:nvPr/>
        </p:nvSpPr>
        <p:spPr>
          <a:xfrm>
            <a:off x="1005840" y="1600200"/>
            <a:ext cx="10149840" cy="91440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Validation.  </a:t>
            </a:r>
            <a:pPr indent="0" marL="0">
              <a:buNone/>
            </a:pPr>
            <a:r>
              <a:rPr lang="en-US" sz="1400" dirty="0">
                <a:solidFill>
                  <a:srgbClr val="1F1F1F"/>
                </a:solidFill>
                <a:latin typeface="Calibri" pitchFamily="34" charset="0"/>
                <a:ea typeface="Calibri" pitchFamily="34" charset="-122"/>
                <a:cs typeface="Calibri" pitchFamily="34" charset="-120"/>
              </a:rPr>
              <a:t>At equal weights this estimator and an independent published implementation agree to 0.00000 on every segment share and every response probability.</a:t>
            </a:r>
            <a:endParaRPr lang="en-US" sz="1400" dirty="0"/>
          </a:p>
        </p:txBody>
      </p:sp>
      <p:sp>
        <p:nvSpPr>
          <p:cNvPr id="11" name="Shape 9"/>
          <p:cNvSpPr/>
          <p:nvPr/>
        </p:nvSpPr>
        <p:spPr>
          <a:xfrm>
            <a:off x="685800" y="2843784"/>
            <a:ext cx="256032" cy="256032"/>
          </a:xfrm>
          <a:prstGeom prst="ellipse">
            <a:avLst/>
          </a:prstGeom>
          <a:solidFill>
            <a:srgbClr val="5EC962"/>
          </a:solidFill>
          <a:ln/>
        </p:spPr>
      </p:sp>
      <p:sp>
        <p:nvSpPr>
          <p:cNvPr id="12" name="Text 10"/>
          <p:cNvSpPr/>
          <p:nvPr/>
        </p:nvSpPr>
        <p:spPr>
          <a:xfrm>
            <a:off x="1124712" y="2788920"/>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One verdict, one place.  </a:t>
            </a:r>
            <a:pPr indent="0" marL="0">
              <a:buNone/>
            </a:pPr>
            <a:r>
              <a:rPr lang="en-US" sz="1400" dirty="0">
                <a:solidFill>
                  <a:srgbClr val="1F1F1F"/>
                </a:solidFill>
                <a:latin typeface="Calibri" pitchFamily="34" charset="0"/>
                <a:ea typeface="Calibri" pitchFamily="34" charset="-122"/>
                <a:cs typeface="Calibri" pitchFamily="34" charset="-120"/>
              </a:rPr>
              <a:t>The validation result is written to disk and read by every downstream document.</a:t>
            </a:r>
            <a:endParaRPr lang="en-US" sz="1400" dirty="0"/>
          </a:p>
        </p:txBody>
      </p:sp>
      <p:sp>
        <p:nvSpPr>
          <p:cNvPr id="13" name="Shape 11"/>
          <p:cNvSpPr/>
          <p:nvPr/>
        </p:nvSpPr>
        <p:spPr>
          <a:xfrm>
            <a:off x="685800" y="3593592"/>
            <a:ext cx="256032" cy="256032"/>
          </a:xfrm>
          <a:prstGeom prst="ellipse">
            <a:avLst/>
          </a:prstGeom>
          <a:solidFill>
            <a:srgbClr val="5EC962"/>
          </a:solidFill>
          <a:ln/>
        </p:spPr>
      </p:sp>
      <p:sp>
        <p:nvSpPr>
          <p:cNvPr id="14" name="Text 12"/>
          <p:cNvSpPr/>
          <p:nvPr/>
        </p:nvSpPr>
        <p:spPr>
          <a:xfrm>
            <a:off x="1124712" y="3538728"/>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Frozen decisions.  </a:t>
            </a:r>
            <a:pPr indent="0" marL="0">
              <a:buNone/>
            </a:pPr>
            <a:r>
              <a:rPr lang="en-US" sz="1400" dirty="0">
                <a:solidFill>
                  <a:srgbClr val="1F1F1F"/>
                </a:solidFill>
                <a:latin typeface="Calibri" pitchFamily="34" charset="0"/>
                <a:ea typeface="Calibri" pitchFamily="34" charset="-122"/>
                <a:cs typeface="Calibri" pitchFamily="34" charset="-120"/>
              </a:rPr>
              <a:t>The number of groups and their names live in version control, not in someone's memory.</a:t>
            </a:r>
            <a:endParaRPr lang="en-US" sz="1400" dirty="0"/>
          </a:p>
        </p:txBody>
      </p:sp>
      <p:sp>
        <p:nvSpPr>
          <p:cNvPr id="15" name="Shape 13"/>
          <p:cNvSpPr/>
          <p:nvPr/>
        </p:nvSpPr>
        <p:spPr>
          <a:xfrm>
            <a:off x="685800" y="4343400"/>
            <a:ext cx="256032" cy="256032"/>
          </a:xfrm>
          <a:prstGeom prst="ellipse">
            <a:avLst/>
          </a:prstGeom>
          <a:solidFill>
            <a:srgbClr val="5EC962"/>
          </a:solidFill>
          <a:ln/>
        </p:spPr>
      </p:sp>
      <p:sp>
        <p:nvSpPr>
          <p:cNvPr id="16" name="Text 14"/>
          <p:cNvSpPr/>
          <p:nvPr/>
        </p:nvSpPr>
        <p:spPr>
          <a:xfrm>
            <a:off x="1124712" y="4288536"/>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Rendered from source.  </a:t>
            </a:r>
            <a:pPr indent="0" marL="0">
              <a:buNone/>
            </a:pPr>
            <a:r>
              <a:rPr lang="en-US" sz="1400" dirty="0">
                <a:solidFill>
                  <a:srgbClr val="1F1F1F"/>
                </a:solidFill>
                <a:latin typeface="Calibri" pitchFamily="34" charset="0"/>
                <a:ea typeface="Calibri" pitchFamily="34" charset="-122"/>
                <a:cs typeface="Calibri" pitchFamily="34" charset="-120"/>
              </a:rPr>
              <a:t>Every figure was generated from stored model objects at compile time. Nothing was pasted.</a:t>
            </a:r>
            <a:endParaRPr lang="en-US" sz="1400" dirty="0"/>
          </a:p>
        </p:txBody>
      </p:sp>
      <p:sp>
        <p:nvSpPr>
          <p:cNvPr id="17" name="Shape 15"/>
          <p:cNvSpPr/>
          <p:nvPr/>
        </p:nvSpPr>
        <p:spPr>
          <a:xfrm>
            <a:off x="685800" y="5029200"/>
            <a:ext cx="10789920" cy="685800"/>
          </a:xfrm>
          <a:prstGeom prst="roundRect">
            <a:avLst>
              <a:gd name="adj" fmla="val 6667"/>
            </a:avLst>
          </a:prstGeom>
          <a:solidFill>
            <a:srgbClr val="F7F7F7"/>
          </a:solidFill>
          <a:ln w="12700">
            <a:solidFill>
              <a:srgbClr val="F7F7F7"/>
            </a:solidFill>
            <a:prstDash val="solid"/>
          </a:ln>
        </p:spPr>
      </p:sp>
      <p:sp>
        <p:nvSpPr>
          <p:cNvPr id="18" name="Text 16"/>
          <p:cNvSpPr/>
          <p:nvPr/>
        </p:nvSpPr>
        <p:spPr>
          <a:xfrm>
            <a:off x="685800" y="5029200"/>
            <a:ext cx="10789920" cy="685800"/>
          </a:xfrm>
          <a:prstGeom prst="rect">
            <a:avLst/>
          </a:prstGeom>
          <a:noFill/>
          <a:ln/>
        </p:spPr>
        <p:txBody>
          <a:bodyPr wrap="square" lIns="0" tIns="0" rIns="0" bIns="0" rtlCol="0" anchor="ctr"/>
          <a:lstStyle/>
          <a:p>
            <a:pPr algn="ctr" indent="0" marL="0">
              <a:buNone/>
            </a:pPr>
            <a:r>
              <a:rPr lang="en-US" sz="1400" dirty="0">
                <a:solidFill>
                  <a:srgbClr val="1F1F1F"/>
                </a:solidFill>
                <a:latin typeface="Calibri" pitchFamily="34" charset="0"/>
                <a:ea typeface="Calibri" pitchFamily="34" charset="-122"/>
                <a:cs typeface="Calibri" pitchFamily="34" charset="-120"/>
              </a:rPr>
              <a:t>1618 of 1622 respondents received a group, including 188 who skipped items but answered enough to be scored.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Full response profiles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 LABEL IS CHALLENGED</a:t>
            </a:r>
            <a:endParaRPr lang="en-US" sz="1000" dirty="0"/>
          </a:p>
        </p:txBody>
      </p:sp>
      <p:pic>
        <p:nvPicPr>
          <p:cNvPr id="9" name="Image 0" descr="img/p29.png">    </p:cNvPr>
          <p:cNvPicPr>
            <a:picLocks noChangeAspect="1"/>
          </p:cNvPicPr>
          <p:nvPr/>
        </p:nvPicPr>
        <p:blipFill>
          <a:blip r:embed="rId1"/>
          <a:stretch>
            <a:fillRect/>
          </a:stretch>
        </p:blipFill>
        <p:spPr>
          <a:xfrm>
            <a:off x="1371600" y="1600200"/>
            <a:ext cx="9418320" cy="3785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References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SOURCES CITED</a:t>
            </a:r>
            <a:endParaRPr lang="en-US" sz="1000" dirty="0"/>
          </a:p>
        </p:txBody>
      </p:sp>
      <p:sp>
        <p:nvSpPr>
          <p:cNvPr id="9" name="Text 7"/>
          <p:cNvSpPr/>
          <p:nvPr/>
        </p:nvSpPr>
        <p:spPr>
          <a:xfrm>
            <a:off x="68580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Method</a:t>
            </a:r>
            <a:endParaRPr lang="en-US" sz="1500" dirty="0"/>
          </a:p>
        </p:txBody>
      </p:sp>
      <p:sp>
        <p:nvSpPr>
          <p:cNvPr id="10" name="Text 8"/>
          <p:cNvSpPr/>
          <p:nvPr/>
        </p:nvSpPr>
        <p:spPr>
          <a:xfrm>
            <a:off x="68580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Goodman, L. (1974). Exploratory latent structure analysis. Biometrika 61(2).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Patterson, Dayton and Graubard (2002). Latent class analysis of complex sample survey data. JASA 97(459), 721 to 728.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Bolck, Croon and Hagenaars (2004). Estimating latent structure models with categorical variables. Political Analysis 12(1), 3 to 27.</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Vermunt, J. (2010). Latent class modeling with covariates. Political Analysis 18(4), 450 to 469.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Bakk, Oberski and Vermunt (2014). Relating latent class assignments to external variables. Political Analysis 22(4), 520 to 540.</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Lumley and Scott (2015). AIC and BIC for modeling with complex survey data. JSSAM 3(1), 1 to 18.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Linzer and Lewis (2011). poLCA: polytomous variable latent class analysis. JSS 42(10).</a:t>
            </a:r>
            <a:endParaRPr lang="en-US" sz="1050" dirty="0"/>
          </a:p>
        </p:txBody>
      </p:sp>
      <p:sp>
        <p:nvSpPr>
          <p:cNvPr id="11" name="Text 9"/>
          <p:cNvSpPr/>
          <p:nvPr/>
        </p:nvSpPr>
        <p:spPr>
          <a:xfrm>
            <a:off x="626364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Applications in public opinion</a:t>
            </a:r>
            <a:endParaRPr lang="en-US" sz="1500" dirty="0"/>
          </a:p>
        </p:txBody>
      </p:sp>
      <p:sp>
        <p:nvSpPr>
          <p:cNvPr id="12" name="Text 10"/>
          <p:cNvSpPr/>
          <p:nvPr/>
        </p:nvSpPr>
        <p:spPr>
          <a:xfrm>
            <a:off x="626364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Breen, R. (2000). Why is support for extreme parties underestimated by surveys? BJPS 30(2), 375 to 382.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Blaydes and Linzer (2008). The political economy of women's support for fundamentalist Islam. World Politics 60(4), 576 to 609.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Oser, Hooghe and Marien (2013). Is online participation distinct from offline? PRQ 66(1), 91 to 101.</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Bonikowski and DiMaggio (2016). Varieties of American popular nationalism. ASR 81(5).</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Alvarez, Levin and Núñez (2017). The four faces of political participation in Argentina. Journal of Politics 79(4), 1386 to 1402.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Pew Research Center (2026). Beyond Red vs. Blue: The Political Typology, 10 June 2026. Appendix B: weighted clustering around medoids.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Segmenting Survey Data Without Breaking the Design</dc:title>
  <dc:subject>PptxGenJS Presentation</dc:subject>
  <dc:creator>Kevin Linares</dc:creator>
  <cp:lastModifiedBy>Kevin Linares</cp:lastModifiedBy>
  <cp:revision>1</cp:revision>
  <dcterms:created xsi:type="dcterms:W3CDTF">2026-08-10T01:41:11Z</dcterms:created>
  <dcterms:modified xsi:type="dcterms:W3CDTF">2026-08-10T01:41:11Z</dcterms:modified>
</cp:coreProperties>
</file>